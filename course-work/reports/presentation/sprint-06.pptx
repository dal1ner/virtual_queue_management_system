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7"/>
  </p:notesMasterIdLst>
  <p:sldIdLst>
    <p:sldId id="256" r:id="rId3"/>
    <p:sldId id="314" r:id="rId4"/>
    <p:sldId id="258" r:id="rId5"/>
    <p:sldId id="317" r:id="rId6"/>
    <p:sldId id="331" r:id="rId7"/>
    <p:sldId id="332" r:id="rId8"/>
    <p:sldId id="333" r:id="rId9"/>
    <p:sldId id="327" r:id="rId10"/>
    <p:sldId id="330" r:id="rId11"/>
    <p:sldId id="329" r:id="rId12"/>
    <p:sldId id="264" r:id="rId13"/>
    <p:sldId id="315" r:id="rId14"/>
    <p:sldId id="270" r:id="rId15"/>
    <p:sldId id="268" r:id="rId16"/>
    <p:sldId id="326" r:id="rId17"/>
    <p:sldId id="257" r:id="rId18"/>
    <p:sldId id="267" r:id="rId19"/>
    <p:sldId id="262" r:id="rId20"/>
    <p:sldId id="325" r:id="rId21"/>
    <p:sldId id="316" r:id="rId22"/>
    <p:sldId id="266" r:id="rId23"/>
    <p:sldId id="260" r:id="rId24"/>
    <p:sldId id="284" r:id="rId25"/>
    <p:sldId id="263" r:id="rId26"/>
    <p:sldId id="265" r:id="rId27"/>
    <p:sldId id="273" r:id="rId28"/>
    <p:sldId id="275" r:id="rId29"/>
    <p:sldId id="277" r:id="rId30"/>
    <p:sldId id="278" r:id="rId31"/>
    <p:sldId id="279" r:id="rId32"/>
    <p:sldId id="280" r:id="rId33"/>
    <p:sldId id="281" r:id="rId34"/>
    <p:sldId id="286" r:id="rId35"/>
    <p:sldId id="287" r:id="rId36"/>
    <p:sldId id="293" r:id="rId37"/>
    <p:sldId id="294"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 id="311" r:id="rId55"/>
    <p:sldId id="312" r:id="rId56"/>
  </p:sldIdLst>
  <p:sldSz cx="9144000" cy="6858000" type="screen4x3"/>
  <p:notesSz cx="6858000" cy="9144000"/>
  <p:embeddedFontLst>
    <p:embeddedFont>
      <p:font typeface="Roboto Medium" panose="020B0604020202020204" charset="0"/>
      <p:regular r:id="rId58"/>
      <p:bold r:id="rId59"/>
      <p:italic r:id="rId60"/>
      <p:boldItalic r:id="rId61"/>
    </p:embeddedFont>
    <p:embeddedFont>
      <p:font typeface="Source Code Pro" panose="020B0604020202020204" charset="0"/>
      <p:regular r:id="rId62"/>
      <p:bold r:id="rId63"/>
      <p:italic r:id="rId64"/>
      <p:boldItalic r:id="rId65"/>
    </p:embeddedFont>
    <p:embeddedFont>
      <p:font typeface="Proxima Nova Semibold" panose="020B0604020202020204" charset="0"/>
      <p:regular r:id="rId66"/>
      <p:bold r:id="rId67"/>
      <p:boldItalic r:id="rId68"/>
    </p:embeddedFont>
    <p:embeddedFont>
      <p:font typeface="Proxima Nova" panose="020B0604020202020204" charset="0"/>
      <p:regular r:id="rId69"/>
      <p:bold r:id="rId70"/>
      <p:italic r:id="rId71"/>
      <p:boldItalic r:id="rId72"/>
    </p:embeddedFont>
    <p:embeddedFont>
      <p:font typeface="Poppins" panose="020B0604020202020204" charset="0"/>
      <p:regular r:id="rId73"/>
      <p:bold r:id="rId74"/>
      <p:italic r:id="rId75"/>
      <p:boldItalic r:id="rId76"/>
    </p:embeddedFont>
    <p:embeddedFont>
      <p:font typeface="Amatic SC" panose="020B0604020202020204" charset="-79"/>
      <p:regular r:id="rId77"/>
      <p:bold r:id="rId78"/>
    </p:embeddedFont>
    <p:embeddedFont>
      <p:font typeface="Calibri" panose="020F0502020204030204" pitchFamily="34" charset="0"/>
      <p:regular r:id="rId79"/>
      <p:bold r:id="rId80"/>
      <p:italic r:id="rId81"/>
      <p:boldItalic r:id="rId82"/>
    </p:embeddedFont>
    <p:embeddedFont>
      <p:font typeface="IBM Plex Mono" panose="020B0604020202020204" charset="-52"/>
      <p:regular r:id="rId83"/>
      <p:bold r:id="rId84"/>
      <p:italic r:id="rId85"/>
      <p:boldItalic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88" d="100"/>
          <a:sy n="88" d="100"/>
        </p:scale>
        <p:origin x="1363" y="49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6.fntdata"/><Relationship Id="rId68" Type="http://schemas.openxmlformats.org/officeDocument/2006/relationships/font" Target="fonts/font11.fntdata"/><Relationship Id="rId84" Type="http://schemas.openxmlformats.org/officeDocument/2006/relationships/font" Target="fonts/font27.fntdata"/><Relationship Id="rId89" Type="http://schemas.openxmlformats.org/officeDocument/2006/relationships/theme" Target="theme/theme1.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1.fntdata"/><Relationship Id="rId74" Type="http://schemas.openxmlformats.org/officeDocument/2006/relationships/font" Target="fonts/font17.fntdata"/><Relationship Id="rId79" Type="http://schemas.openxmlformats.org/officeDocument/2006/relationships/font" Target="fonts/font22.fntdata"/><Relationship Id="rId5" Type="http://schemas.openxmlformats.org/officeDocument/2006/relationships/slide" Target="slides/slide3.xml"/><Relationship Id="rId90" Type="http://schemas.openxmlformats.org/officeDocument/2006/relationships/tableStyles" Target="tableStyle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7.fntdata"/><Relationship Id="rId69" Type="http://schemas.openxmlformats.org/officeDocument/2006/relationships/font" Target="fonts/font12.fntdata"/><Relationship Id="rId77"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5.fntdata"/><Relationship Id="rId80" Type="http://schemas.openxmlformats.org/officeDocument/2006/relationships/font" Target="fonts/font23.fntdata"/><Relationship Id="rId85" Type="http://schemas.openxmlformats.org/officeDocument/2006/relationships/font" Target="fonts/font2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font" Target="fonts/font18.fntdata"/><Relationship Id="rId83" Type="http://schemas.openxmlformats.org/officeDocument/2006/relationships/font" Target="fonts/font26.fntdata"/><Relationship Id="rId88"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font" Target="fonts/font16.fntdata"/><Relationship Id="rId78" Type="http://schemas.openxmlformats.org/officeDocument/2006/relationships/font" Target="fonts/font21.fntdata"/><Relationship Id="rId81" Type="http://schemas.openxmlformats.org/officeDocument/2006/relationships/font" Target="fonts/font24.fntdata"/><Relationship Id="rId86" Type="http://schemas.openxmlformats.org/officeDocument/2006/relationships/font" Target="fonts/font29.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9.fntdata"/><Relationship Id="rId7" Type="http://schemas.openxmlformats.org/officeDocument/2006/relationships/slide" Target="slides/slide5.xml"/><Relationship Id="rId71" Type="http://schemas.openxmlformats.org/officeDocument/2006/relationships/font" Target="fonts/font14.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9.fntdata"/><Relationship Id="rId87" Type="http://schemas.openxmlformats.org/officeDocument/2006/relationships/presProps" Target="presProps.xml"/><Relationship Id="rId61" Type="http://schemas.openxmlformats.org/officeDocument/2006/relationships/font" Target="fonts/font4.fntdata"/><Relationship Id="rId82" Type="http://schemas.openxmlformats.org/officeDocument/2006/relationships/font" Target="fonts/font25.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52419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54955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381127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245623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618544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661143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0119715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4.xml"/><Relationship Id="rId4" Type="http://schemas.openxmlformats.org/officeDocument/2006/relationships/image" Target="../media/image11.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1.xml"/></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8.xml"/><Relationship Id="rId1" Type="http://schemas.openxmlformats.org/officeDocument/2006/relationships/slideLayout" Target="../slideLayouts/slideLayout4.xml"/><Relationship Id="rId4" Type="http://schemas.openxmlformats.org/officeDocument/2006/relationships/image" Target="../media/image15.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2.xml"/></Relationships>
</file>

<file path=ppt/slides/_rels/slide20.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20.xml"/><Relationship Id="rId1" Type="http://schemas.openxmlformats.org/officeDocument/2006/relationships/slideLayout" Target="../slideLayouts/slideLayout22.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 Id="rId9" Type="http://schemas.openxmlformats.org/officeDocument/2006/relationships/image" Target="../media/image21.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3.xml"/><Relationship Id="rId1" Type="http://schemas.openxmlformats.org/officeDocument/2006/relationships/slideLayout" Target="../slideLayouts/slideLayout16.xml"/><Relationship Id="rId4" Type="http://schemas.openxmlformats.org/officeDocument/2006/relationships/image" Target="../media/image23.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25.xml"/><Relationship Id="rId1" Type="http://schemas.openxmlformats.org/officeDocument/2006/relationships/slideLayout" Target="../slideLayouts/slideLayout20.xml"/><Relationship Id="rId5" Type="http://schemas.openxmlformats.org/officeDocument/2006/relationships/image" Target="../media/image26.jpg"/><Relationship Id="rId4" Type="http://schemas.openxmlformats.org/officeDocument/2006/relationships/image" Target="../media/image25.jp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1205758"/>
          </a:xfrm>
          <a:prstGeom prst="rect">
            <a:avLst/>
          </a:prstGeom>
        </p:spPr>
        <p:txBody>
          <a:bodyPr spcFirstLastPara="1" wrap="square" lIns="91425" tIns="91425" rIns="91425" bIns="91425" anchor="t" anchorCtr="0">
            <a:noAutofit/>
          </a:bodyPr>
          <a:lstStyle/>
          <a:p>
            <a:pPr marL="0" lvl="0" indent="0"/>
            <a:r>
              <a:rPr lang="ru-RU" sz="2800" dirty="0"/>
              <a:t>Применение модели данных</a:t>
            </a:r>
            <a:endParaRPr sz="2800" dirty="0"/>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6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14447;p83"/>
          <p:cNvGrpSpPr>
            <a:grpSpLocks noChangeAspect="1"/>
          </p:cNvGrpSpPr>
          <p:nvPr/>
        </p:nvGrpSpPr>
        <p:grpSpPr>
          <a:xfrm>
            <a:off x="5481885" y="4580694"/>
            <a:ext cx="722315" cy="672069"/>
            <a:chOff x="6099375" y="2456075"/>
            <a:chExt cx="337684" cy="314194"/>
          </a:xfrm>
          <a:solidFill>
            <a:schemeClr val="tx2"/>
          </a:solidFill>
        </p:grpSpPr>
        <p:sp>
          <p:nvSpPr>
            <p:cNvPr id="51"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dirty="0">
                <a:latin typeface="Arial" panose="020B0604020202020204" pitchFamily="34" charset="0"/>
                <a:cs typeface="Arial" panose="020B0604020202020204" pitchFamily="34" charset="0"/>
              </a:rPr>
              <a:t>Применить сформированную модель данных для построения диаграмм в </a:t>
            </a:r>
            <a:r>
              <a:rPr lang="en-US" sz="1800" dirty="0" err="1" smtClean="0">
                <a:latin typeface="Arial" panose="020B0604020202020204" pitchFamily="34" charset="0"/>
                <a:cs typeface="Arial" panose="020B0604020202020204" pitchFamily="34" charset="0"/>
              </a:rPr>
              <a:t>Archimate</a:t>
            </a:r>
            <a:r>
              <a:rPr lang="en-US" sz="1800" dirty="0" smtClean="0">
                <a:latin typeface="Arial" panose="020B0604020202020204" pitchFamily="34" charset="0"/>
                <a:cs typeface="Arial" panose="020B0604020202020204" pitchFamily="34" charset="0"/>
              </a:rPr>
              <a:t> </a:t>
            </a:r>
            <a:r>
              <a:rPr lang="ru-RU" sz="1800" dirty="0" smtClean="0">
                <a:latin typeface="Arial" panose="020B0604020202020204" pitchFamily="34" charset="0"/>
                <a:cs typeface="Arial" panose="020B0604020202020204" pitchFamily="34" charset="0"/>
              </a:rPr>
              <a:t>и </a:t>
            </a:r>
            <a:r>
              <a:rPr lang="ru-RU" sz="1800" dirty="0">
                <a:latin typeface="Arial" panose="020B0604020202020204" pitchFamily="34" charset="0"/>
                <a:cs typeface="Arial" panose="020B0604020202020204" pitchFamily="34" charset="0"/>
              </a:rPr>
              <a:t>развертывания БД</a:t>
            </a: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31840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диаграмму слоя </a:t>
            </a:r>
            <a:r>
              <a:rPr lang="ru-RU" sz="2000" dirty="0" smtClean="0">
                <a:latin typeface="Arial" panose="020B0604020202020204" pitchFamily="34" charset="0"/>
                <a:cs typeface="Arial" panose="020B0604020202020204" pitchFamily="34" charset="0"/>
              </a:rPr>
              <a:t>приложений </a:t>
            </a:r>
            <a:r>
              <a:rPr lang="ru-RU" sz="2000" dirty="0">
                <a:latin typeface="Arial" panose="020B0604020202020204" pitchFamily="34" charset="0"/>
                <a:cs typeface="Arial" panose="020B0604020202020204" pitchFamily="34" charset="0"/>
              </a:rPr>
              <a:t>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Произвести </a:t>
            </a:r>
            <a:r>
              <a:rPr lang="ru-RU" sz="2000" dirty="0" err="1">
                <a:latin typeface="Arial" panose="020B0604020202020204" pitchFamily="34" charset="0"/>
                <a:cs typeface="Arial" panose="020B0604020202020204" pitchFamily="34" charset="0"/>
              </a:rPr>
              <a:t>рефакторинг</a:t>
            </a:r>
            <a:r>
              <a:rPr lang="ru-RU" sz="2000" dirty="0">
                <a:latin typeface="Arial" panose="020B0604020202020204" pitchFamily="34" charset="0"/>
                <a:cs typeface="Arial" panose="020B0604020202020204" pitchFamily="34" charset="0"/>
              </a:rPr>
              <a:t> </a:t>
            </a:r>
            <a:r>
              <a:rPr lang="ru-RU" sz="2000" dirty="0" err="1" smtClean="0">
                <a:latin typeface="Arial" panose="020B0604020202020204" pitchFamily="34" charset="0"/>
                <a:cs typeface="Arial" panose="020B0604020202020204" pitchFamily="34" charset="0"/>
              </a:rPr>
              <a:t>репозитория</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Развернуть БД в </a:t>
            </a:r>
            <a:r>
              <a:rPr lang="en-US" sz="2000" dirty="0">
                <a:latin typeface="Arial" panose="020B0604020202020204" pitchFamily="34" charset="0"/>
                <a:cs typeface="Arial" panose="020B0604020202020204" pitchFamily="34" charset="0"/>
              </a:rPr>
              <a:t>Docker</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#6 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9058" y="1080162"/>
            <a:ext cx="9324044" cy="5093009"/>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Оказание услуги (исполнитель услуги)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Управление талоном (клиент)</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Диаграмма </a:t>
            </a:r>
            <a:r>
              <a:rPr lang="en-US" sz="3600" dirty="0" err="1" smtClean="0"/>
              <a:t>Archimate</a:t>
            </a:r>
            <a:endParaRPr sz="3600" dirty="0"/>
          </a:p>
        </p:txBody>
      </p:sp>
      <p:pic>
        <p:nvPicPr>
          <p:cNvPr id="3" name="Рисунок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791" y="1011703"/>
            <a:ext cx="9204807" cy="5959035"/>
          </a:xfrm>
          <a:prstGeom prst="rect">
            <a:avLst/>
          </a:prstGeom>
        </p:spPr>
      </p:pic>
    </p:spTree>
    <p:extLst>
      <p:ext uri="{BB962C8B-B14F-4D97-AF65-F5344CB8AC3E}">
        <p14:creationId xmlns:p14="http://schemas.microsoft.com/office/powerpoint/2010/main" val="3176181456"/>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Уведомление клиента (клиент)</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Диаграмма </a:t>
            </a:r>
            <a:r>
              <a:rPr lang="en-US" sz="3600" dirty="0" err="1" smtClean="0"/>
              <a:t>Archimate</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40700" y="1048378"/>
            <a:ext cx="5642492" cy="5795180"/>
          </a:xfrm>
          <a:prstGeom prst="rect">
            <a:avLst/>
          </a:prstGeom>
        </p:spPr>
      </p:pic>
    </p:spTree>
    <p:extLst>
      <p:ext uri="{BB962C8B-B14F-4D97-AF65-F5344CB8AC3E}">
        <p14:creationId xmlns:p14="http://schemas.microsoft.com/office/powerpoint/2010/main" val="186840877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514" y="967905"/>
            <a:ext cx="9125514" cy="5467197"/>
          </a:xfrm>
          <a:prstGeom prst="rect">
            <a:avLst/>
          </a:prstGeom>
        </p:spPr>
      </p:pic>
      <p:sp>
        <p:nvSpPr>
          <p:cNvPr id="1475" name="Google Shape;1475;p37"/>
          <p:cNvSpPr txBox="1">
            <a:spLocks noGrp="1"/>
          </p:cNvSpPr>
          <p:nvPr>
            <p:ph type="subTitle" idx="1"/>
          </p:nvPr>
        </p:nvSpPr>
        <p:spPr>
          <a:xfrm>
            <a:off x="475129" y="590578"/>
            <a:ext cx="6004048"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Добавление в очередь (неавторизованный клиент)</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50076" y="5254097"/>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21614" y="-807207"/>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Диаграмма </a:t>
            </a:r>
            <a:r>
              <a:rPr lang="en-US" sz="3600" dirty="0" err="1" smtClean="0"/>
              <a:t>Archimate</a:t>
            </a:r>
            <a:endParaRPr sz="3600" dirty="0"/>
          </a:p>
        </p:txBody>
      </p:sp>
    </p:spTree>
    <p:extLst>
      <p:ext uri="{BB962C8B-B14F-4D97-AF65-F5344CB8AC3E}">
        <p14:creationId xmlns:p14="http://schemas.microsoft.com/office/powerpoint/2010/main" val="258802878"/>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pic>
        <p:nvPicPr>
          <p:cNvPr id="3" name="Рисунок 2"/>
          <p:cNvPicPr>
            <a:picLocks noChangeAspect="1"/>
          </p:cNvPicPr>
          <p:nvPr/>
        </p:nvPicPr>
        <p:blipFill>
          <a:blip r:embed="rId3"/>
          <a:stretch>
            <a:fillRect/>
          </a:stretch>
        </p:blipFill>
        <p:spPr>
          <a:xfrm>
            <a:off x="332367" y="717349"/>
            <a:ext cx="5775721" cy="5999298"/>
          </a:xfrm>
          <a:prstGeom prst="rect">
            <a:avLst/>
          </a:prstGeom>
        </p:spPr>
      </p:pic>
      <p:sp>
        <p:nvSpPr>
          <p:cNvPr id="1625" name="Google Shape;1625;p40"/>
          <p:cNvSpPr txBox="1">
            <a:spLocks noGrp="1"/>
          </p:cNvSpPr>
          <p:nvPr>
            <p:ph type="subTitle" idx="2"/>
          </p:nvPr>
        </p:nvSpPr>
        <p:spPr>
          <a:xfrm>
            <a:off x="6205983" y="1958403"/>
            <a:ext cx="2859640" cy="260488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err="1" smtClean="0">
                <a:latin typeface="Arial" panose="020B0604020202020204" pitchFamily="34" charset="0"/>
                <a:cs typeface="Arial" panose="020B0604020202020204" pitchFamily="34" charset="0"/>
              </a:rPr>
              <a:t>Репозиторий</a:t>
            </a:r>
            <a:r>
              <a:rPr lang="ru-RU" sz="1600" dirty="0" smtClean="0">
                <a:latin typeface="Arial" panose="020B0604020202020204" pitchFamily="34" charset="0"/>
                <a:cs typeface="Arial" panose="020B0604020202020204" pitchFamily="34" charset="0"/>
              </a:rPr>
              <a:t> разделён на 3 логические части</a:t>
            </a:r>
            <a:r>
              <a:rPr lang="en-US" sz="1600" dirty="0" smtClean="0">
                <a:latin typeface="Arial" panose="020B0604020202020204" pitchFamily="34" charset="0"/>
                <a:cs typeface="Arial" panose="020B0604020202020204" pitchFamily="34" charset="0"/>
              </a:rPr>
              <a:t>:</a:t>
            </a:r>
            <a:endParaRPr lang="ru-RU" sz="1600" dirty="0" smtClean="0">
              <a:latin typeface="Arial" panose="020B0604020202020204" pitchFamily="34" charset="0"/>
              <a:cs typeface="Arial" panose="020B0604020202020204" pitchFamily="34" charset="0"/>
            </a:endParaRPr>
          </a:p>
          <a:p>
            <a:pPr marL="0" lvl="0" indent="0" algn="l" rtl="0">
              <a:spcBef>
                <a:spcPts val="0"/>
              </a:spcBef>
              <a:spcAft>
                <a:spcPts val="0"/>
              </a:spcAft>
              <a:buNone/>
            </a:pPr>
            <a:endParaRPr lang="en-US" sz="1600" dirty="0" smtClean="0">
              <a:latin typeface="Arial" panose="020B0604020202020204" pitchFamily="34" charset="0"/>
              <a:cs typeface="Arial" panose="020B0604020202020204" pitchFamily="34" charset="0"/>
            </a:endParaRPr>
          </a:p>
          <a:p>
            <a:pPr marL="0" lvl="0" indent="0"/>
            <a:r>
              <a:rPr lang="ru-RU" b="1" dirty="0" smtClean="0"/>
              <a:t>• </a:t>
            </a:r>
            <a:r>
              <a:rPr lang="ru-RU" sz="1600" dirty="0" smtClean="0">
                <a:latin typeface="Arial" panose="020B0604020202020204" pitchFamily="34" charset="0"/>
                <a:cs typeface="Arial" panose="020B0604020202020204" pitchFamily="34" charset="0"/>
              </a:rPr>
              <a:t>Организация спринтов</a:t>
            </a:r>
          </a:p>
          <a:p>
            <a:pPr marL="0" lvl="0" indent="0"/>
            <a:endParaRPr lang="ru-RU" sz="1600" dirty="0" smtClean="0">
              <a:latin typeface="Arial" panose="020B0604020202020204" pitchFamily="34" charset="0"/>
              <a:cs typeface="Arial" panose="020B0604020202020204" pitchFamily="34" charset="0"/>
            </a:endParaRPr>
          </a:p>
          <a:p>
            <a:pPr marL="0" lvl="0" indent="0"/>
            <a:r>
              <a:rPr lang="ru-RU" b="1" dirty="0" smtClean="0"/>
              <a:t>• </a:t>
            </a:r>
            <a:r>
              <a:rPr lang="ru-RU" sz="1600" dirty="0" smtClean="0">
                <a:latin typeface="Arial" panose="020B0604020202020204" pitchFamily="34" charset="0"/>
                <a:cs typeface="Arial" panose="020B0604020202020204" pitchFamily="34" charset="0"/>
              </a:rPr>
              <a:t>Документация</a:t>
            </a:r>
          </a:p>
          <a:p>
            <a:pPr marL="0" lvl="0" indent="0"/>
            <a:endParaRPr lang="ru-RU" sz="1600" dirty="0" smtClean="0">
              <a:latin typeface="Arial" panose="020B0604020202020204" pitchFamily="34" charset="0"/>
              <a:cs typeface="Arial" panose="020B0604020202020204" pitchFamily="34" charset="0"/>
            </a:endParaRPr>
          </a:p>
          <a:p>
            <a:pPr marL="0" lvl="0" indent="0"/>
            <a:r>
              <a:rPr lang="ru-RU" b="1" dirty="0" smtClean="0"/>
              <a:t>• </a:t>
            </a:r>
            <a:r>
              <a:rPr lang="ru-RU" sz="1600" dirty="0" smtClean="0">
                <a:latin typeface="Arial" panose="020B0604020202020204" pitchFamily="34" charset="0"/>
                <a:cs typeface="Arial" panose="020B0604020202020204" pitchFamily="34" charset="0"/>
              </a:rPr>
              <a:t>Код</a:t>
            </a:r>
            <a:endParaRPr sz="1600" dirty="0">
              <a:latin typeface="Arial" panose="020B0604020202020204" pitchFamily="34" charset="0"/>
              <a:cs typeface="Arial" panose="020B0604020202020204" pitchFamily="34" charset="0"/>
            </a:endParaRPr>
          </a:p>
        </p:txBody>
      </p:sp>
      <p:sp>
        <p:nvSpPr>
          <p:cNvPr id="1627" name="Google Shape;1627;p40"/>
          <p:cNvSpPr txBox="1">
            <a:spLocks noGrp="1"/>
          </p:cNvSpPr>
          <p:nvPr>
            <p:ph type="subTitle" idx="4"/>
          </p:nvPr>
        </p:nvSpPr>
        <p:spPr>
          <a:xfrm>
            <a:off x="6198776" y="1241102"/>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err="1" smtClean="0"/>
              <a:t>Рефакторинг</a:t>
            </a:r>
            <a:r>
              <a:rPr lang="ru-RU" dirty="0" smtClean="0"/>
              <a:t> </a:t>
            </a:r>
            <a:r>
              <a:rPr lang="ru-RU" dirty="0" err="1" smtClean="0"/>
              <a:t>репозитория</a:t>
            </a:r>
            <a:endParaRPr dirty="0"/>
          </a:p>
        </p:txBody>
      </p:sp>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pic>
        <p:nvPicPr>
          <p:cNvPr id="2" name="Рисунок 1"/>
          <p:cNvPicPr>
            <a:picLocks noChangeAspect="1"/>
          </p:cNvPicPr>
          <p:nvPr/>
        </p:nvPicPr>
        <p:blipFill rotWithShape="1">
          <a:blip r:embed="rId3"/>
          <a:srcRect l="21701" t="19541"/>
          <a:stretch/>
        </p:blipFill>
        <p:spPr>
          <a:xfrm>
            <a:off x="128246" y="2882645"/>
            <a:ext cx="8879602" cy="3037333"/>
          </a:xfrm>
          <a:prstGeom prst="rect">
            <a:avLst/>
          </a:prstGeom>
        </p:spPr>
      </p:pic>
      <p:sp>
        <p:nvSpPr>
          <p:cNvPr id="1625" name="Google Shape;1625;p40"/>
          <p:cNvSpPr txBox="1">
            <a:spLocks noGrp="1"/>
          </p:cNvSpPr>
          <p:nvPr>
            <p:ph type="subTitle" idx="2"/>
          </p:nvPr>
        </p:nvSpPr>
        <p:spPr>
          <a:xfrm>
            <a:off x="423490" y="1582696"/>
            <a:ext cx="3776667" cy="1002511"/>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Запущен </a:t>
            </a:r>
            <a:r>
              <a:rPr lang="en-US" sz="1600" dirty="0" smtClean="0">
                <a:latin typeface="Arial" panose="020B0604020202020204" pitchFamily="34" charset="0"/>
                <a:cs typeface="Arial" panose="020B0604020202020204" pitchFamily="34" charset="0"/>
              </a:rPr>
              <a:t>Docker</a:t>
            </a:r>
            <a:r>
              <a:rPr lang="ru-RU" sz="1600" dirty="0" smtClean="0">
                <a:latin typeface="Arial" panose="020B0604020202020204" pitchFamily="34" charset="0"/>
                <a:cs typeface="Arial" panose="020B0604020202020204" pitchFamily="34" charset="0"/>
              </a:rPr>
              <a:t> </a:t>
            </a:r>
            <a:r>
              <a:rPr lang="ru-RU" sz="1600" dirty="0">
                <a:latin typeface="Arial" panose="020B0604020202020204" pitchFamily="34" charset="0"/>
                <a:cs typeface="Arial" panose="020B0604020202020204" pitchFamily="34" charset="0"/>
              </a:rPr>
              <a:t>контейнер</a:t>
            </a:r>
            <a:r>
              <a:rPr lang="ru-RU" sz="1600" dirty="0" smtClean="0">
                <a:latin typeface="Arial" panose="020B0604020202020204" pitchFamily="34" charset="0"/>
                <a:cs typeface="Arial" panose="020B0604020202020204" pitchFamily="34" charset="0"/>
              </a:rPr>
              <a:t> </a:t>
            </a:r>
            <a:r>
              <a:rPr lang="ru-RU" sz="1600" dirty="0">
                <a:latin typeface="Arial" panose="020B0604020202020204" pitchFamily="34" charset="0"/>
                <a:cs typeface="Arial" panose="020B0604020202020204" pitchFamily="34" charset="0"/>
              </a:rPr>
              <a:t>в </a:t>
            </a:r>
            <a:r>
              <a:rPr lang="ru-RU" sz="1600" dirty="0" smtClean="0">
                <a:latin typeface="Arial" panose="020B0604020202020204" pitchFamily="34" charset="0"/>
                <a:cs typeface="Arial" panose="020B0604020202020204" pitchFamily="34" charset="0"/>
              </a:rPr>
              <a:t>составе мульти-контейнерной системы, содержащий образ СУБД </a:t>
            </a:r>
            <a:r>
              <a:rPr lang="en-US" sz="1600" dirty="0" smtClean="0">
                <a:latin typeface="Arial" panose="020B0604020202020204" pitchFamily="34" charset="0"/>
                <a:cs typeface="Arial" panose="020B0604020202020204" pitchFamily="34" charset="0"/>
              </a:rPr>
              <a:t>PostgreSQL</a:t>
            </a:r>
            <a:endParaRPr lang="ru-RU" sz="1600" dirty="0" smtClean="0">
              <a:latin typeface="Arial" panose="020B0604020202020204" pitchFamily="34" charset="0"/>
              <a:cs typeface="Arial" panose="020B0604020202020204" pitchFamily="34" charset="0"/>
            </a:endParaRPr>
          </a:p>
        </p:txBody>
      </p:sp>
      <p:sp>
        <p:nvSpPr>
          <p:cNvPr id="1627" name="Google Shape;1627;p40"/>
          <p:cNvSpPr txBox="1">
            <a:spLocks noGrp="1"/>
          </p:cNvSpPr>
          <p:nvPr>
            <p:ph type="subTitle" idx="4"/>
          </p:nvPr>
        </p:nvSpPr>
        <p:spPr>
          <a:xfrm>
            <a:off x="416284" y="865395"/>
            <a:ext cx="2292081" cy="820452"/>
          </a:xfrm>
          <a:prstGeom prst="rect">
            <a:avLst/>
          </a:prstGeom>
        </p:spPr>
        <p:txBody>
          <a:bodyPr spcFirstLastPara="1" wrap="square" lIns="91425" tIns="91425" rIns="91425" bIns="91425" anchor="b" anchorCtr="0">
            <a:noAutofit/>
          </a:bodyPr>
          <a:lstStyle/>
          <a:p>
            <a:pPr marL="0" lvl="0" indent="0"/>
            <a:r>
              <a:rPr lang="ru-RU" dirty="0" smtClean="0"/>
              <a:t>Развёртывание в</a:t>
            </a:r>
            <a:endParaRPr dirty="0"/>
          </a:p>
        </p:txBody>
      </p:sp>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Развёртывание БД</a:t>
            </a:r>
            <a:endParaRPr dirty="0"/>
          </a:p>
        </p:txBody>
      </p:sp>
      <p:pic>
        <p:nvPicPr>
          <p:cNvPr id="6"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3770" y="1285258"/>
            <a:ext cx="1302647" cy="297438"/>
          </a:xfrm>
          <a:prstGeom prst="rect">
            <a:avLst/>
          </a:prstGeom>
          <a:noFill/>
          <a:extLst>
            <a:ext uri="{909E8E84-426E-40DD-AFC4-6F175D3DCCD1}">
              <a14:hiddenFill xmlns:a14="http://schemas.microsoft.com/office/drawing/2010/main">
                <a:solidFill>
                  <a:srgbClr val="FFFFFF"/>
                </a:solidFill>
              </a14:hiddenFill>
            </a:ext>
          </a:extLst>
        </p:spPr>
      </p:pic>
      <p:sp>
        <p:nvSpPr>
          <p:cNvPr id="7" name="Google Shape;1625;p40"/>
          <p:cNvSpPr txBox="1">
            <a:spLocks noGrp="1"/>
          </p:cNvSpPr>
          <p:nvPr>
            <p:ph type="subTitle" idx="2"/>
          </p:nvPr>
        </p:nvSpPr>
        <p:spPr>
          <a:xfrm>
            <a:off x="4574849" y="1618203"/>
            <a:ext cx="4432999" cy="1002511"/>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При помощи инструмента </a:t>
            </a:r>
            <a:r>
              <a:rPr lang="en-US" sz="1600" dirty="0">
                <a:latin typeface="Arial" panose="020B0604020202020204" pitchFamily="34" charset="0"/>
                <a:cs typeface="Arial" panose="020B0604020202020204" pitchFamily="34" charset="0"/>
              </a:rPr>
              <a:t>Docker </a:t>
            </a:r>
            <a:r>
              <a:rPr lang="en-US" sz="1600" dirty="0" smtClean="0">
                <a:latin typeface="Arial" panose="020B0604020202020204" pitchFamily="34" charset="0"/>
                <a:cs typeface="Arial" panose="020B0604020202020204" pitchFamily="34" charset="0"/>
              </a:rPr>
              <a:t>Compose</a:t>
            </a:r>
            <a:r>
              <a:rPr lang="ru-RU" sz="1600" dirty="0" smtClean="0">
                <a:latin typeface="Arial" panose="020B0604020202020204" pitchFamily="34" charset="0"/>
                <a:cs typeface="Arial" panose="020B0604020202020204" pitchFamily="34" charset="0"/>
              </a:rPr>
              <a:t> в </a:t>
            </a:r>
            <a:r>
              <a:rPr lang="en-US" sz="1600" dirty="0" smtClean="0">
                <a:latin typeface="Arial" panose="020B0604020202020204" pitchFamily="34" charset="0"/>
                <a:cs typeface="Arial" panose="020B0604020202020204" pitchFamily="34" charset="0"/>
              </a:rPr>
              <a:t>PostgreSQL</a:t>
            </a:r>
            <a:r>
              <a:rPr lang="ru-RU" sz="1600" dirty="0">
                <a:latin typeface="Arial" panose="020B0604020202020204" pitchFamily="34" charset="0"/>
                <a:cs typeface="Arial" panose="020B0604020202020204" pitchFamily="34" charset="0"/>
              </a:rPr>
              <a:t> </a:t>
            </a:r>
            <a:r>
              <a:rPr lang="ru-RU" sz="1600" dirty="0" smtClean="0">
                <a:latin typeface="Arial" panose="020B0604020202020204" pitchFamily="34" charset="0"/>
                <a:cs typeface="Arial" panose="020B0604020202020204" pitchFamily="34" charset="0"/>
              </a:rPr>
              <a:t>передан скрипт инициализации таблиц на основе модели данных</a:t>
            </a:r>
            <a:endParaRPr lang="en-US" sz="1600" dirty="0">
              <a:latin typeface="Arial" panose="020B0604020202020204" pitchFamily="34" charset="0"/>
              <a:cs typeface="Arial" panose="020B0604020202020204" pitchFamily="34" charset="0"/>
            </a:endParaRPr>
          </a:p>
        </p:txBody>
      </p:sp>
      <p:sp>
        <p:nvSpPr>
          <p:cNvPr id="8" name="Google Shape;1627;p40"/>
          <p:cNvSpPr txBox="1">
            <a:spLocks noGrp="1"/>
          </p:cNvSpPr>
          <p:nvPr>
            <p:ph type="subTitle" idx="4"/>
          </p:nvPr>
        </p:nvSpPr>
        <p:spPr>
          <a:xfrm>
            <a:off x="4567643" y="900902"/>
            <a:ext cx="2404513" cy="820452"/>
          </a:xfrm>
          <a:prstGeom prst="rect">
            <a:avLst/>
          </a:prstGeom>
        </p:spPr>
        <p:txBody>
          <a:bodyPr spcFirstLastPara="1" wrap="square" lIns="91425" tIns="91425" rIns="91425" bIns="91425" anchor="b" anchorCtr="0">
            <a:noAutofit/>
          </a:bodyPr>
          <a:lstStyle/>
          <a:p>
            <a:pPr marL="0" lvl="0" indent="0"/>
            <a:r>
              <a:rPr lang="ru-RU" dirty="0" smtClean="0"/>
              <a:t>Добавление таблиц</a:t>
            </a:r>
            <a:endParaRPr dirty="0"/>
          </a:p>
        </p:txBody>
      </p:sp>
    </p:spTree>
    <p:extLst>
      <p:ext uri="{BB962C8B-B14F-4D97-AF65-F5344CB8AC3E}">
        <p14:creationId xmlns:p14="http://schemas.microsoft.com/office/powerpoint/2010/main" val="348179603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5" name="Google Shape;1625;p40"/>
          <p:cNvSpPr txBox="1">
            <a:spLocks noGrp="1"/>
          </p:cNvSpPr>
          <p:nvPr>
            <p:ph type="subTitle" idx="2"/>
          </p:nvPr>
        </p:nvSpPr>
        <p:spPr>
          <a:xfrm>
            <a:off x="242114" y="1629712"/>
            <a:ext cx="1823321" cy="2604888"/>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Для подключения с целью проверки БД был выбрал универсальный </a:t>
            </a:r>
            <a:r>
              <a:rPr lang="ru-RU" sz="1600" dirty="0">
                <a:latin typeface="Arial" panose="020B0604020202020204" pitchFamily="34" charset="0"/>
                <a:cs typeface="Arial" panose="020B0604020202020204" pitchFamily="34" charset="0"/>
              </a:rPr>
              <a:t>графический клиент для работы с базами </a:t>
            </a:r>
            <a:r>
              <a:rPr lang="ru-RU" sz="1600" dirty="0" smtClean="0">
                <a:latin typeface="Arial" panose="020B0604020202020204" pitchFamily="34" charset="0"/>
                <a:cs typeface="Arial" panose="020B0604020202020204" pitchFamily="34" charset="0"/>
              </a:rPr>
              <a:t>данных </a:t>
            </a:r>
            <a:r>
              <a:rPr lang="en-US" sz="1600" dirty="0" err="1">
                <a:latin typeface="Arial" panose="020B0604020202020204" pitchFamily="34" charset="0"/>
                <a:cs typeface="Arial" panose="020B0604020202020204" pitchFamily="34" charset="0"/>
              </a:rPr>
              <a:t>DBeaver</a:t>
            </a:r>
            <a:endParaRPr lang="en-US" sz="1600" dirty="0">
              <a:latin typeface="Arial" panose="020B0604020202020204" pitchFamily="34" charset="0"/>
              <a:cs typeface="Arial" panose="020B0604020202020204" pitchFamily="34" charset="0"/>
            </a:endParaRPr>
          </a:p>
          <a:p>
            <a:pPr marL="0" lvl="0" indent="0"/>
            <a:endParaRPr sz="1600" dirty="0">
              <a:latin typeface="Arial" panose="020B0604020202020204" pitchFamily="34" charset="0"/>
              <a:cs typeface="Arial" panose="020B0604020202020204" pitchFamily="34" charset="0"/>
            </a:endParaRPr>
          </a:p>
        </p:txBody>
      </p:sp>
      <p:sp>
        <p:nvSpPr>
          <p:cNvPr id="1627" name="Google Shape;1627;p40"/>
          <p:cNvSpPr txBox="1">
            <a:spLocks noGrp="1"/>
          </p:cNvSpPr>
          <p:nvPr>
            <p:ph type="subTitle" idx="4"/>
          </p:nvPr>
        </p:nvSpPr>
        <p:spPr>
          <a:xfrm>
            <a:off x="242114" y="840508"/>
            <a:ext cx="2866847" cy="820452"/>
          </a:xfrm>
          <a:prstGeom prst="rect">
            <a:avLst/>
          </a:prstGeom>
        </p:spPr>
        <p:txBody>
          <a:bodyPr spcFirstLastPara="1" wrap="square" lIns="91425" tIns="91425" rIns="91425" bIns="91425" anchor="b" anchorCtr="0">
            <a:noAutofit/>
          </a:bodyPr>
          <a:lstStyle/>
          <a:p>
            <a:pPr marL="0" lvl="0" indent="0"/>
            <a:r>
              <a:rPr lang="ru-RU" dirty="0" smtClean="0"/>
              <a:t>Подключение к БД через </a:t>
            </a:r>
            <a:r>
              <a:rPr lang="en-US" dirty="0" err="1"/>
              <a:t>DBeaver</a:t>
            </a:r>
            <a:endParaRPr dirty="0"/>
          </a:p>
        </p:txBody>
      </p:sp>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Развёртывание БД</a:t>
            </a:r>
            <a:endParaRPr dirty="0"/>
          </a:p>
        </p:txBody>
      </p:sp>
      <p:pic>
        <p:nvPicPr>
          <p:cNvPr id="1026" name="Picture 2" descr="https://yastatic.net/naydex/yandex-search/jp1Ky2909/f34079SrcVl/sgnX4fV1QvuHtsezr3IqmMd3p5JbyP-V4AEMd1Ag6pA9_-KwDHEwRVCZ3in4KMyFWXJsQ37nytF2r2kMVXgIb_2En-3-bQ0wyq8Kdik2-FiUt6fWDhq6Vby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9644" y="871755"/>
            <a:ext cx="757957" cy="757957"/>
          </a:xfrm>
          <a:prstGeom prst="rect">
            <a:avLst/>
          </a:prstGeom>
          <a:noFill/>
          <a:extLst>
            <a:ext uri="{909E8E84-426E-40DD-AFC4-6F175D3DCCD1}">
              <a14:hiddenFill xmlns:a14="http://schemas.microsoft.com/office/drawing/2010/main">
                <a:solidFill>
                  <a:srgbClr val="FFFFFF"/>
                </a:solidFill>
              </a14:hiddenFill>
            </a:ext>
          </a:extLst>
        </p:spPr>
      </p:pic>
      <p:pic>
        <p:nvPicPr>
          <p:cNvPr id="2" name="Рисунок 1"/>
          <p:cNvPicPr>
            <a:picLocks noChangeAspect="1"/>
          </p:cNvPicPr>
          <p:nvPr/>
        </p:nvPicPr>
        <p:blipFill>
          <a:blip r:embed="rId4"/>
          <a:stretch>
            <a:fillRect/>
          </a:stretch>
        </p:blipFill>
        <p:spPr>
          <a:xfrm>
            <a:off x="2065435" y="1692207"/>
            <a:ext cx="6800986" cy="4096369"/>
          </a:xfrm>
          <a:prstGeom prst="rect">
            <a:avLst/>
          </a:prstGeom>
        </p:spPr>
      </p:pic>
    </p:spTree>
    <p:extLst>
      <p:ext uri="{BB962C8B-B14F-4D97-AF65-F5344CB8AC3E}">
        <p14:creationId xmlns:p14="http://schemas.microsoft.com/office/powerpoint/2010/main" val="2536826697"/>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Проработана диаграмма </a:t>
            </a:r>
            <a:r>
              <a:rPr lang="ru-RU" sz="1800" dirty="0">
                <a:latin typeface="Arial" panose="020B0604020202020204" pitchFamily="34" charset="0"/>
                <a:cs typeface="Arial" panose="020B0604020202020204" pitchFamily="34" charset="0"/>
              </a:rPr>
              <a:t>слоя приложений в </a:t>
            </a:r>
            <a:r>
              <a:rPr lang="ru-RU" sz="1800" dirty="0" err="1">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Произведён </a:t>
            </a:r>
            <a:r>
              <a:rPr lang="ru-RU" sz="1800" dirty="0" err="1">
                <a:latin typeface="Arial" panose="020B0604020202020204" pitchFamily="34" charset="0"/>
                <a:cs typeface="Arial" panose="020B0604020202020204" pitchFamily="34" charset="0"/>
              </a:rPr>
              <a:t>рефакторинг</a:t>
            </a:r>
            <a:r>
              <a:rPr lang="ru-RU" sz="1800" dirty="0">
                <a:latin typeface="Arial" panose="020B0604020202020204" pitchFamily="34" charset="0"/>
                <a:cs typeface="Arial" panose="020B0604020202020204" pitchFamily="34" charset="0"/>
              </a:rPr>
              <a:t> </a:t>
            </a:r>
            <a:r>
              <a:rPr lang="ru-RU" sz="1800" dirty="0" err="1" smtClean="0">
                <a:latin typeface="Arial" panose="020B0604020202020204" pitchFamily="34" charset="0"/>
                <a:cs typeface="Arial" panose="020B0604020202020204" pitchFamily="34" charset="0"/>
              </a:rPr>
              <a:t>репозитория</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Развернута </a:t>
            </a:r>
            <a:r>
              <a:rPr lang="ru-RU" sz="1800" dirty="0">
                <a:latin typeface="Arial" panose="020B0604020202020204" pitchFamily="34" charset="0"/>
                <a:cs typeface="Arial" panose="020B0604020202020204" pitchFamily="34" charset="0"/>
              </a:rPr>
              <a:t>БД в </a:t>
            </a:r>
            <a:r>
              <a:rPr lang="en-US" sz="1800" dirty="0" smtClean="0">
                <a:latin typeface="Arial" panose="020B0604020202020204" pitchFamily="34" charset="0"/>
                <a:cs typeface="Arial" panose="020B0604020202020204" pitchFamily="34" charset="0"/>
              </a:rPr>
              <a:t>Docker</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по итогам </a:t>
            </a:r>
            <a:r>
              <a:rPr lang="ru-RU" sz="1800" dirty="0" smtClean="0">
                <a:latin typeface="Arial" panose="020B0604020202020204" pitchFamily="34" charset="0"/>
                <a:cs typeface="Arial" panose="020B0604020202020204" pitchFamily="34" charset="0"/>
              </a:rPr>
              <a:t>#6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задания</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Все участники были задействованы в выполнении заданий</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Напоминать участникам помечать своё участие в задании</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Провести дополнительное обсуждение архитектуры приложения</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участники оформляли взятие задачи через доску</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756" y="448725"/>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703" y="-200871"/>
            <a:ext cx="8489161" cy="841800"/>
          </a:xfrm>
          <a:prstGeom prst="rect">
            <a:avLst/>
          </a:prstGeom>
        </p:spPr>
        <p:txBody>
          <a:bodyPr spcFirstLastPara="1" wrap="square" lIns="91425" tIns="91425" rIns="91425" bIns="91425" anchor="ctr" anchorCtr="0">
            <a:noAutofit/>
          </a:bodyPr>
          <a:lstStyle/>
          <a:p>
            <a:pPr lvl="0"/>
            <a:r>
              <a:rPr lang="ru-RU" sz="3600" dirty="0" smtClean="0"/>
              <a:t>Логическая </a:t>
            </a:r>
            <a:r>
              <a:rPr lang="ru-RU" sz="3600" dirty="0"/>
              <a:t>модель данных</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6497" y="628750"/>
            <a:ext cx="6943715" cy="6229249"/>
          </a:xfrm>
          <a:prstGeom prst="rect">
            <a:avLst/>
          </a:prstGeom>
        </p:spPr>
      </p:pic>
    </p:spTree>
    <p:extLst>
      <p:ext uri="{BB962C8B-B14F-4D97-AF65-F5344CB8AC3E}">
        <p14:creationId xmlns:p14="http://schemas.microsoft.com/office/powerpoint/2010/main" val="2363341982"/>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341944" y="1422542"/>
            <a:ext cx="7172869" cy="4887741"/>
          </a:xfrm>
          <a:prstGeom prst="rect">
            <a:avLst/>
          </a:prstGeom>
        </p:spPr>
        <p:txBody>
          <a:bodyPr spcFirstLastPara="1" wrap="square" lIns="91425" tIns="91425" rIns="91425" bIns="91425" anchor="t" anchorCtr="0">
            <a:noAutofit/>
          </a:bodyPr>
          <a:lstStyle/>
          <a:p>
            <a:pPr marL="285750" lvl="0" indent="-285750">
              <a:buFont typeface="Arial" panose="020B0604020202020204" pitchFamily="34" charset="0"/>
              <a:buChar char="•"/>
            </a:pPr>
            <a:r>
              <a:rPr lang="ru-RU" sz="2000" dirty="0">
                <a:latin typeface="+mn-lt"/>
              </a:rPr>
              <a:t>Управление позицией в </a:t>
            </a:r>
            <a:r>
              <a:rPr lang="ru-RU" sz="2000" dirty="0" smtClean="0">
                <a:latin typeface="+mn-lt"/>
              </a:rPr>
              <a:t>очереди (вычисление позиций в очереди)</a:t>
            </a:r>
          </a:p>
          <a:p>
            <a:pPr marL="285750" lvl="0" indent="-285750">
              <a:buFont typeface="Arial" panose="020B0604020202020204" pitchFamily="34" charset="0"/>
              <a:buChar char="•"/>
            </a:pPr>
            <a:r>
              <a:rPr lang="ru-RU" sz="2000" dirty="0">
                <a:latin typeface="+mn-lt"/>
              </a:rPr>
              <a:t>Добавление позиций в </a:t>
            </a:r>
            <a:r>
              <a:rPr lang="ru-RU" sz="2000" dirty="0" smtClean="0">
                <a:latin typeface="+mn-lt"/>
              </a:rPr>
              <a:t>очереди (добавление новых позиций в очереди)</a:t>
            </a:r>
          </a:p>
          <a:p>
            <a:pPr marL="285750" lvl="0" indent="-285750">
              <a:buFont typeface="Arial" panose="020B0604020202020204" pitchFamily="34" charset="0"/>
              <a:buChar char="•"/>
            </a:pPr>
            <a:r>
              <a:rPr lang="ru-RU" sz="2000" dirty="0" smtClean="0">
                <a:latin typeface="+mn-lt"/>
              </a:rPr>
              <a:t>Приоритетность (вычисление приоритетности)</a:t>
            </a:r>
          </a:p>
          <a:p>
            <a:pPr marL="285750" lvl="0" indent="-285750">
              <a:buFont typeface="Arial" panose="020B0604020202020204" pitchFamily="34" charset="0"/>
              <a:buChar char="•"/>
            </a:pPr>
            <a:r>
              <a:rPr lang="ru-RU" sz="2000" dirty="0">
                <a:latin typeface="+mn-lt"/>
              </a:rPr>
              <a:t>Статусы </a:t>
            </a:r>
            <a:r>
              <a:rPr lang="ru-RU" sz="2000" dirty="0" smtClean="0">
                <a:latin typeface="+mn-lt"/>
              </a:rPr>
              <a:t>талона</a:t>
            </a:r>
          </a:p>
          <a:p>
            <a:pPr marL="285750" lvl="0" indent="-285750">
              <a:buFont typeface="Arial" panose="020B0604020202020204" pitchFamily="34" charset="0"/>
              <a:buChar char="•"/>
            </a:pPr>
            <a:r>
              <a:rPr lang="ru-RU" sz="2000" dirty="0">
                <a:latin typeface="+mn-lt"/>
              </a:rPr>
              <a:t>Конкурентный </a:t>
            </a:r>
            <a:r>
              <a:rPr lang="ru-RU" sz="2000" dirty="0" smtClean="0">
                <a:latin typeface="+mn-lt"/>
              </a:rPr>
              <a:t>доступ (способ разрешения проблем с доступом)</a:t>
            </a:r>
          </a:p>
          <a:p>
            <a:pPr marL="285750" lvl="0" indent="-285750">
              <a:buFont typeface="Arial" panose="020B0604020202020204" pitchFamily="34" charset="0"/>
              <a:buChar char="•"/>
            </a:pPr>
            <a:r>
              <a:rPr lang="ru-RU" sz="2000" dirty="0">
                <a:latin typeface="+mn-lt"/>
              </a:rPr>
              <a:t>Ограничения по сессии </a:t>
            </a:r>
            <a:r>
              <a:rPr lang="ru-RU" sz="2000" dirty="0" smtClean="0">
                <a:latin typeface="+mn-lt"/>
              </a:rPr>
              <a:t>клиента</a:t>
            </a:r>
          </a:p>
          <a:p>
            <a:pPr marL="285750" lvl="0" indent="-285750">
              <a:buFont typeface="Arial" panose="020B0604020202020204" pitchFamily="34" charset="0"/>
              <a:buChar char="•"/>
            </a:pPr>
            <a:r>
              <a:rPr lang="ru-RU" sz="2000" dirty="0">
                <a:latin typeface="+mn-lt"/>
              </a:rPr>
              <a:t>Расчёт времени </a:t>
            </a:r>
            <a:r>
              <a:rPr lang="ru-RU" sz="2000" dirty="0" smtClean="0">
                <a:latin typeface="+mn-lt"/>
              </a:rPr>
              <a:t>ожидания (правила расчёта)</a:t>
            </a:r>
          </a:p>
          <a:p>
            <a:pPr marL="285750" lvl="0" indent="-285750">
              <a:buFont typeface="Arial" panose="020B0604020202020204" pitchFamily="34" charset="0"/>
              <a:buChar char="•"/>
            </a:pPr>
            <a:r>
              <a:rPr lang="ru-RU" sz="2000" dirty="0">
                <a:latin typeface="+mn-lt"/>
              </a:rPr>
              <a:t>Безопасность данных</a:t>
            </a:r>
            <a:endParaRPr lang="ru-RU" sz="2000" dirty="0" smtClean="0">
              <a:latin typeface="+mn-lt"/>
            </a:endParaRPr>
          </a:p>
          <a:p>
            <a:pPr marL="285750" lvl="0" indent="-285750">
              <a:buFont typeface="Arial" panose="020B0604020202020204" pitchFamily="34" charset="0"/>
              <a:buChar char="•"/>
            </a:pPr>
            <a:endParaRPr sz="1600" dirty="0">
              <a:latin typeface="+mn-lt"/>
            </a:endParaRPr>
          </a:p>
        </p:txBody>
      </p:sp>
      <p:sp>
        <p:nvSpPr>
          <p:cNvPr id="1752" name="Google Shape;1752;p44"/>
          <p:cNvSpPr txBox="1">
            <a:spLocks noGrp="1"/>
          </p:cNvSpPr>
          <p:nvPr>
            <p:ph type="title"/>
          </p:nvPr>
        </p:nvSpPr>
        <p:spPr>
          <a:xfrm>
            <a:off x="341944" y="97896"/>
            <a:ext cx="6906144" cy="572700"/>
          </a:xfrm>
          <a:prstGeom prst="rect">
            <a:avLst/>
          </a:prstGeom>
        </p:spPr>
        <p:txBody>
          <a:bodyPr spcFirstLastPara="1" wrap="square" lIns="91425" tIns="91425" rIns="91425" bIns="91425" anchor="t" anchorCtr="0">
            <a:noAutofit/>
          </a:bodyPr>
          <a:lstStyle/>
          <a:p>
            <a:pPr lvl="0"/>
            <a:r>
              <a:rPr lang="ru-RU" dirty="0"/>
              <a:t>Бизнес-правила и ограничения</a:t>
            </a:r>
            <a:endParaRPr dirty="0"/>
          </a:p>
        </p:txBody>
      </p:sp>
      <p:sp>
        <p:nvSpPr>
          <p:cNvPr id="15" name="Google Shape;1475;p37"/>
          <p:cNvSpPr txBox="1">
            <a:spLocks/>
          </p:cNvSpPr>
          <p:nvPr/>
        </p:nvSpPr>
        <p:spPr>
          <a:xfrm>
            <a:off x="341944" y="635809"/>
            <a:ext cx="5563906" cy="457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600" dirty="0" smtClean="0">
                <a:latin typeface="+mn-lt"/>
                <a:cs typeface="Arial" panose="020B0604020202020204" pitchFamily="34" charset="0"/>
              </a:rPr>
              <a:t>Выделенные категории правил</a:t>
            </a:r>
            <a:endParaRPr lang="ru-RU" sz="1600" dirty="0">
              <a:latin typeface="+mn-lt"/>
              <a:cs typeface="Arial" panose="020B0604020202020204" pitchFamily="34" charset="0"/>
            </a:endParaRPr>
          </a:p>
        </p:txBody>
      </p:sp>
      <p:grpSp>
        <p:nvGrpSpPr>
          <p:cNvPr id="16" name="Google Shape;1512;p37"/>
          <p:cNvGrpSpPr/>
          <p:nvPr/>
        </p:nvGrpSpPr>
        <p:grpSpPr>
          <a:xfrm>
            <a:off x="394004" y="596488"/>
            <a:ext cx="4558967" cy="134100"/>
            <a:chOff x="796100" y="3019701"/>
            <a:chExt cx="4558967" cy="134100"/>
          </a:xfrm>
        </p:grpSpPr>
        <p:sp>
          <p:nvSpPr>
            <p:cNvPr id="17"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9"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77534292"/>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1744</TotalTime>
  <Words>1618</Words>
  <Application>Microsoft Office PowerPoint</Application>
  <PresentationFormat>Экран (4:3)</PresentationFormat>
  <Paragraphs>343</Paragraphs>
  <Slides>54</Slides>
  <Notes>54</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54</vt:i4>
      </vt:variant>
    </vt:vector>
  </HeadingPairs>
  <TitlesOfParts>
    <vt:vector size="68" baseType="lpstr">
      <vt:lpstr>Roboto Medium</vt:lpstr>
      <vt:lpstr>Source Code Pro</vt:lpstr>
      <vt:lpstr>Open Sans</vt:lpstr>
      <vt:lpstr>Proxima Nova Semibold</vt:lpstr>
      <vt:lpstr>Wingdings</vt:lpstr>
      <vt:lpstr>Proxima Nova</vt:lpstr>
      <vt:lpstr>Poppins</vt:lpstr>
      <vt:lpstr>Amatic SC</vt:lpstr>
      <vt:lpstr>Calibri</vt:lpstr>
      <vt:lpstr>Roboto Condensed Light</vt:lpstr>
      <vt:lpstr>Arial</vt:lpstr>
      <vt:lpstr>IBM Plex Mono</vt:lpstr>
      <vt:lpstr>Introduction to Coding Workshop by Slidesgo</vt:lpstr>
      <vt:lpstr>Slidesgo Final Pages</vt:lpstr>
      <vt:lpstr>Итоги 6 спринта</vt:lpstr>
      <vt:lpstr>Наша команда</vt:lpstr>
      <vt:lpstr>Задачи спринта</vt:lpstr>
      <vt:lpstr>Диаграмма Archimate</vt:lpstr>
      <vt:lpstr>Диаграмма Archimate</vt:lpstr>
      <vt:lpstr>Диаграмма Archimate</vt:lpstr>
      <vt:lpstr>Диаграмма Archimate</vt:lpstr>
      <vt:lpstr>Рефакторинг репозитория</vt:lpstr>
      <vt:lpstr>Развёртывание БД</vt:lpstr>
      <vt:lpstr>Развёртывание БД</vt:lpstr>
      <vt:lpstr>Обзор спринта</vt:lpstr>
      <vt:lpstr>Ретроспектива</vt:lpstr>
      <vt:lpstr>Спасибо за внимание!</vt:lpstr>
      <vt:lpstr>Дальше идут шаблоны и заготовки</vt:lpstr>
      <vt:lpstr>Логическая модель данных</vt:lpstr>
      <vt:lpstr>Роли пользователей</vt:lpstr>
      <vt:lpstr>Тема проекта</vt:lpstr>
      <vt:lpstr>Организация работы</vt:lpstr>
      <vt:lpstr>Бизнес-правила и ограничения</vt:lpstr>
      <vt:lpstr>Выбор технологического стека</vt:lpstr>
      <vt:lpstr>Задачи 2 спринта</vt:lpstr>
      <vt:lpstr>Рассуждение</vt:lpstr>
      <vt:lpstr>Прототип интерфейса клиента</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93</cp:revision>
  <dcterms:modified xsi:type="dcterms:W3CDTF">2026-04-07T06:10:06Z</dcterms:modified>
</cp:coreProperties>
</file>