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6"/>
  </p:notesMasterIdLst>
  <p:sldIdLst>
    <p:sldId id="256" r:id="rId3"/>
    <p:sldId id="314" r:id="rId4"/>
    <p:sldId id="258" r:id="rId5"/>
    <p:sldId id="318" r:id="rId6"/>
    <p:sldId id="317" r:id="rId7"/>
    <p:sldId id="319" r:id="rId8"/>
    <p:sldId id="320" r:id="rId9"/>
    <p:sldId id="321" r:id="rId10"/>
    <p:sldId id="322" r:id="rId11"/>
    <p:sldId id="325" r:id="rId12"/>
    <p:sldId id="284" r:id="rId13"/>
    <p:sldId id="324" r:id="rId14"/>
    <p:sldId id="264" r:id="rId15"/>
    <p:sldId id="315" r:id="rId16"/>
    <p:sldId id="270" r:id="rId17"/>
    <p:sldId id="268" r:id="rId18"/>
    <p:sldId id="267" r:id="rId19"/>
    <p:sldId id="257" r:id="rId20"/>
    <p:sldId id="262" r:id="rId21"/>
    <p:sldId id="316" r:id="rId22"/>
    <p:sldId id="266" r:id="rId23"/>
    <p:sldId id="260" r:id="rId24"/>
    <p:sldId id="263" r:id="rId25"/>
    <p:sldId id="265" r:id="rId26"/>
    <p:sldId id="273" r:id="rId27"/>
    <p:sldId id="275" r:id="rId28"/>
    <p:sldId id="277" r:id="rId29"/>
    <p:sldId id="278" r:id="rId30"/>
    <p:sldId id="279" r:id="rId31"/>
    <p:sldId id="280" r:id="rId32"/>
    <p:sldId id="281" r:id="rId33"/>
    <p:sldId id="286" r:id="rId34"/>
    <p:sldId id="287" r:id="rId35"/>
    <p:sldId id="293" r:id="rId36"/>
    <p:sldId id="294" r:id="rId37"/>
    <p:sldId id="295" r:id="rId38"/>
    <p:sldId id="296" r:id="rId39"/>
    <p:sldId id="297" r:id="rId40"/>
    <p:sldId id="298" r:id="rId41"/>
    <p:sldId id="299" r:id="rId42"/>
    <p:sldId id="300" r:id="rId43"/>
    <p:sldId id="301" r:id="rId44"/>
    <p:sldId id="302" r:id="rId45"/>
    <p:sldId id="303" r:id="rId46"/>
    <p:sldId id="304" r:id="rId47"/>
    <p:sldId id="305" r:id="rId48"/>
    <p:sldId id="306" r:id="rId49"/>
    <p:sldId id="307" r:id="rId50"/>
    <p:sldId id="308" r:id="rId51"/>
    <p:sldId id="309" r:id="rId52"/>
    <p:sldId id="310" r:id="rId53"/>
    <p:sldId id="311" r:id="rId54"/>
    <p:sldId id="312" r:id="rId55"/>
  </p:sldIdLst>
  <p:sldSz cx="9144000" cy="6858000" type="screen4x3"/>
  <p:notesSz cx="6858000" cy="9144000"/>
  <p:embeddedFontLst>
    <p:embeddedFont>
      <p:font typeface="Proxima Nova Semibold" panose="020B0604020202020204" charset="0"/>
      <p:regular r:id="rId57"/>
      <p:bold r:id="rId58"/>
      <p:boldItalic r:id="rId59"/>
    </p:embeddedFont>
    <p:embeddedFont>
      <p:font typeface="Calibri" panose="020F0502020204030204" pitchFamily="34" charset="0"/>
      <p:regular r:id="rId60"/>
      <p:bold r:id="rId61"/>
      <p:italic r:id="rId62"/>
      <p:boldItalic r:id="rId63"/>
    </p:embeddedFont>
    <p:embeddedFont>
      <p:font typeface="Poppins" panose="020B0604020202020204" charset="0"/>
      <p:regular r:id="rId64"/>
      <p:bold r:id="rId65"/>
      <p:italic r:id="rId66"/>
      <p:boldItalic r:id="rId67"/>
    </p:embeddedFont>
    <p:embeddedFont>
      <p:font typeface="Proxima Nova" panose="020B0604020202020204" charset="0"/>
      <p:regular r:id="rId68"/>
      <p:bold r:id="rId69"/>
      <p:italic r:id="rId70"/>
      <p:boldItalic r:id="rId71"/>
    </p:embeddedFont>
    <p:embeddedFont>
      <p:font typeface="Amatic SC" panose="020B0604020202020204" charset="-79"/>
      <p:regular r:id="rId72"/>
      <p:bold r:id="rId73"/>
    </p:embeddedFont>
    <p:embeddedFont>
      <p:font typeface="IBM Plex Mono" panose="020B0604020202020204" charset="-52"/>
      <p:regular r:id="rId74"/>
      <p:bold r:id="rId75"/>
      <p:italic r:id="rId76"/>
      <p:boldItalic r:id="rId77"/>
    </p:embeddedFont>
    <p:embeddedFont>
      <p:font typeface="Source Code Pro" panose="020B0604020202020204" charset="0"/>
      <p:regular r:id="rId78"/>
      <p:bold r:id="rId79"/>
      <p:italic r:id="rId80"/>
      <p:boldItalic r:id="rId81"/>
    </p:embeddedFont>
    <p:embeddedFont>
      <p:font typeface="Roboto Medium" panose="020B0604020202020204" charset="0"/>
      <p:regular r:id="rId82"/>
      <p:bold r:id="rId83"/>
      <p:italic r:id="rId84"/>
      <p:boldItalic r:id="rId8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88" d="100"/>
          <a:sy n="88" d="100"/>
        </p:scale>
        <p:origin x="1046"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7.fntdata"/><Relationship Id="rId68" Type="http://schemas.openxmlformats.org/officeDocument/2006/relationships/font" Target="fonts/font12.fntdata"/><Relationship Id="rId84" Type="http://schemas.openxmlformats.org/officeDocument/2006/relationships/font" Target="fonts/font28.fntdata"/><Relationship Id="rId89"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2.fntdata"/><Relationship Id="rId74" Type="http://schemas.openxmlformats.org/officeDocument/2006/relationships/font" Target="fonts/font18.fntdata"/><Relationship Id="rId79" Type="http://schemas.openxmlformats.org/officeDocument/2006/relationships/font" Target="fonts/font23.fntdata"/><Relationship Id="rId5" Type="http://schemas.openxmlformats.org/officeDocument/2006/relationships/slide" Target="slides/slide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77"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80" Type="http://schemas.openxmlformats.org/officeDocument/2006/relationships/font" Target="fonts/font24.fntdata"/><Relationship Id="rId85" Type="http://schemas.openxmlformats.org/officeDocument/2006/relationships/font" Target="fonts/font2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font" Target="fonts/font19.fntdata"/><Relationship Id="rId83" Type="http://schemas.openxmlformats.org/officeDocument/2006/relationships/font" Target="fonts/font27.fntdata"/><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font" Target="fonts/font17.fntdata"/><Relationship Id="rId78" Type="http://schemas.openxmlformats.org/officeDocument/2006/relationships/font" Target="fonts/font22.fntdata"/><Relationship Id="rId81" Type="http://schemas.openxmlformats.org/officeDocument/2006/relationships/font" Target="fonts/font25.fntdata"/><Relationship Id="rId86"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font" Target="fonts/font15.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0.fntdata"/><Relationship Id="rId87" Type="http://schemas.openxmlformats.org/officeDocument/2006/relationships/viewProps" Target="viewProps.xml"/><Relationship Id="rId61" Type="http://schemas.openxmlformats.org/officeDocument/2006/relationships/font" Target="fonts/font5.fntdata"/><Relationship Id="rId82" Type="http://schemas.openxmlformats.org/officeDocument/2006/relationships/font" Target="fonts/font26.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002239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19006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11123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526089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334683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011971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48141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1.xml"/><Relationship Id="rId1" Type="http://schemas.openxmlformats.org/officeDocument/2006/relationships/slideLayout" Target="../slideLayouts/slideLayout16.xml"/><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2.xml"/><Relationship Id="rId1" Type="http://schemas.openxmlformats.org/officeDocument/2006/relationships/slideLayout" Target="../slideLayouts/slideLayout16.xml"/><Relationship Id="rId4" Type="http://schemas.openxmlformats.org/officeDocument/2006/relationships/image" Target="../media/image11.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7.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9.xml"/><Relationship Id="rId1" Type="http://schemas.openxmlformats.org/officeDocument/2006/relationships/slideLayout" Target="../slideLayouts/slideLayout4.xml"/><Relationship Id="rId4" Type="http://schemas.openxmlformats.org/officeDocument/2006/relationships/image" Target="../media/image14.png"/></Relationships>
</file>

<file path=ppt/slides/_rels/slide20.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5.png"/><Relationship Id="rId7" Type="http://schemas.openxmlformats.org/officeDocument/2006/relationships/image" Target="../media/image19.png"/><Relationship Id="rId2" Type="http://schemas.openxmlformats.org/officeDocument/2006/relationships/notesSlide" Target="../notesSlides/notesSlide20.xml"/><Relationship Id="rId1" Type="http://schemas.openxmlformats.org/officeDocument/2006/relationships/slideLayout" Target="../slideLayouts/slideLayout2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 Id="rId9" Type="http://schemas.openxmlformats.org/officeDocument/2006/relationships/image" Target="../media/image21.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9.xml"/></Relationships>
</file>

<file path=ppt/slides/_rels/slide24.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4.xml"/><Relationship Id="rId1" Type="http://schemas.openxmlformats.org/officeDocument/2006/relationships/slideLayout" Target="../slideLayouts/slideLayout20.xml"/><Relationship Id="rId5" Type="http://schemas.openxmlformats.org/officeDocument/2006/relationships/image" Target="../media/image24.jpg"/><Relationship Id="rId4" Type="http://schemas.openxmlformats.org/officeDocument/2006/relationships/image" Target="../media/image23.jp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550949"/>
          </a:xfrm>
          <a:prstGeom prst="rect">
            <a:avLst/>
          </a:prstGeom>
        </p:spPr>
        <p:txBody>
          <a:bodyPr spcFirstLastPara="1" wrap="square" lIns="91425" tIns="91425" rIns="91425" bIns="91425" anchor="t" anchorCtr="0">
            <a:noAutofit/>
          </a:bodyPr>
          <a:lstStyle/>
          <a:p>
            <a:pPr marL="0" lvl="0" indent="0"/>
            <a:r>
              <a:rPr lang="ru-RU" sz="2800" dirty="0"/>
              <a:t>Уточнение бизнес-процессов и формирование требований</a:t>
            </a:r>
            <a:endParaRPr sz="2800" dirty="0"/>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3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 name="Google Shape;13648;p81"/>
          <p:cNvGrpSpPr>
            <a:grpSpLocks noChangeAspect="1"/>
          </p:cNvGrpSpPr>
          <p:nvPr/>
        </p:nvGrpSpPr>
        <p:grpSpPr>
          <a:xfrm>
            <a:off x="5879642" y="4734762"/>
            <a:ext cx="727827" cy="833851"/>
            <a:chOff x="859262" y="3353920"/>
            <a:chExt cx="306759" cy="351445"/>
          </a:xfrm>
        </p:grpSpPr>
        <p:sp>
          <p:nvSpPr>
            <p:cNvPr id="27"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28"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29"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30"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31"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tx2"/>
            </a:solidFill>
            <a:ln>
              <a:noFill/>
            </a:ln>
          </p:spPr>
          <p:txBody>
            <a:bodyPr spcFirstLastPara="1" wrap="square" lIns="91425" tIns="91425" rIns="91425" bIns="91425" anchor="ctr" anchorCtr="0">
              <a:noAutofit/>
            </a:bodyPr>
            <a:lstStyle/>
            <a:p>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2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085514"/>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Уточнение бизнес-процессов и формирование требований</a:t>
            </a:r>
          </a:p>
        </p:txBody>
      </p:sp>
      <p:sp>
        <p:nvSpPr>
          <p:cNvPr id="1459" name="Google Shape;1459;p36"/>
          <p:cNvSpPr txBox="1">
            <a:spLocks noGrp="1"/>
          </p:cNvSpPr>
          <p:nvPr>
            <p:ph type="subTitle" idx="2"/>
          </p:nvPr>
        </p:nvSpPr>
        <p:spPr>
          <a:xfrm>
            <a:off x="631680" y="4833607"/>
            <a:ext cx="3130787" cy="701467"/>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6 задач</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603727" y="3933664"/>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603727" y="4507560"/>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282438" y="3979612"/>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695686" y="1044291"/>
            <a:ext cx="4036769" cy="519487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Собрать и зафиксировать замечания от </a:t>
            </a:r>
            <a:r>
              <a:rPr lang="ru-RU" sz="20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Проработать диаграмму слоя бизнеса в </a:t>
            </a:r>
            <a:r>
              <a:rPr lang="ru-RU" sz="2000" dirty="0" err="1" smtClean="0">
                <a:latin typeface="Arial" panose="020B0604020202020204" pitchFamily="34" charset="0"/>
                <a:cs typeface="Arial" panose="020B0604020202020204" pitchFamily="34" charset="0"/>
              </a:rPr>
              <a:t>Archimate</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Исследовать и добавить нефункциональные требования в </a:t>
            </a:r>
            <a:r>
              <a:rPr lang="ru-RU" sz="2000" dirty="0" err="1" smtClean="0">
                <a:latin typeface="Arial" panose="020B0604020202020204" pitchFamily="34" charset="0"/>
                <a:cs typeface="Arial" panose="020B0604020202020204" pitchFamily="34" charset="0"/>
              </a:rPr>
              <a:t>бэклог</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Сформулировать функциональные </a:t>
            </a:r>
            <a:r>
              <a:rPr lang="ru-RU" sz="2000" dirty="0" smtClean="0">
                <a:latin typeface="Arial" panose="020B0604020202020204" pitchFamily="34" charset="0"/>
                <a:cs typeface="Arial" panose="020B0604020202020204" pitchFamily="34" charset="0"/>
              </a:rPr>
              <a:t>требования</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прототип </a:t>
            </a:r>
            <a:r>
              <a:rPr lang="ru-RU" sz="2000" dirty="0" smtClean="0">
                <a:latin typeface="Arial" panose="020B0604020202020204" pitchFamily="34" charset="0"/>
                <a:cs typeface="Arial" panose="020B0604020202020204" pitchFamily="34" charset="0"/>
              </a:rPr>
              <a:t>интерфейса</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презентацию по итогам 3# Спринта</a:t>
            </a:r>
            <a:endParaRPr lang="ru-RU" sz="2000" dirty="0" smtClean="0">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grpSp>
        <p:nvGrpSpPr>
          <p:cNvPr id="1476" name="Google Shape;1476;p37"/>
          <p:cNvGrpSpPr/>
          <p:nvPr/>
        </p:nvGrpSpPr>
        <p:grpSpPr>
          <a:xfrm>
            <a:off x="-2535475" y="5363093"/>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6016" y="715499"/>
            <a:ext cx="8096765" cy="6142502"/>
          </a:xfrm>
          <a:prstGeom prst="rect">
            <a:avLst/>
          </a:prstGeom>
        </p:spPr>
      </p:pic>
    </p:spTree>
    <p:extLst>
      <p:ext uri="{BB962C8B-B14F-4D97-AF65-F5344CB8AC3E}">
        <p14:creationId xmlns:p14="http://schemas.microsoft.com/office/powerpoint/2010/main" val="394370367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9075" y="962072"/>
            <a:ext cx="6079673" cy="5767167"/>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Мониторинг очереди (Наблюдатель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7359" y="1132083"/>
            <a:ext cx="8098431" cy="5565589"/>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Управление талоном (Клиент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117346796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3112" y="1011703"/>
            <a:ext cx="8346972" cy="5695441"/>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Уведомление клиента (Клиент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259236216"/>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2640" y="1470850"/>
            <a:ext cx="8889567" cy="4207573"/>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Оказание услуги (Исполнитель услуги)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3851345375"/>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380" y="1316620"/>
            <a:ext cx="8968740" cy="4769823"/>
          </a:xfrm>
          <a:prstGeom prst="rect">
            <a:avLst/>
          </a:prstGeom>
        </p:spPr>
      </p:pic>
      <p:sp>
        <p:nvSpPr>
          <p:cNvPr id="1475" name="Google Shape;1475;p37"/>
          <p:cNvSpPr txBox="1">
            <a:spLocks noGrp="1"/>
          </p:cNvSpPr>
          <p:nvPr>
            <p:ph type="subTitle" idx="1"/>
          </p:nvPr>
        </p:nvSpPr>
        <p:spPr>
          <a:xfrm>
            <a:off x="475129" y="590578"/>
            <a:ext cx="4580839"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Управление потоком очереди </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1533159" y="480906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6241896" y="3815831"/>
            <a:ext cx="4829487" cy="7542613"/>
            <a:chOff x="6128139"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40"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9"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3189500126"/>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67497" y="1582607"/>
            <a:ext cx="8976503" cy="572700"/>
          </a:xfrm>
          <a:prstGeom prst="rect">
            <a:avLst/>
          </a:prstGeom>
        </p:spPr>
        <p:txBody>
          <a:bodyPr spcFirstLastPara="1" wrap="square" lIns="91425" tIns="91425" rIns="91425" bIns="91425" anchor="t" anchorCtr="0">
            <a:noAutofit/>
          </a:bodyPr>
          <a:lstStyle/>
          <a:p>
            <a:pPr marL="0" lvl="0" indent="0"/>
            <a:r>
              <a:rPr lang="ru-RU" b="1" dirty="0" smtClean="0"/>
              <a:t>• </a:t>
            </a:r>
            <a:r>
              <a:rPr lang="ru-RU" sz="1600" dirty="0" smtClean="0">
                <a:latin typeface="+mn-lt"/>
              </a:rPr>
              <a:t>Время </a:t>
            </a:r>
            <a:r>
              <a:rPr lang="ru-RU" sz="1600" dirty="0">
                <a:latin typeface="+mn-lt"/>
              </a:rPr>
              <a:t>отклика системы при обновлении статуса очереди не должно превышать 3 секунд</a:t>
            </a:r>
            <a:endParaRPr sz="1600" dirty="0">
              <a:latin typeface="+mn-lt"/>
            </a:endParaRPr>
          </a:p>
        </p:txBody>
      </p:sp>
      <p:sp>
        <p:nvSpPr>
          <p:cNvPr id="1752" name="Google Shape;1752;p44"/>
          <p:cNvSpPr txBox="1">
            <a:spLocks noGrp="1"/>
          </p:cNvSpPr>
          <p:nvPr>
            <p:ph type="title"/>
          </p:nvPr>
        </p:nvSpPr>
        <p:spPr>
          <a:xfrm>
            <a:off x="341944" y="97896"/>
            <a:ext cx="6427972" cy="572700"/>
          </a:xfrm>
          <a:prstGeom prst="rect">
            <a:avLst/>
          </a:prstGeom>
        </p:spPr>
        <p:txBody>
          <a:bodyPr spcFirstLastPara="1" wrap="square" lIns="91425" tIns="91425" rIns="91425" bIns="91425" anchor="t" anchorCtr="0">
            <a:noAutofit/>
          </a:bodyPr>
          <a:lstStyle/>
          <a:p>
            <a:pPr lvl="0"/>
            <a:r>
              <a:rPr lang="ru-RU" dirty="0" smtClean="0"/>
              <a:t>Нефункциональные требования</a:t>
            </a:r>
            <a:endParaRPr dirty="0"/>
          </a:p>
        </p:txBody>
      </p:sp>
      <p:sp>
        <p:nvSpPr>
          <p:cNvPr id="1757" name="Google Shape;1757;p44"/>
          <p:cNvSpPr txBox="1">
            <a:spLocks noGrp="1"/>
          </p:cNvSpPr>
          <p:nvPr>
            <p:ph type="subTitle" idx="7"/>
          </p:nvPr>
        </p:nvSpPr>
        <p:spPr>
          <a:xfrm>
            <a:off x="167500" y="1329992"/>
            <a:ext cx="2992365" cy="402300"/>
          </a:xfrm>
          <a:prstGeom prst="rect">
            <a:avLst/>
          </a:prstGeom>
        </p:spPr>
        <p:txBody>
          <a:bodyPr spcFirstLastPara="1" wrap="square" lIns="91425" tIns="91425" rIns="91425" bIns="91425" anchor="b" anchorCtr="0">
            <a:noAutofit/>
          </a:bodyPr>
          <a:lstStyle/>
          <a:p>
            <a:pPr marL="0" lvl="0" indent="0"/>
            <a:r>
              <a:rPr lang="ru-RU" dirty="0"/>
              <a:t>Производительность</a:t>
            </a:r>
            <a:endParaRPr dirty="0"/>
          </a:p>
        </p:txBody>
      </p:sp>
      <p:sp>
        <p:nvSpPr>
          <p:cNvPr id="15" name="Google Shape;1475;p37"/>
          <p:cNvSpPr txBox="1">
            <a:spLocks/>
          </p:cNvSpPr>
          <p:nvPr/>
        </p:nvSpPr>
        <p:spPr>
          <a:xfrm>
            <a:off x="341944" y="635809"/>
            <a:ext cx="5563906" cy="457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600" dirty="0" smtClean="0">
                <a:latin typeface="+mn-lt"/>
                <a:cs typeface="Arial" panose="020B0604020202020204" pitchFamily="34" charset="0"/>
              </a:rPr>
              <a:t>Часть требований, имеющих наибольшую важность</a:t>
            </a:r>
            <a:endParaRPr lang="ru-RU" sz="1600" dirty="0">
              <a:latin typeface="+mn-lt"/>
              <a:cs typeface="Arial" panose="020B0604020202020204" pitchFamily="34" charset="0"/>
            </a:endParaRPr>
          </a:p>
        </p:txBody>
      </p:sp>
      <p:grpSp>
        <p:nvGrpSpPr>
          <p:cNvPr id="16" name="Google Shape;1512;p37"/>
          <p:cNvGrpSpPr/>
          <p:nvPr/>
        </p:nvGrpSpPr>
        <p:grpSpPr>
          <a:xfrm>
            <a:off x="394004" y="596488"/>
            <a:ext cx="4558967" cy="134100"/>
            <a:chOff x="796100" y="3019701"/>
            <a:chExt cx="4558967" cy="134100"/>
          </a:xfrm>
        </p:grpSpPr>
        <p:sp>
          <p:nvSpPr>
            <p:cNvPr id="17"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9"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49;p44"/>
          <p:cNvSpPr txBox="1">
            <a:spLocks/>
          </p:cNvSpPr>
          <p:nvPr/>
        </p:nvSpPr>
        <p:spPr>
          <a:xfrm>
            <a:off x="167497" y="2310025"/>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Все </a:t>
            </a:r>
            <a:r>
              <a:rPr lang="ru-RU" sz="1600" dirty="0">
                <a:latin typeface="+mn-lt"/>
              </a:rPr>
              <a:t>пароли пользователей должны храниться в БД в хешированном виде</a:t>
            </a:r>
          </a:p>
        </p:txBody>
      </p:sp>
      <p:sp>
        <p:nvSpPr>
          <p:cNvPr id="21" name="Google Shape;1757;p44"/>
          <p:cNvSpPr txBox="1">
            <a:spLocks/>
          </p:cNvSpPr>
          <p:nvPr/>
        </p:nvSpPr>
        <p:spPr>
          <a:xfrm>
            <a:off x="167497" y="2058296"/>
            <a:ext cx="2992365"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Безопасность</a:t>
            </a:r>
          </a:p>
        </p:txBody>
      </p:sp>
      <p:sp>
        <p:nvSpPr>
          <p:cNvPr id="32" name="Google Shape;1749;p44"/>
          <p:cNvSpPr txBox="1">
            <a:spLocks/>
          </p:cNvSpPr>
          <p:nvPr/>
        </p:nvSpPr>
        <p:spPr>
          <a:xfrm>
            <a:off x="167497" y="2661382"/>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Передача </a:t>
            </a:r>
            <a:r>
              <a:rPr lang="ru-RU" sz="1600" dirty="0">
                <a:latin typeface="+mn-lt"/>
              </a:rPr>
              <a:t>данных должна осуществляться по защищенному протоколу HTTPS</a:t>
            </a:r>
          </a:p>
        </p:txBody>
      </p:sp>
      <p:sp>
        <p:nvSpPr>
          <p:cNvPr id="33" name="Google Shape;1749;p44"/>
          <p:cNvSpPr txBox="1">
            <a:spLocks/>
          </p:cNvSpPr>
          <p:nvPr/>
        </p:nvSpPr>
        <p:spPr>
          <a:xfrm>
            <a:off x="167497" y="3036118"/>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Система </a:t>
            </a:r>
            <a:r>
              <a:rPr lang="ru-RU" sz="1600" dirty="0">
                <a:latin typeface="+mn-lt"/>
              </a:rPr>
              <a:t>должна предотвращать базовые веб-уязвимости (SQL </a:t>
            </a:r>
            <a:r>
              <a:rPr lang="ru-RU" sz="1600" dirty="0" err="1">
                <a:latin typeface="+mn-lt"/>
              </a:rPr>
              <a:t>Injection</a:t>
            </a:r>
            <a:r>
              <a:rPr lang="ru-RU" sz="1600" dirty="0">
                <a:latin typeface="+mn-lt"/>
              </a:rPr>
              <a:t>, XSS)</a:t>
            </a:r>
          </a:p>
        </p:txBody>
      </p:sp>
      <p:sp>
        <p:nvSpPr>
          <p:cNvPr id="34" name="Google Shape;1757;p44"/>
          <p:cNvSpPr txBox="1">
            <a:spLocks/>
          </p:cNvSpPr>
          <p:nvPr/>
        </p:nvSpPr>
        <p:spPr>
          <a:xfrm>
            <a:off x="167496" y="3583752"/>
            <a:ext cx="2992365"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Надёжность</a:t>
            </a:r>
          </a:p>
        </p:txBody>
      </p:sp>
      <p:sp>
        <p:nvSpPr>
          <p:cNvPr id="35" name="Google Shape;1749;p44"/>
          <p:cNvSpPr txBox="1">
            <a:spLocks/>
          </p:cNvSpPr>
          <p:nvPr/>
        </p:nvSpPr>
        <p:spPr>
          <a:xfrm>
            <a:off x="167497" y="3859900"/>
            <a:ext cx="873321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БД </a:t>
            </a:r>
            <a:r>
              <a:rPr lang="ru-RU" sz="1600" dirty="0">
                <a:latin typeface="+mn-lt"/>
              </a:rPr>
              <a:t>должна дополнительно </a:t>
            </a:r>
            <a:r>
              <a:rPr lang="ru-RU" sz="1600" dirty="0" err="1">
                <a:latin typeface="+mn-lt"/>
              </a:rPr>
              <a:t>валидировать</a:t>
            </a:r>
            <a:r>
              <a:rPr lang="ru-RU" sz="1600" dirty="0">
                <a:latin typeface="+mn-lt"/>
              </a:rPr>
              <a:t> вводимые в неё данные</a:t>
            </a:r>
          </a:p>
        </p:txBody>
      </p:sp>
      <p:sp>
        <p:nvSpPr>
          <p:cNvPr id="36" name="Google Shape;1757;p44"/>
          <p:cNvSpPr txBox="1">
            <a:spLocks/>
          </p:cNvSpPr>
          <p:nvPr/>
        </p:nvSpPr>
        <p:spPr>
          <a:xfrm>
            <a:off x="167496" y="4404917"/>
            <a:ext cx="2992365"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Масштабируемость</a:t>
            </a:r>
          </a:p>
        </p:txBody>
      </p:sp>
      <p:sp>
        <p:nvSpPr>
          <p:cNvPr id="37" name="Google Shape;1749;p44"/>
          <p:cNvSpPr txBox="1">
            <a:spLocks/>
          </p:cNvSpPr>
          <p:nvPr/>
        </p:nvSpPr>
        <p:spPr>
          <a:xfrm>
            <a:off x="167497" y="4723515"/>
            <a:ext cx="8850667"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Архитектура </a:t>
            </a:r>
            <a:r>
              <a:rPr lang="ru-RU" sz="1600" dirty="0">
                <a:latin typeface="+mn-lt"/>
              </a:rPr>
              <a:t>должна позволять действовать нескольким Исполнителям услуг и Операторам для одной очереди без конфликтов</a:t>
            </a:r>
          </a:p>
        </p:txBody>
      </p:sp>
      <p:sp>
        <p:nvSpPr>
          <p:cNvPr id="38" name="Google Shape;1757;p44"/>
          <p:cNvSpPr txBox="1">
            <a:spLocks/>
          </p:cNvSpPr>
          <p:nvPr/>
        </p:nvSpPr>
        <p:spPr>
          <a:xfrm>
            <a:off x="167496" y="5561579"/>
            <a:ext cx="4110886"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dirty="0"/>
              <a:t>Удобство использования</a:t>
            </a:r>
          </a:p>
        </p:txBody>
      </p:sp>
      <p:sp>
        <p:nvSpPr>
          <p:cNvPr id="39" name="Google Shape;1749;p44"/>
          <p:cNvSpPr txBox="1">
            <a:spLocks/>
          </p:cNvSpPr>
          <p:nvPr/>
        </p:nvSpPr>
        <p:spPr>
          <a:xfrm>
            <a:off x="167497" y="5838212"/>
            <a:ext cx="8850667"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b="1" dirty="0" smtClean="0"/>
              <a:t>• </a:t>
            </a:r>
            <a:r>
              <a:rPr lang="ru-RU" sz="1600" dirty="0" smtClean="0">
                <a:latin typeface="+mn-lt"/>
              </a:rPr>
              <a:t>Процесс </a:t>
            </a:r>
            <a:r>
              <a:rPr lang="ru-RU" sz="1600" dirty="0">
                <a:latin typeface="+mn-lt"/>
              </a:rPr>
              <a:t>обслуживания клиента должен занимать не более 2 </a:t>
            </a:r>
            <a:r>
              <a:rPr lang="ru-RU" sz="1600" dirty="0" smtClean="0">
                <a:latin typeface="+mn-lt"/>
              </a:rPr>
              <a:t>кликов</a:t>
            </a:r>
            <a:endParaRPr lang="ru-RU" sz="1600" dirty="0">
              <a:latin typeface="+mn-lt"/>
            </a:endParaRPr>
          </a:p>
        </p:txBody>
      </p:sp>
    </p:spTree>
    <p:extLst>
      <p:ext uri="{BB962C8B-B14F-4D97-AF65-F5344CB8AC3E}">
        <p14:creationId xmlns:p14="http://schemas.microsoft.com/office/powerpoint/2010/main" val="277753429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91621" y="274320"/>
            <a:ext cx="2579460" cy="153209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91621" y="1806439"/>
            <a:ext cx="2246779" cy="1424441"/>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своё положение в очереди и текущего вызванного. Может сдвигаться в конец очереди</a:t>
            </a:r>
            <a:endParaRPr dirty="0">
              <a:latin typeface="+mn-lt"/>
            </a:endParaRPr>
          </a:p>
        </p:txBody>
      </p:sp>
      <p:grpSp>
        <p:nvGrpSpPr>
          <p:cNvPr id="2316" name="Google Shape;2316;p62"/>
          <p:cNvGrpSpPr>
            <a:grpSpLocks noChangeAspect="1"/>
          </p:cNvGrpSpPr>
          <p:nvPr/>
        </p:nvGrpSpPr>
        <p:grpSpPr>
          <a:xfrm>
            <a:off x="2522101" y="1806414"/>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2153183" y="6502504"/>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Рисунок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19351" y="1904916"/>
            <a:ext cx="5911162" cy="3940775"/>
          </a:xfrm>
          <a:prstGeom prst="rect">
            <a:avLst/>
          </a:prstGeom>
        </p:spPr>
      </p:pic>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91621" y="274320"/>
            <a:ext cx="2579460" cy="1532094"/>
          </a:xfrm>
          <a:prstGeom prst="rect">
            <a:avLst/>
          </a:prstGeom>
        </p:spPr>
        <p:txBody>
          <a:bodyPr spcFirstLastPara="1" wrap="square" lIns="91425" tIns="91425" rIns="91425" bIns="91425" anchor="b" anchorCtr="0">
            <a:noAutofit/>
          </a:bodyPr>
          <a:lstStyle/>
          <a:p>
            <a:pPr lvl="0"/>
            <a:r>
              <a:rPr lang="ru-RU" dirty="0"/>
              <a:t>Прототип интерфейса оператора</a:t>
            </a:r>
            <a:endParaRPr dirty="0"/>
          </a:p>
        </p:txBody>
      </p:sp>
      <p:sp>
        <p:nvSpPr>
          <p:cNvPr id="2315" name="Google Shape;2315;p62"/>
          <p:cNvSpPr txBox="1">
            <a:spLocks noGrp="1"/>
          </p:cNvSpPr>
          <p:nvPr>
            <p:ph type="subTitle" idx="1"/>
          </p:nvPr>
        </p:nvSpPr>
        <p:spPr>
          <a:xfrm>
            <a:off x="191621" y="1806439"/>
            <a:ext cx="2246779" cy="1424441"/>
          </a:xfrm>
          <a:prstGeom prst="rect">
            <a:avLst/>
          </a:prstGeom>
        </p:spPr>
        <p:txBody>
          <a:bodyPr spcFirstLastPara="1" wrap="square" lIns="91425" tIns="91425" rIns="91425" bIns="91425" anchor="t" anchorCtr="0">
            <a:noAutofit/>
          </a:bodyPr>
          <a:lstStyle/>
          <a:p>
            <a:pPr marL="0" lvl="0" indent="0"/>
            <a:r>
              <a:rPr lang="ru-RU" dirty="0">
                <a:latin typeface="+mn-lt"/>
              </a:rPr>
              <a:t>Сочетает возможности исполнителя очереди и оператора</a:t>
            </a:r>
          </a:p>
        </p:txBody>
      </p:sp>
      <p:grpSp>
        <p:nvGrpSpPr>
          <p:cNvPr id="2316" name="Google Shape;2316;p62"/>
          <p:cNvGrpSpPr>
            <a:grpSpLocks noChangeAspect="1"/>
          </p:cNvGrpSpPr>
          <p:nvPr/>
        </p:nvGrpSpPr>
        <p:grpSpPr>
          <a:xfrm>
            <a:off x="2522101" y="1806414"/>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2153183" y="6502504"/>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 name="Рисунок 16"/>
          <p:cNvPicPr>
            <a:picLocks noChangeAspect="1"/>
          </p:cNvPicPr>
          <p:nvPr/>
        </p:nvPicPr>
        <p:blipFill rotWithShape="1">
          <a:blip r:embed="rId4"/>
          <a:srcRect l="10044" r="10102"/>
          <a:stretch/>
        </p:blipFill>
        <p:spPr>
          <a:xfrm>
            <a:off x="2693834" y="1902614"/>
            <a:ext cx="6071133" cy="3935411"/>
          </a:xfrm>
          <a:prstGeom prst="rect">
            <a:avLst/>
          </a:prstGeom>
        </p:spPr>
      </p:pic>
    </p:spTree>
    <p:extLst>
      <p:ext uri="{BB962C8B-B14F-4D97-AF65-F5344CB8AC3E}">
        <p14:creationId xmlns:p14="http://schemas.microsoft.com/office/powerpoint/2010/main" val="1884061090"/>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Собраны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зафиксированы </a:t>
            </a:r>
            <a:r>
              <a:rPr lang="ru-RU" sz="1800" dirty="0">
                <a:latin typeface="Arial" panose="020B0604020202020204" pitchFamily="34" charset="0"/>
                <a:cs typeface="Arial" panose="020B0604020202020204" pitchFamily="34" charset="0"/>
              </a:rPr>
              <a:t>замечания от </a:t>
            </a:r>
            <a:r>
              <a:rPr lang="ru-RU" sz="18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Проработана диаграмма </a:t>
            </a:r>
            <a:r>
              <a:rPr lang="ru-RU" sz="1800" dirty="0">
                <a:latin typeface="Arial" panose="020B0604020202020204" pitchFamily="34" charset="0"/>
                <a:cs typeface="Arial" panose="020B0604020202020204" pitchFamily="34" charset="0"/>
              </a:rPr>
              <a:t>слоя бизнеса в </a:t>
            </a:r>
            <a:r>
              <a:rPr lang="ru-RU" sz="1800" dirty="0" err="1" smtClean="0">
                <a:latin typeface="Arial" panose="020B0604020202020204" pitchFamily="34" charset="0"/>
                <a:cs typeface="Arial" panose="020B0604020202020204" pitchFamily="34" charset="0"/>
              </a:rPr>
              <a:t>Archimate</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Исследованы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добавлены </a:t>
            </a:r>
            <a:r>
              <a:rPr lang="ru-RU" sz="1800" dirty="0">
                <a:latin typeface="Arial" panose="020B0604020202020204" pitchFamily="34" charset="0"/>
                <a:cs typeface="Arial" panose="020B0604020202020204" pitchFamily="34" charset="0"/>
              </a:rPr>
              <a:t>нефункциональные требования в </a:t>
            </a:r>
            <a:r>
              <a:rPr lang="ru-RU" sz="1800" dirty="0" err="1">
                <a:latin typeface="Arial" panose="020B0604020202020204" pitchFamily="34" charset="0"/>
                <a:cs typeface="Arial" panose="020B0604020202020204" pitchFamily="34" charset="0"/>
              </a:rPr>
              <a:t>бэклог</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 </a:t>
            </a:r>
            <a:r>
              <a:rPr lang="ru-RU" sz="1800" dirty="0">
                <a:latin typeface="Arial" panose="020B0604020202020204" pitchFamily="34" charset="0"/>
                <a:cs typeface="Arial" panose="020B0604020202020204" pitchFamily="34" charset="0"/>
              </a:rPr>
              <a:t>прототип </a:t>
            </a:r>
            <a:r>
              <a:rPr lang="ru-RU" sz="1800" dirty="0" smtClean="0">
                <a:latin typeface="Arial" panose="020B0604020202020204" pitchFamily="34" charset="0"/>
                <a:cs typeface="Arial" panose="020B0604020202020204" pitchFamily="34" charset="0"/>
              </a:rPr>
              <a:t>интерфейса</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для отчётности</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a:latin typeface="Arial" panose="020B0604020202020204" pitchFamily="34" charset="0"/>
                <a:cs typeface="Arial" panose="020B0604020202020204" pitchFamily="34" charset="0"/>
              </a:rPr>
              <a:t>Сформулировать функциональные требования</a:t>
            </a:r>
            <a:endParaRPr lang="ru-RU" sz="1800" dirty="0" smtClean="0">
              <a:latin typeface="Arial" panose="020B0604020202020204" pitchFamily="34" charset="0"/>
              <a:cs typeface="Arial" panose="020B0604020202020204" pitchFamily="34" charset="0"/>
            </a:endParaRP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почти все задания</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Задания выполнялись равномерно всеми членами команды</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Результаты обсуждений проекта фиксировались в текстовом виде</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Подключать помощь к заданию, если оно висит дольше 2-ух дней</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кто реально брал задание, отмечали себя на доске</a:t>
            </a: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1491</TotalTime>
  <Words>1615</Words>
  <Application>Microsoft Office PowerPoint</Application>
  <PresentationFormat>Экран (4:3)</PresentationFormat>
  <Paragraphs>338</Paragraphs>
  <Slides>53</Slides>
  <Notes>53</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53</vt:i4>
      </vt:variant>
    </vt:vector>
  </HeadingPairs>
  <TitlesOfParts>
    <vt:vector size="67" baseType="lpstr">
      <vt:lpstr>Open Sans</vt:lpstr>
      <vt:lpstr>Proxima Nova Semibold</vt:lpstr>
      <vt:lpstr>Calibri</vt:lpstr>
      <vt:lpstr>Poppins</vt:lpstr>
      <vt:lpstr>Arial</vt:lpstr>
      <vt:lpstr>Proxima Nova</vt:lpstr>
      <vt:lpstr>Roboto Condensed Light</vt:lpstr>
      <vt:lpstr>Amatic SC</vt:lpstr>
      <vt:lpstr>Wingdings</vt:lpstr>
      <vt:lpstr>IBM Plex Mono</vt:lpstr>
      <vt:lpstr>Source Code Pro</vt:lpstr>
      <vt:lpstr>Roboto Medium</vt:lpstr>
      <vt:lpstr>Introduction to Coding Workshop by Slidesgo</vt:lpstr>
      <vt:lpstr>Slidesgo Final Pages</vt:lpstr>
      <vt:lpstr>Итоги 3 спринта</vt:lpstr>
      <vt:lpstr>Наша команда</vt:lpstr>
      <vt:lpstr>Задачи 2 спринта</vt:lpstr>
      <vt:lpstr>Диаграмма бизнес-слоя</vt:lpstr>
      <vt:lpstr>Диаграмма бизнес-слоя</vt:lpstr>
      <vt:lpstr>Диаграмма бизнес-слоя</vt:lpstr>
      <vt:lpstr>Диаграмма бизнес-слоя</vt:lpstr>
      <vt:lpstr>Диаграмма бизнес-слоя</vt:lpstr>
      <vt:lpstr>Диаграмма бизнес-слоя</vt:lpstr>
      <vt:lpstr>Нефункциональные требования</vt:lpstr>
      <vt:lpstr>Прототип интерфейса клиента</vt:lpstr>
      <vt:lpstr>Прототип интерфейса оператора</vt:lpstr>
      <vt:lpstr>Обзор спринта</vt:lpstr>
      <vt:lpstr>Ретроспектива</vt:lpstr>
      <vt:lpstr>Спасибо за внимание!</vt:lpstr>
      <vt:lpstr>Дальше идут шаблоны и заготовки</vt:lpstr>
      <vt:lpstr>Тема проекта</vt:lpstr>
      <vt:lpstr>Роли пользователей</vt:lpstr>
      <vt:lpstr>Организация работы</vt:lpstr>
      <vt:lpstr>Выбор технологического стека</vt:lpstr>
      <vt:lpstr>Задачи 2 спринта</vt:lpstr>
      <vt:lpstr>Рассуждение</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65</cp:revision>
  <dcterms:modified xsi:type="dcterms:W3CDTF">2026-03-17T07:18:57Z</dcterms:modified>
</cp:coreProperties>
</file>