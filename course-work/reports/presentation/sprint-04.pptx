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4"/>
  </p:notesMasterIdLst>
  <p:sldIdLst>
    <p:sldId id="256" r:id="rId3"/>
    <p:sldId id="314" r:id="rId4"/>
    <p:sldId id="258" r:id="rId5"/>
    <p:sldId id="318" r:id="rId6"/>
    <p:sldId id="317" r:id="rId7"/>
    <p:sldId id="326" r:id="rId8"/>
    <p:sldId id="327" r:id="rId9"/>
    <p:sldId id="325" r:id="rId10"/>
    <p:sldId id="284" r:id="rId11"/>
    <p:sldId id="264" r:id="rId12"/>
    <p:sldId id="315" r:id="rId13"/>
    <p:sldId id="270" r:id="rId14"/>
    <p:sldId id="268" r:id="rId15"/>
    <p:sldId id="267" r:id="rId16"/>
    <p:sldId id="257" r:id="rId17"/>
    <p:sldId id="262" r:id="rId18"/>
    <p:sldId id="316" r:id="rId19"/>
    <p:sldId id="266" r:id="rId20"/>
    <p:sldId id="260" r:id="rId21"/>
    <p:sldId id="324" r:id="rId22"/>
    <p:sldId id="263" r:id="rId23"/>
    <p:sldId id="265" r:id="rId24"/>
    <p:sldId id="273" r:id="rId25"/>
    <p:sldId id="275" r:id="rId26"/>
    <p:sldId id="277" r:id="rId27"/>
    <p:sldId id="278" r:id="rId28"/>
    <p:sldId id="279" r:id="rId29"/>
    <p:sldId id="280" r:id="rId30"/>
    <p:sldId id="281" r:id="rId31"/>
    <p:sldId id="286" r:id="rId32"/>
    <p:sldId id="287" r:id="rId33"/>
    <p:sldId id="293" r:id="rId34"/>
    <p:sldId id="294" r:id="rId35"/>
    <p:sldId id="295" r:id="rId36"/>
    <p:sldId id="296" r:id="rId37"/>
    <p:sldId id="297" r:id="rId38"/>
    <p:sldId id="298" r:id="rId39"/>
    <p:sldId id="299" r:id="rId40"/>
    <p:sldId id="300" r:id="rId41"/>
    <p:sldId id="301" r:id="rId42"/>
    <p:sldId id="302" r:id="rId43"/>
    <p:sldId id="303" r:id="rId44"/>
    <p:sldId id="304" r:id="rId45"/>
    <p:sldId id="305" r:id="rId46"/>
    <p:sldId id="306" r:id="rId47"/>
    <p:sldId id="307" r:id="rId48"/>
    <p:sldId id="308" r:id="rId49"/>
    <p:sldId id="309" r:id="rId50"/>
    <p:sldId id="310" r:id="rId51"/>
    <p:sldId id="311" r:id="rId52"/>
    <p:sldId id="312" r:id="rId53"/>
  </p:sldIdLst>
  <p:sldSz cx="9144000" cy="6858000" type="screen4x3"/>
  <p:notesSz cx="6858000" cy="9144000"/>
  <p:embeddedFontLst>
    <p:embeddedFont>
      <p:font typeface="Poppins" panose="020B0604020202020204" charset="0"/>
      <p:regular r:id="rId55"/>
      <p:bold r:id="rId56"/>
      <p:italic r:id="rId57"/>
      <p:boldItalic r:id="rId58"/>
    </p:embeddedFont>
    <p:embeddedFont>
      <p:font typeface="Calibri" panose="020F0502020204030204" pitchFamily="34" charset="0"/>
      <p:regular r:id="rId59"/>
      <p:bold r:id="rId60"/>
      <p:italic r:id="rId61"/>
      <p:boldItalic r:id="rId62"/>
    </p:embeddedFont>
    <p:embeddedFont>
      <p:font typeface="Proxima Nova" panose="020B0604020202020204" charset="0"/>
      <p:regular r:id="rId63"/>
      <p:bold r:id="rId64"/>
      <p:italic r:id="rId65"/>
      <p:boldItalic r:id="rId66"/>
    </p:embeddedFont>
    <p:embeddedFont>
      <p:font typeface="Source Code Pro" panose="020B0604020202020204" charset="0"/>
      <p:regular r:id="rId67"/>
      <p:bold r:id="rId68"/>
      <p:italic r:id="rId69"/>
      <p:boldItalic r:id="rId70"/>
    </p:embeddedFont>
    <p:embeddedFont>
      <p:font typeface="IBM Plex Mono" panose="020B0604020202020204" charset="-52"/>
      <p:regular r:id="rId71"/>
      <p:bold r:id="rId72"/>
      <p:italic r:id="rId73"/>
      <p:boldItalic r:id="rId74"/>
    </p:embeddedFont>
    <p:embeddedFont>
      <p:font typeface="Roboto Medium" panose="020B0604020202020204" charset="0"/>
      <p:regular r:id="rId75"/>
      <p:bold r:id="rId76"/>
      <p:italic r:id="rId77"/>
      <p:boldItalic r:id="rId78"/>
    </p:embeddedFont>
    <p:embeddedFont>
      <p:font typeface="Amatic SC" panose="020B0604020202020204" charset="-79"/>
      <p:regular r:id="rId79"/>
      <p:bold r:id="rId80"/>
    </p:embeddedFont>
    <p:embeddedFont>
      <p:font typeface="Proxima Nova Semibold" panose="020B0604020202020204" charset="0"/>
      <p:regular r:id="rId81"/>
      <p:bold r:id="rId82"/>
      <p:boldItalic r:id="rId8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164" autoAdjust="0"/>
  </p:normalViewPr>
  <p:slideViewPr>
    <p:cSldViewPr snapToGrid="0">
      <p:cViewPr varScale="1">
        <p:scale>
          <a:sx n="91" d="100"/>
          <a:sy n="91" d="100"/>
        </p:scale>
        <p:origin x="121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9.fntdata"/><Relationship Id="rId68" Type="http://schemas.openxmlformats.org/officeDocument/2006/relationships/font" Target="fonts/font14.fntdata"/><Relationship Id="rId84" Type="http://schemas.openxmlformats.org/officeDocument/2006/relationships/presProps" Target="pres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4.fntdata"/><Relationship Id="rId74" Type="http://schemas.openxmlformats.org/officeDocument/2006/relationships/font" Target="fonts/font20.fntdata"/><Relationship Id="rId79" Type="http://schemas.openxmlformats.org/officeDocument/2006/relationships/font" Target="fonts/font25.fntdata"/><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2.fntdata"/><Relationship Id="rId64" Type="http://schemas.openxmlformats.org/officeDocument/2006/relationships/font" Target="fonts/font10.fntdata"/><Relationship Id="rId69" Type="http://schemas.openxmlformats.org/officeDocument/2006/relationships/font" Target="fonts/font15.fntdata"/><Relationship Id="rId77" Type="http://schemas.openxmlformats.org/officeDocument/2006/relationships/font" Target="fonts/font23.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8.fntdata"/><Relationship Id="rId80" Type="http://schemas.openxmlformats.org/officeDocument/2006/relationships/font" Target="fonts/font26.fntdata"/><Relationship Id="rId85"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5.fntdata"/><Relationship Id="rId67" Type="http://schemas.openxmlformats.org/officeDocument/2006/relationships/font" Target="fonts/font1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notesMaster" Target="notesMasters/notesMaster1.xml"/><Relationship Id="rId62" Type="http://schemas.openxmlformats.org/officeDocument/2006/relationships/font" Target="fonts/font8.fntdata"/><Relationship Id="rId70" Type="http://schemas.openxmlformats.org/officeDocument/2006/relationships/font" Target="fonts/font16.fntdata"/><Relationship Id="rId75" Type="http://schemas.openxmlformats.org/officeDocument/2006/relationships/font" Target="fonts/font21.fntdata"/><Relationship Id="rId83" Type="http://schemas.openxmlformats.org/officeDocument/2006/relationships/font" Target="fonts/font29.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3.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6.fntdata"/><Relationship Id="rId65" Type="http://schemas.openxmlformats.org/officeDocument/2006/relationships/font" Target="fonts/font11.fntdata"/><Relationship Id="rId73" Type="http://schemas.openxmlformats.org/officeDocument/2006/relationships/font" Target="fonts/font19.fntdata"/><Relationship Id="rId78" Type="http://schemas.openxmlformats.org/officeDocument/2006/relationships/font" Target="fonts/font24.fntdata"/><Relationship Id="rId81" Type="http://schemas.openxmlformats.org/officeDocument/2006/relationships/font" Target="fonts/font27.fntdata"/><Relationship Id="rId86"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1.fntdata"/><Relationship Id="rId76" Type="http://schemas.openxmlformats.org/officeDocument/2006/relationships/font" Target="fonts/font22.fntdata"/><Relationship Id="rId7" Type="http://schemas.openxmlformats.org/officeDocument/2006/relationships/slide" Target="slides/slide5.xml"/><Relationship Id="rId71" Type="http://schemas.openxmlformats.org/officeDocument/2006/relationships/font" Target="fonts/font17.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2.fntdata"/><Relationship Id="rId87" Type="http://schemas.openxmlformats.org/officeDocument/2006/relationships/tableStyles" Target="tableStyles.xml"/><Relationship Id="rId61" Type="http://schemas.openxmlformats.org/officeDocument/2006/relationships/font" Target="fonts/font7.fntdata"/><Relationship Id="rId82" Type="http://schemas.openxmlformats.org/officeDocument/2006/relationships/font" Target="fonts/font2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002239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66114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873519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0119715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48141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2"/>
        <p:cNvGrpSpPr/>
        <p:nvPr/>
      </p:nvGrpSpPr>
      <p:grpSpPr>
        <a:xfrm>
          <a:off x="0" y="0"/>
          <a:ext cx="0" cy="0"/>
          <a:chOff x="0" y="0"/>
          <a:chExt cx="0" cy="0"/>
        </a:xfrm>
      </p:grpSpPr>
      <p:sp>
        <p:nvSpPr>
          <p:cNvPr id="1653" name="Google Shape;1653;g24e6b4d5c31_0_1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4" name="Google Shape;1654;g24e6b4d5c31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049"/>
        <p:cNvGrpSpPr/>
        <p:nvPr/>
      </p:nvGrpSpPr>
      <p:grpSpPr>
        <a:xfrm>
          <a:off x="0" y="0"/>
          <a:ext cx="0" cy="0"/>
          <a:chOff x="0" y="0"/>
          <a:chExt cx="0" cy="0"/>
        </a:xfrm>
      </p:grpSpPr>
      <p:sp>
        <p:nvSpPr>
          <p:cNvPr id="1050" name="Google Shape;1050;p2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051" name="Google Shape;1051;p24"/>
          <p:cNvGrpSpPr/>
          <p:nvPr/>
        </p:nvGrpSpPr>
        <p:grpSpPr>
          <a:xfrm>
            <a:off x="7059553" y="-2136808"/>
            <a:ext cx="4192757" cy="4558967"/>
            <a:chOff x="6983353" y="-2136808"/>
            <a:chExt cx="4192757" cy="4558967"/>
          </a:xfrm>
        </p:grpSpPr>
        <p:grpSp>
          <p:nvGrpSpPr>
            <p:cNvPr id="1052" name="Google Shape;1052;p24"/>
            <p:cNvGrpSpPr/>
            <p:nvPr/>
          </p:nvGrpSpPr>
          <p:grpSpPr>
            <a:xfrm rot="-509296">
              <a:off x="7187207" y="-982000"/>
              <a:ext cx="3785049" cy="3043008"/>
              <a:chOff x="7103825" y="-713112"/>
              <a:chExt cx="3785226" cy="3043150"/>
            </a:xfrm>
          </p:grpSpPr>
          <p:sp>
            <p:nvSpPr>
              <p:cNvPr id="1053" name="Google Shape;1053;p24"/>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54" name="Google Shape;1054;p24"/>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1055" name="Google Shape;1055;p24"/>
            <p:cNvGrpSpPr/>
            <p:nvPr/>
          </p:nvGrpSpPr>
          <p:grpSpPr>
            <a:xfrm rot="5400000">
              <a:off x="6489450" y="75626"/>
              <a:ext cx="4558967" cy="134100"/>
              <a:chOff x="796100" y="3019701"/>
              <a:chExt cx="4558967" cy="134100"/>
            </a:xfrm>
          </p:grpSpPr>
          <p:sp>
            <p:nvSpPr>
              <p:cNvPr id="1056" name="Google Shape;1056;p24"/>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57" name="Google Shape;1057;p24"/>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58" name="Google Shape;1058;p24"/>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9" name="Google Shape;1059;p24"/>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0" name="Google Shape;1060;p24"/>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1" name="Google Shape;1061;p24"/>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3" name="Google Shape;1063;p24"/>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064" name="Google Shape;1064;p24"/>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065" name="Google Shape;1065;p24"/>
          <p:cNvGrpSpPr/>
          <p:nvPr/>
        </p:nvGrpSpPr>
        <p:grpSpPr>
          <a:xfrm>
            <a:off x="6067575" y="4168225"/>
            <a:ext cx="4006263" cy="4771152"/>
            <a:chOff x="5915175" y="2339425"/>
            <a:chExt cx="4006263" cy="4771152"/>
          </a:xfrm>
        </p:grpSpPr>
        <p:sp>
          <p:nvSpPr>
            <p:cNvPr id="1066" name="Google Shape;1066;p24"/>
            <p:cNvSpPr/>
            <p:nvPr/>
          </p:nvSpPr>
          <p:spPr>
            <a:xfrm>
              <a:off x="5915175" y="23612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4"/>
            <p:cNvSpPr/>
            <p:nvPr/>
          </p:nvSpPr>
          <p:spPr>
            <a:xfrm>
              <a:off x="6873793" y="23394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 name="Google Shape;1068;p24"/>
            <p:cNvGrpSpPr/>
            <p:nvPr/>
          </p:nvGrpSpPr>
          <p:grpSpPr>
            <a:xfrm>
              <a:off x="7520550" y="4608575"/>
              <a:ext cx="582050" cy="582425"/>
              <a:chOff x="959750" y="3039275"/>
              <a:chExt cx="582050" cy="582425"/>
            </a:xfrm>
          </p:grpSpPr>
          <p:sp>
            <p:nvSpPr>
              <p:cNvPr id="1069" name="Google Shape;1069;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24"/>
            <p:cNvGrpSpPr/>
            <p:nvPr/>
          </p:nvGrpSpPr>
          <p:grpSpPr>
            <a:xfrm>
              <a:off x="8484675" y="3658275"/>
              <a:ext cx="582050" cy="582425"/>
              <a:chOff x="959750" y="3039275"/>
              <a:chExt cx="582050" cy="582425"/>
            </a:xfrm>
          </p:grpSpPr>
          <p:sp>
            <p:nvSpPr>
              <p:cNvPr id="1077" name="Google Shape;1077;p24"/>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4"/>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4"/>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4"/>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4"/>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4"/>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4"/>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4"/>
          <p:cNvGrpSpPr/>
          <p:nvPr/>
        </p:nvGrpSpPr>
        <p:grpSpPr>
          <a:xfrm>
            <a:off x="-235366" y="5200154"/>
            <a:ext cx="5249359" cy="2992224"/>
            <a:chOff x="-258616" y="3430829"/>
            <a:chExt cx="5249359" cy="2992224"/>
          </a:xfrm>
        </p:grpSpPr>
        <p:pic>
          <p:nvPicPr>
            <p:cNvPr id="1085" name="Google Shape;1085;p24"/>
            <p:cNvPicPr preferRelativeResize="0"/>
            <p:nvPr/>
          </p:nvPicPr>
          <p:blipFill rotWithShape="1">
            <a:blip r:embed="rId3">
              <a:alphaModFix/>
            </a:blip>
            <a:srcRect l="16960" t="24718" r="7121" b="26177"/>
            <a:stretch/>
          </p:blipFill>
          <p:spPr>
            <a:xfrm>
              <a:off x="1070243" y="3430829"/>
              <a:ext cx="3920501" cy="2992224"/>
            </a:xfrm>
            <a:prstGeom prst="rect">
              <a:avLst/>
            </a:prstGeom>
            <a:noFill/>
            <a:ln>
              <a:noFill/>
            </a:ln>
          </p:spPr>
        </p:pic>
        <p:sp>
          <p:nvSpPr>
            <p:cNvPr id="1086" name="Google Shape;1086;p24"/>
            <p:cNvSpPr/>
            <p:nvPr/>
          </p:nvSpPr>
          <p:spPr>
            <a:xfrm>
              <a:off x="363250" y="46677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4"/>
            <p:cNvSpPr/>
            <p:nvPr/>
          </p:nvSpPr>
          <p:spPr>
            <a:xfrm>
              <a:off x="941424" y="47243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4"/>
            <p:cNvSpPr/>
            <p:nvPr/>
          </p:nvSpPr>
          <p:spPr>
            <a:xfrm>
              <a:off x="820562" y="49581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4"/>
            <p:cNvSpPr/>
            <p:nvPr/>
          </p:nvSpPr>
          <p:spPr>
            <a:xfrm>
              <a:off x="1299000" y="4608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4"/>
            <p:cNvSpPr/>
            <p:nvPr/>
          </p:nvSpPr>
          <p:spPr>
            <a:xfrm rot="5400000">
              <a:off x="447539" y="31337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 name="Google Shape;1091;p24"/>
            <p:cNvGrpSpPr/>
            <p:nvPr/>
          </p:nvGrpSpPr>
          <p:grpSpPr>
            <a:xfrm>
              <a:off x="736485" y="4387072"/>
              <a:ext cx="161977" cy="161940"/>
              <a:chOff x="1101075" y="2142375"/>
              <a:chExt cx="439200" cy="439100"/>
            </a:xfrm>
          </p:grpSpPr>
          <p:sp>
            <p:nvSpPr>
              <p:cNvPr id="1092" name="Google Shape;1092;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4"/>
            <p:cNvGrpSpPr/>
            <p:nvPr/>
          </p:nvGrpSpPr>
          <p:grpSpPr>
            <a:xfrm rot="10800000">
              <a:off x="2118901" y="4805293"/>
              <a:ext cx="161977" cy="161940"/>
              <a:chOff x="1101075" y="2142375"/>
              <a:chExt cx="439200" cy="439100"/>
            </a:xfrm>
          </p:grpSpPr>
          <p:sp>
            <p:nvSpPr>
              <p:cNvPr id="1095" name="Google Shape;1095;p24"/>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4"/>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 name="Google Shape;1097;p24"/>
          <p:cNvGrpSpPr/>
          <p:nvPr/>
        </p:nvGrpSpPr>
        <p:grpSpPr>
          <a:xfrm>
            <a:off x="-515563" y="-797996"/>
            <a:ext cx="1433417" cy="2584783"/>
            <a:chOff x="-363163" y="-645596"/>
            <a:chExt cx="1433417" cy="2584783"/>
          </a:xfrm>
        </p:grpSpPr>
        <p:grpSp>
          <p:nvGrpSpPr>
            <p:cNvPr id="1098" name="Google Shape;1098;p24"/>
            <p:cNvGrpSpPr/>
            <p:nvPr/>
          </p:nvGrpSpPr>
          <p:grpSpPr>
            <a:xfrm rot="10800000">
              <a:off x="-64595" y="-645596"/>
              <a:ext cx="1134849" cy="2370191"/>
              <a:chOff x="-575575" y="3685599"/>
              <a:chExt cx="1421048" cy="2967932"/>
            </a:xfrm>
          </p:grpSpPr>
          <p:sp>
            <p:nvSpPr>
              <p:cNvPr id="1099" name="Google Shape;1099;p24"/>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4"/>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 name="Google Shape;1101;p24"/>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4"/>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 name="Google Shape;1103;p24"/>
            <p:cNvGrpSpPr/>
            <p:nvPr/>
          </p:nvGrpSpPr>
          <p:grpSpPr>
            <a:xfrm rot="-2700000" flipH="1">
              <a:off x="-216370" y="1084101"/>
              <a:ext cx="708093" cy="708493"/>
              <a:chOff x="3678700" y="407275"/>
              <a:chExt cx="708100" cy="708500"/>
            </a:xfrm>
          </p:grpSpPr>
          <p:sp>
            <p:nvSpPr>
              <p:cNvPr id="1104" name="Google Shape;1104;p24"/>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4"/>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4"/>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4"/>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4"/>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4"/>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4"/>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0" r:id="rId19"/>
    <p:sldLayoutId id="2147483671" r:id="rId20"/>
    <p:sldLayoutId id="2147483672" r:id="rId21"/>
    <p:sldLayoutId id="2147483673" r:id="rId22"/>
    <p:sldLayoutId id="2147483676" r:id="rId23"/>
    <p:sldLayoutId id="2147483677"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9.xml"/><Relationship Id="rId1" Type="http://schemas.openxmlformats.org/officeDocument/2006/relationships/slideLayout" Target="../slideLayouts/slideLayout16.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11.png"/></Relationships>
</file>

<file path=ppt/slides/_rels/slide17.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notesSlide" Target="../notesSlides/notesSlide17.xml"/><Relationship Id="rId1" Type="http://schemas.openxmlformats.org/officeDocument/2006/relationships/slideLayout" Target="../slideLayouts/slideLayout2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 Id="rId9" Type="http://schemas.openxmlformats.org/officeDocument/2006/relationships/image" Target="../media/image18.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0.xml"/><Relationship Id="rId1" Type="http://schemas.openxmlformats.org/officeDocument/2006/relationships/slideLayout" Target="../slideLayouts/slideLayout16.xml"/><Relationship Id="rId4" Type="http://schemas.openxmlformats.org/officeDocument/2006/relationships/image" Target="../media/image19.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2.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2.xml"/><Relationship Id="rId1" Type="http://schemas.openxmlformats.org/officeDocument/2006/relationships/slideLayout" Target="../slideLayouts/slideLayout20.xml"/><Relationship Id="rId5" Type="http://schemas.openxmlformats.org/officeDocument/2006/relationships/image" Target="../media/image22.jpg"/><Relationship Id="rId4" Type="http://schemas.openxmlformats.org/officeDocument/2006/relationships/image" Target="../media/image21.jp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5569275" cy="1205758"/>
          </a:xfrm>
          <a:prstGeom prst="rect">
            <a:avLst/>
          </a:prstGeom>
        </p:spPr>
        <p:txBody>
          <a:bodyPr spcFirstLastPara="1" wrap="square" lIns="91425" tIns="91425" rIns="91425" bIns="91425" anchor="t" anchorCtr="0">
            <a:noAutofit/>
          </a:bodyPr>
          <a:lstStyle/>
          <a:p>
            <a:pPr marL="0" lvl="0" indent="0"/>
            <a:r>
              <a:rPr lang="ru-RU" sz="2800" dirty="0" smtClean="0"/>
              <a:t>Формирование </a:t>
            </a:r>
            <a:r>
              <a:rPr lang="ru-RU" sz="2800" dirty="0"/>
              <a:t>требований</a:t>
            </a:r>
            <a:endParaRPr sz="2800" dirty="0"/>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en-US" dirty="0" smtClean="0"/>
              <a:t>4</a:t>
            </a:r>
            <a:r>
              <a:rPr lang="ru-RU" dirty="0" smtClean="0"/>
              <a:t> 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14615;p83"/>
          <p:cNvGrpSpPr>
            <a:grpSpLocks noChangeAspect="1"/>
          </p:cNvGrpSpPr>
          <p:nvPr/>
        </p:nvGrpSpPr>
        <p:grpSpPr>
          <a:xfrm>
            <a:off x="5313618" y="4511062"/>
            <a:ext cx="510195" cy="710837"/>
            <a:chOff x="1394741" y="1512061"/>
            <a:chExt cx="252444" cy="351722"/>
          </a:xfrm>
          <a:solidFill>
            <a:schemeClr val="tx2"/>
          </a:solidFill>
        </p:grpSpPr>
        <p:sp>
          <p:nvSpPr>
            <p:cNvPr id="33"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085514"/>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Формирование </a:t>
            </a:r>
            <a:r>
              <a:rPr lang="ru-RU" sz="1800" dirty="0">
                <a:latin typeface="Arial" panose="020B0604020202020204" pitchFamily="34" charset="0"/>
                <a:cs typeface="Arial" panose="020B0604020202020204" pitchFamily="34" charset="0"/>
              </a:rPr>
              <a:t>требований</a:t>
            </a:r>
          </a:p>
        </p:txBody>
      </p:sp>
      <p:sp>
        <p:nvSpPr>
          <p:cNvPr id="1459" name="Google Shape;1459;p36"/>
          <p:cNvSpPr txBox="1">
            <a:spLocks noGrp="1"/>
          </p:cNvSpPr>
          <p:nvPr>
            <p:ph type="subTitle" idx="2"/>
          </p:nvPr>
        </p:nvSpPr>
        <p:spPr>
          <a:xfrm>
            <a:off x="631680" y="4833607"/>
            <a:ext cx="3130787" cy="701467"/>
          </a:xfrm>
          <a:prstGeom prst="rect">
            <a:avLst/>
          </a:prstGeom>
          <a:noFill/>
          <a:ln>
            <a:noFill/>
          </a:ln>
        </p:spPr>
        <p:txBody>
          <a:bodyPr spcFirstLastPara="1" wrap="square" lIns="91425" tIns="91425" rIns="91425" bIns="91425" anchor="t" anchorCtr="0">
            <a:noAutofit/>
          </a:bodyPr>
          <a:lstStyle/>
          <a:p>
            <a:pPr marL="0" indent="0"/>
            <a:r>
              <a:rPr lang="ru-RU" sz="1800" dirty="0" smtClean="0">
                <a:latin typeface="Arial" panose="020B0604020202020204" pitchFamily="34" charset="0"/>
                <a:cs typeface="Arial" panose="020B0604020202020204" pitchFamily="34" charset="0"/>
              </a:rPr>
              <a:t>Выбраны и детализированы 4 задачи</a:t>
            </a:r>
            <a:endParaRPr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603727" y="3933664"/>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603727" y="4507560"/>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1282438" y="3979612"/>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695686" y="1044291"/>
            <a:ext cx="4036769" cy="519487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Собрать и зафиксировать замечания от </a:t>
            </a:r>
            <a:r>
              <a:rPr lang="ru-RU" sz="20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Выполнить задание по нормализации </a:t>
            </a:r>
            <a:r>
              <a:rPr lang="ru-RU" sz="2000" dirty="0" smtClean="0">
                <a:latin typeface="Arial" panose="020B0604020202020204" pitchFamily="34" charset="0"/>
                <a:cs typeface="Arial" panose="020B0604020202020204" pitchFamily="34" charset="0"/>
              </a:rPr>
              <a:t>данных</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Сформулировать функциональные </a:t>
            </a:r>
            <a:r>
              <a:rPr lang="ru-RU" sz="2000" dirty="0" smtClean="0">
                <a:latin typeface="Arial" panose="020B0604020202020204" pitchFamily="34" charset="0"/>
                <a:cs typeface="Arial" panose="020B0604020202020204" pitchFamily="34" charset="0"/>
              </a:rPr>
              <a:t>требования</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презентацию по </a:t>
            </a:r>
            <a:r>
              <a:rPr lang="ru-RU" sz="2000">
                <a:latin typeface="Arial" panose="020B0604020202020204" pitchFamily="34" charset="0"/>
                <a:cs typeface="Arial" panose="020B0604020202020204" pitchFamily="34" charset="0"/>
              </a:rPr>
              <a:t>итогам </a:t>
            </a:r>
            <a:r>
              <a:rPr lang="ru-RU" sz="2000" smtClean="0">
                <a:latin typeface="Arial" panose="020B0604020202020204" pitchFamily="34" charset="0"/>
                <a:cs typeface="Arial" panose="020B0604020202020204" pitchFamily="34" charset="0"/>
              </a:rPr>
              <a:t>#4</a:t>
            </a:r>
            <a:r>
              <a:rPr lang="ru-RU" sz="2000" smtClean="0">
                <a:latin typeface="Arial" panose="020B0604020202020204" pitchFamily="34" charset="0"/>
                <a:cs typeface="Arial" panose="020B0604020202020204" pitchFamily="34" charset="0"/>
              </a:rPr>
              <a:t> </a:t>
            </a:r>
            <a:r>
              <a:rPr lang="ru-RU" sz="2000" dirty="0" smtClean="0">
                <a:latin typeface="Arial" panose="020B0604020202020204" pitchFamily="34" charset="0"/>
                <a:cs typeface="Arial" panose="020B0604020202020204" pitchFamily="34" charset="0"/>
              </a:rPr>
              <a:t>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a:blip r:embed="rId3"/>
          <a:stretch>
            <a:fillRect/>
          </a:stretch>
        </p:blipFill>
        <p:spPr>
          <a:xfrm>
            <a:off x="75613" y="1041443"/>
            <a:ext cx="8976109" cy="5328387"/>
          </a:xfrm>
          <a:prstGeom prst="rect">
            <a:avLst/>
          </a:prstGeom>
        </p:spPr>
      </p:pic>
      <p:grpSp>
        <p:nvGrpSpPr>
          <p:cNvPr id="1476" name="Google Shape;1476;p37"/>
          <p:cNvGrpSpPr/>
          <p:nvPr/>
        </p:nvGrpSpPr>
        <p:grpSpPr>
          <a:xfrm>
            <a:off x="-2535475" y="5363093"/>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sz="3600" dirty="0" smtClean="0"/>
              <a:t>Задание на нормализацию</a:t>
            </a:r>
            <a:endParaRPr sz="3600" dirty="0"/>
          </a:p>
        </p:txBody>
      </p:sp>
    </p:spTree>
    <p:extLst>
      <p:ext uri="{BB962C8B-B14F-4D97-AF65-F5344CB8AC3E}">
        <p14:creationId xmlns:p14="http://schemas.microsoft.com/office/powerpoint/2010/main" val="394370367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Пациенты</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Задание на нормализацию</a:t>
            </a:r>
            <a:endParaRPr sz="3600" dirty="0"/>
          </a:p>
        </p:txBody>
      </p:sp>
      <p:pic>
        <p:nvPicPr>
          <p:cNvPr id="2" name="Рисунок 1"/>
          <p:cNvPicPr>
            <a:picLocks noChangeAspect="1"/>
          </p:cNvPicPr>
          <p:nvPr/>
        </p:nvPicPr>
        <p:blipFill>
          <a:blip r:embed="rId4"/>
          <a:stretch>
            <a:fillRect/>
          </a:stretch>
        </p:blipFill>
        <p:spPr>
          <a:xfrm>
            <a:off x="129038" y="2356595"/>
            <a:ext cx="8903169" cy="2409625"/>
          </a:xfrm>
          <a:prstGeom prst="rect">
            <a:avLst/>
          </a:prstGeom>
        </p:spPr>
      </p:pic>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Хирурги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Задание на нормализацию</a:t>
            </a:r>
            <a:endParaRPr sz="3600" dirty="0"/>
          </a:p>
        </p:txBody>
      </p:sp>
      <p:pic>
        <p:nvPicPr>
          <p:cNvPr id="3" name="Рисунок 2"/>
          <p:cNvPicPr>
            <a:picLocks noChangeAspect="1"/>
          </p:cNvPicPr>
          <p:nvPr/>
        </p:nvPicPr>
        <p:blipFill>
          <a:blip r:embed="rId4"/>
          <a:stretch>
            <a:fillRect/>
          </a:stretch>
        </p:blipFill>
        <p:spPr>
          <a:xfrm>
            <a:off x="120340" y="2570436"/>
            <a:ext cx="8911867" cy="1929024"/>
          </a:xfrm>
          <a:prstGeom prst="rect">
            <a:avLst/>
          </a:prstGeom>
        </p:spPr>
      </p:pic>
    </p:spTree>
    <p:extLst>
      <p:ext uri="{BB962C8B-B14F-4D97-AF65-F5344CB8AC3E}">
        <p14:creationId xmlns:p14="http://schemas.microsoft.com/office/powerpoint/2010/main" val="236334198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lvl="0" indent="0"/>
            <a:r>
              <a:rPr lang="ru-RU" sz="1600" dirty="0" smtClean="0">
                <a:latin typeface="Arial" panose="020B0604020202020204" pitchFamily="34" charset="0"/>
                <a:cs typeface="Arial" panose="020B0604020202020204" pitchFamily="34" charset="0"/>
              </a:rPr>
              <a:t>Операции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75338" y="-820809"/>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a:t>Задание на нормализацию</a:t>
            </a:r>
            <a:endParaRPr sz="3600" dirty="0"/>
          </a:p>
        </p:txBody>
      </p:sp>
      <p:pic>
        <p:nvPicPr>
          <p:cNvPr id="3" name="Рисунок 2"/>
          <p:cNvPicPr>
            <a:picLocks noChangeAspect="1"/>
          </p:cNvPicPr>
          <p:nvPr/>
        </p:nvPicPr>
        <p:blipFill>
          <a:blip r:embed="rId4"/>
          <a:stretch>
            <a:fillRect/>
          </a:stretch>
        </p:blipFill>
        <p:spPr>
          <a:xfrm>
            <a:off x="1102259" y="1011703"/>
            <a:ext cx="7148172" cy="5731173"/>
          </a:xfrm>
          <a:prstGeom prst="rect">
            <a:avLst/>
          </a:prstGeom>
        </p:spPr>
      </p:pic>
    </p:spTree>
    <p:extLst>
      <p:ext uri="{BB962C8B-B14F-4D97-AF65-F5344CB8AC3E}">
        <p14:creationId xmlns:p14="http://schemas.microsoft.com/office/powerpoint/2010/main" val="639490445"/>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42330" y="1439320"/>
            <a:ext cx="7172869" cy="4887741"/>
          </a:xfrm>
          <a:prstGeom prst="rect">
            <a:avLst/>
          </a:prstGeom>
        </p:spPr>
        <p:txBody>
          <a:bodyPr spcFirstLastPara="1" wrap="square" lIns="91425" tIns="91425" rIns="91425" bIns="91425" anchor="t" anchorCtr="0">
            <a:noAutofit/>
          </a:bodyPr>
          <a:lstStyle/>
          <a:p>
            <a:pPr marL="285750" lvl="0" indent="-285750">
              <a:buFont typeface="Arial" panose="020B0604020202020204" pitchFamily="34" charset="0"/>
              <a:buChar char="•"/>
            </a:pPr>
            <a:r>
              <a:rPr lang="ru-RU" sz="2000" dirty="0" smtClean="0">
                <a:latin typeface="+mn-lt"/>
              </a:rPr>
              <a:t>Требования </a:t>
            </a:r>
            <a:r>
              <a:rPr lang="ru-RU" sz="2000" dirty="0">
                <a:latin typeface="+mn-lt"/>
              </a:rPr>
              <a:t>к работе с </a:t>
            </a:r>
            <a:r>
              <a:rPr lang="ru-RU" sz="2000" dirty="0" smtClean="0">
                <a:latin typeface="+mn-lt"/>
              </a:rPr>
              <a:t>клиентами</a:t>
            </a:r>
          </a:p>
          <a:p>
            <a:pPr marL="285750" lvl="0" indent="-285750">
              <a:buFont typeface="Arial" panose="020B0604020202020204" pitchFamily="34" charset="0"/>
              <a:buChar char="•"/>
            </a:pPr>
            <a:r>
              <a:rPr lang="ru-RU" sz="2000" dirty="0">
                <a:latin typeface="+mn-lt"/>
              </a:rPr>
              <a:t>Требования к работе с приоритетными </a:t>
            </a:r>
            <a:r>
              <a:rPr lang="ru-RU" sz="2000" dirty="0" smtClean="0">
                <a:latin typeface="+mn-lt"/>
              </a:rPr>
              <a:t>клиентами</a:t>
            </a:r>
          </a:p>
          <a:p>
            <a:pPr marL="285750" lvl="0" indent="-285750">
              <a:buFont typeface="Arial" panose="020B0604020202020204" pitchFamily="34" charset="0"/>
              <a:buChar char="•"/>
            </a:pPr>
            <a:r>
              <a:rPr lang="ru-RU" sz="2000" dirty="0">
                <a:latin typeface="+mn-lt"/>
              </a:rPr>
              <a:t>Требования к клиентскому </a:t>
            </a:r>
            <a:r>
              <a:rPr lang="ru-RU" sz="2000" dirty="0" smtClean="0">
                <a:latin typeface="+mn-lt"/>
              </a:rPr>
              <a:t>интерфейсу</a:t>
            </a:r>
          </a:p>
          <a:p>
            <a:pPr marL="285750" lvl="0" indent="-285750">
              <a:buFont typeface="Arial" panose="020B0604020202020204" pitchFamily="34" charset="0"/>
              <a:buChar char="•"/>
            </a:pPr>
            <a:r>
              <a:rPr lang="ru-RU" sz="2000" dirty="0">
                <a:latin typeface="+mn-lt"/>
              </a:rPr>
              <a:t>Требования к исполнителю </a:t>
            </a:r>
            <a:r>
              <a:rPr lang="ru-RU" sz="2000" dirty="0" smtClean="0">
                <a:latin typeface="+mn-lt"/>
              </a:rPr>
              <a:t>услуги</a:t>
            </a:r>
          </a:p>
          <a:p>
            <a:pPr marL="285750" lvl="0" indent="-285750">
              <a:buFont typeface="Arial" panose="020B0604020202020204" pitchFamily="34" charset="0"/>
              <a:buChar char="•"/>
            </a:pPr>
            <a:r>
              <a:rPr lang="ru-RU" sz="2000" dirty="0">
                <a:latin typeface="+mn-lt"/>
              </a:rPr>
              <a:t>Требования к </a:t>
            </a:r>
            <a:r>
              <a:rPr lang="ru-RU" sz="2000" dirty="0" smtClean="0">
                <a:latin typeface="+mn-lt"/>
              </a:rPr>
              <a:t>оператору</a:t>
            </a:r>
          </a:p>
          <a:p>
            <a:pPr marL="285750" lvl="0" indent="-285750">
              <a:buFont typeface="Arial" panose="020B0604020202020204" pitchFamily="34" charset="0"/>
              <a:buChar char="•"/>
            </a:pPr>
            <a:r>
              <a:rPr lang="ru-RU" sz="2000" dirty="0">
                <a:latin typeface="+mn-lt"/>
              </a:rPr>
              <a:t>Требования к администрированию </a:t>
            </a:r>
            <a:r>
              <a:rPr lang="ru-RU" sz="2000" dirty="0" smtClean="0">
                <a:latin typeface="+mn-lt"/>
              </a:rPr>
              <a:t>системы</a:t>
            </a:r>
          </a:p>
          <a:p>
            <a:pPr marL="285750" lvl="0" indent="-285750">
              <a:buFont typeface="Arial" panose="020B0604020202020204" pitchFamily="34" charset="0"/>
              <a:buChar char="•"/>
            </a:pPr>
            <a:r>
              <a:rPr lang="ru-RU" sz="2000" dirty="0">
                <a:latin typeface="+mn-lt"/>
              </a:rPr>
              <a:t>Требования к наблюдателю </a:t>
            </a:r>
            <a:r>
              <a:rPr lang="ru-RU" sz="2000" dirty="0" smtClean="0">
                <a:latin typeface="+mn-lt"/>
              </a:rPr>
              <a:t>очереди</a:t>
            </a:r>
          </a:p>
          <a:p>
            <a:pPr marL="285750" lvl="0" indent="-285750">
              <a:buFont typeface="Arial" panose="020B0604020202020204" pitchFamily="34" charset="0"/>
              <a:buChar char="•"/>
            </a:pPr>
            <a:r>
              <a:rPr lang="ru-RU" sz="2000" dirty="0">
                <a:latin typeface="+mn-lt"/>
              </a:rPr>
              <a:t>Требования к данным и истории </a:t>
            </a:r>
            <a:r>
              <a:rPr lang="ru-RU" sz="2000" dirty="0" smtClean="0">
                <a:latin typeface="+mn-lt"/>
              </a:rPr>
              <a:t>журнала</a:t>
            </a:r>
          </a:p>
          <a:p>
            <a:pPr marL="285750" lvl="0" indent="-285750">
              <a:buFont typeface="Arial" panose="020B0604020202020204" pitchFamily="34" charset="0"/>
              <a:buChar char="•"/>
            </a:pPr>
            <a:r>
              <a:rPr lang="ru-RU" sz="2000" dirty="0">
                <a:latin typeface="+mn-lt"/>
              </a:rPr>
              <a:t>Требования к </a:t>
            </a:r>
            <a:r>
              <a:rPr lang="ru-RU" sz="2000" dirty="0" smtClean="0">
                <a:latin typeface="+mn-lt"/>
              </a:rPr>
              <a:t>уведомлениям</a:t>
            </a:r>
          </a:p>
          <a:p>
            <a:pPr marL="285750" lvl="0" indent="-285750">
              <a:buFont typeface="Arial" panose="020B0604020202020204" pitchFamily="34" charset="0"/>
              <a:buChar char="•"/>
            </a:pPr>
            <a:r>
              <a:rPr lang="ru-RU" sz="2000" dirty="0">
                <a:latin typeface="+mn-lt"/>
              </a:rPr>
              <a:t>Требования к обработке </a:t>
            </a:r>
            <a:r>
              <a:rPr lang="ru-RU" sz="2000" dirty="0" smtClean="0">
                <a:latin typeface="+mn-lt"/>
              </a:rPr>
              <a:t>ошибок</a:t>
            </a:r>
          </a:p>
          <a:p>
            <a:pPr marL="285750" lvl="0" indent="-285750">
              <a:buFont typeface="Arial" panose="020B0604020202020204" pitchFamily="34" charset="0"/>
              <a:buChar char="•"/>
            </a:pPr>
            <a:r>
              <a:rPr lang="ru-RU" sz="2000" dirty="0">
                <a:latin typeface="+mn-lt"/>
              </a:rPr>
              <a:t>Требования к доступу к </a:t>
            </a:r>
            <a:r>
              <a:rPr lang="ru-RU" sz="2000" dirty="0" smtClean="0">
                <a:latin typeface="+mn-lt"/>
              </a:rPr>
              <a:t>системе</a:t>
            </a:r>
          </a:p>
          <a:p>
            <a:pPr marL="285750" lvl="0" indent="-285750">
              <a:buFont typeface="Arial" panose="020B0604020202020204" pitchFamily="34" charset="0"/>
              <a:buChar char="•"/>
            </a:pPr>
            <a:r>
              <a:rPr lang="ru-RU" sz="2000" dirty="0">
                <a:latin typeface="+mn-lt"/>
              </a:rPr>
              <a:t>Требования к режимам распределения клиентов</a:t>
            </a:r>
            <a:endParaRPr lang="ru-RU" sz="2000" dirty="0" smtClean="0">
              <a:latin typeface="+mn-lt"/>
            </a:endParaRPr>
          </a:p>
          <a:p>
            <a:pPr marL="0" lvl="0" indent="0"/>
            <a:endParaRPr sz="1600" dirty="0">
              <a:latin typeface="+mn-lt"/>
            </a:endParaRPr>
          </a:p>
        </p:txBody>
      </p:sp>
      <p:sp>
        <p:nvSpPr>
          <p:cNvPr id="1752" name="Google Shape;1752;p44"/>
          <p:cNvSpPr txBox="1">
            <a:spLocks noGrp="1"/>
          </p:cNvSpPr>
          <p:nvPr>
            <p:ph type="title"/>
          </p:nvPr>
        </p:nvSpPr>
        <p:spPr>
          <a:xfrm>
            <a:off x="341944" y="97896"/>
            <a:ext cx="6427972" cy="572700"/>
          </a:xfrm>
          <a:prstGeom prst="rect">
            <a:avLst/>
          </a:prstGeom>
        </p:spPr>
        <p:txBody>
          <a:bodyPr spcFirstLastPara="1" wrap="square" lIns="91425" tIns="91425" rIns="91425" bIns="91425" anchor="t" anchorCtr="0">
            <a:noAutofit/>
          </a:bodyPr>
          <a:lstStyle/>
          <a:p>
            <a:pPr lvl="0"/>
            <a:r>
              <a:rPr lang="ru-RU" dirty="0"/>
              <a:t>Ф</a:t>
            </a:r>
            <a:r>
              <a:rPr lang="ru-RU" dirty="0" smtClean="0"/>
              <a:t>ункциональные требования</a:t>
            </a:r>
            <a:endParaRPr dirty="0"/>
          </a:p>
        </p:txBody>
      </p:sp>
      <p:sp>
        <p:nvSpPr>
          <p:cNvPr id="15" name="Google Shape;1475;p37"/>
          <p:cNvSpPr txBox="1">
            <a:spLocks/>
          </p:cNvSpPr>
          <p:nvPr/>
        </p:nvSpPr>
        <p:spPr>
          <a:xfrm>
            <a:off x="341944" y="635809"/>
            <a:ext cx="5563906" cy="457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r>
              <a:rPr lang="ru-RU" sz="1600" dirty="0" smtClean="0">
                <a:latin typeface="+mn-lt"/>
                <a:cs typeface="Arial" panose="020B0604020202020204" pitchFamily="34" charset="0"/>
              </a:rPr>
              <a:t>Выделенные категории требований</a:t>
            </a:r>
            <a:endParaRPr lang="ru-RU" sz="1600" dirty="0">
              <a:latin typeface="+mn-lt"/>
              <a:cs typeface="Arial" panose="020B0604020202020204" pitchFamily="34" charset="0"/>
            </a:endParaRPr>
          </a:p>
        </p:txBody>
      </p:sp>
      <p:grpSp>
        <p:nvGrpSpPr>
          <p:cNvPr id="16" name="Google Shape;1512;p37"/>
          <p:cNvGrpSpPr/>
          <p:nvPr/>
        </p:nvGrpSpPr>
        <p:grpSpPr>
          <a:xfrm>
            <a:off x="394004" y="596488"/>
            <a:ext cx="4558967" cy="134100"/>
            <a:chOff x="796100" y="3019701"/>
            <a:chExt cx="4558967" cy="134100"/>
          </a:xfrm>
        </p:grpSpPr>
        <p:sp>
          <p:nvSpPr>
            <p:cNvPr id="17"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9"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77534292"/>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441646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Собраны </a:t>
            </a:r>
            <a:r>
              <a:rPr lang="ru-RU" sz="1800" dirty="0">
                <a:latin typeface="Arial" panose="020B0604020202020204" pitchFamily="34" charset="0"/>
                <a:cs typeface="Arial" panose="020B0604020202020204" pitchFamily="34" charset="0"/>
              </a:rPr>
              <a:t>и </a:t>
            </a:r>
            <a:r>
              <a:rPr lang="ru-RU" sz="1800" dirty="0" smtClean="0">
                <a:latin typeface="Arial" panose="020B0604020202020204" pitchFamily="34" charset="0"/>
                <a:cs typeface="Arial" panose="020B0604020202020204" pitchFamily="34" charset="0"/>
              </a:rPr>
              <a:t>зафиксированы </a:t>
            </a:r>
            <a:r>
              <a:rPr lang="ru-RU" sz="1800" dirty="0">
                <a:latin typeface="Arial" panose="020B0604020202020204" pitchFamily="34" charset="0"/>
                <a:cs typeface="Arial" panose="020B0604020202020204" pitchFamily="34" charset="0"/>
              </a:rPr>
              <a:t>замечания от </a:t>
            </a:r>
            <a:r>
              <a:rPr lang="ru-RU" sz="1800" dirty="0" smtClean="0">
                <a:latin typeface="Arial" panose="020B0604020202020204" pitchFamily="34" charset="0"/>
                <a:cs typeface="Arial" panose="020B0604020202020204" pitchFamily="34" charset="0"/>
              </a:rPr>
              <a:t>преподавателя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Сформулированы начальные функциональные требования</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 </a:t>
            </a:r>
            <a:r>
              <a:rPr lang="ru-RU" sz="1800" dirty="0">
                <a:latin typeface="Arial" panose="020B0604020202020204" pitchFamily="34" charset="0"/>
                <a:cs typeface="Arial" panose="020B0604020202020204" pitchFamily="34" charset="0"/>
              </a:rPr>
              <a:t>прототип </a:t>
            </a:r>
            <a:r>
              <a:rPr lang="ru-RU" sz="1800" dirty="0" smtClean="0">
                <a:latin typeface="Arial" panose="020B0604020202020204" pitchFamily="34" charset="0"/>
                <a:cs typeface="Arial" panose="020B0604020202020204" pitchFamily="34" charset="0"/>
              </a:rPr>
              <a:t>интерфейса</a:t>
            </a: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для отчётности</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a:t>
            </a: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все задания</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Проведено дополнительное обсуждение архитектуры проекта </a:t>
            </a:r>
            <a:r>
              <a:rPr lang="ru-RU" sz="1300" smtClean="0">
                <a:latin typeface="Arial" panose="020B0604020202020204" pitchFamily="34" charset="0"/>
                <a:cs typeface="Arial" panose="020B0604020202020204" pitchFamily="34" charset="0"/>
              </a:rPr>
              <a:t>с преподавателем</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Проводить дополнительные обсуждения для синхронизации понимания отдельных пунктов проекта</a:t>
            </a:r>
            <a:endParaRPr lang="ru-RU" sz="1300" dirty="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Выявлены различия в восприятии части проекта между некоторыми членами команды</a:t>
            </a: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 numbers catch your audience’s attention</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Рассуждение</a:t>
            </a:r>
            <a:endParaRPr dirty="0"/>
          </a:p>
        </p:txBody>
      </p:sp>
      <p:sp>
        <p:nvSpPr>
          <p:cNvPr id="1521" name="Google Shape;1521;p38"/>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a:t>
            </a:r>
            <a:r>
              <a:rPr lang="en" b="1"/>
              <a:t>Since the temperatures are so extreme, albeit not as extreme</a:t>
            </a:r>
            <a:r>
              <a:rPr lang="en"/>
              <a:t> as on Venus, Mercury has been deemed to be non-habitable for humans</a:t>
            </a:r>
            <a:endParaRPr/>
          </a:p>
        </p:txBody>
      </p:sp>
      <p:sp>
        <p:nvSpPr>
          <p:cNvPr id="1522" name="Google Shape;1522;p38"/>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a:t>
            </a:r>
            <a:r>
              <a:rPr lang="en" b="1"/>
              <a:t>This planet’s name has nothing to do with the liquid metal, </a:t>
            </a:r>
            <a:r>
              <a:rPr lang="en"/>
              <a:t>since Mercury was named after the Roman messenger god. Mercury’s surface is filled with craters</a:t>
            </a:r>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91621" y="274320"/>
            <a:ext cx="2579460" cy="1532094"/>
          </a:xfrm>
          <a:prstGeom prst="rect">
            <a:avLst/>
          </a:prstGeom>
        </p:spPr>
        <p:txBody>
          <a:bodyPr spcFirstLastPara="1" wrap="square" lIns="91425" tIns="91425" rIns="91425" bIns="91425" anchor="b" anchorCtr="0">
            <a:noAutofit/>
          </a:bodyPr>
          <a:lstStyle/>
          <a:p>
            <a:pPr lvl="0"/>
            <a:r>
              <a:rPr lang="ru-RU" dirty="0"/>
              <a:t>Прототип интерфейса оператора</a:t>
            </a:r>
            <a:endParaRPr dirty="0"/>
          </a:p>
        </p:txBody>
      </p:sp>
      <p:sp>
        <p:nvSpPr>
          <p:cNvPr id="2315" name="Google Shape;2315;p62"/>
          <p:cNvSpPr txBox="1">
            <a:spLocks noGrp="1"/>
          </p:cNvSpPr>
          <p:nvPr>
            <p:ph type="subTitle" idx="1"/>
          </p:nvPr>
        </p:nvSpPr>
        <p:spPr>
          <a:xfrm>
            <a:off x="191621" y="1806439"/>
            <a:ext cx="2246779" cy="1424441"/>
          </a:xfrm>
          <a:prstGeom prst="rect">
            <a:avLst/>
          </a:prstGeom>
        </p:spPr>
        <p:txBody>
          <a:bodyPr spcFirstLastPara="1" wrap="square" lIns="91425" tIns="91425" rIns="91425" bIns="91425" anchor="t" anchorCtr="0">
            <a:noAutofit/>
          </a:bodyPr>
          <a:lstStyle/>
          <a:p>
            <a:pPr marL="0" lvl="0" indent="0"/>
            <a:r>
              <a:rPr lang="ru-RU" dirty="0">
                <a:latin typeface="+mn-lt"/>
              </a:rPr>
              <a:t>Сочетает возможности исполнителя очереди и оператора</a:t>
            </a:r>
          </a:p>
        </p:txBody>
      </p:sp>
      <p:grpSp>
        <p:nvGrpSpPr>
          <p:cNvPr id="2316" name="Google Shape;2316;p62"/>
          <p:cNvGrpSpPr>
            <a:grpSpLocks noChangeAspect="1"/>
          </p:cNvGrpSpPr>
          <p:nvPr/>
        </p:nvGrpSpPr>
        <p:grpSpPr>
          <a:xfrm>
            <a:off x="2522101" y="1806414"/>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2153183" y="6502504"/>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 name="Рисунок 16"/>
          <p:cNvPicPr>
            <a:picLocks noChangeAspect="1"/>
          </p:cNvPicPr>
          <p:nvPr/>
        </p:nvPicPr>
        <p:blipFill rotWithShape="1">
          <a:blip r:embed="rId4"/>
          <a:srcRect l="10044" r="10102"/>
          <a:stretch/>
        </p:blipFill>
        <p:spPr>
          <a:xfrm>
            <a:off x="2693834" y="1902614"/>
            <a:ext cx="6071133" cy="3935411"/>
          </a:xfrm>
          <a:prstGeom prst="rect">
            <a:avLst/>
          </a:prstGeom>
        </p:spPr>
      </p:pic>
    </p:spTree>
    <p:extLst>
      <p:ext uri="{BB962C8B-B14F-4D97-AF65-F5344CB8AC3E}">
        <p14:creationId xmlns:p14="http://schemas.microsoft.com/office/powerpoint/2010/main" val="188406109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655"/>
        <p:cNvGrpSpPr/>
        <p:nvPr/>
      </p:nvGrpSpPr>
      <p:grpSpPr>
        <a:xfrm>
          <a:off x="0" y="0"/>
          <a:ext cx="0" cy="0"/>
          <a:chOff x="0" y="0"/>
          <a:chExt cx="0" cy="0"/>
        </a:xfrm>
      </p:grpSpPr>
      <p:sp>
        <p:nvSpPr>
          <p:cNvPr id="1656" name="Google Shape;1656;p41"/>
          <p:cNvSpPr txBox="1">
            <a:spLocks noGrp="1"/>
          </p:cNvSpPr>
          <p:nvPr>
            <p:ph type="subTitle" idx="6"/>
          </p:nvPr>
        </p:nvSpPr>
        <p:spPr>
          <a:xfrm>
            <a:off x="6448972"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657" name="Google Shape;1657;p41"/>
          <p:cNvSpPr txBox="1">
            <a:spLocks noGrp="1"/>
          </p:cNvSpPr>
          <p:nvPr>
            <p:ph type="subTitle" idx="1"/>
          </p:nvPr>
        </p:nvSpPr>
        <p:spPr>
          <a:xfrm>
            <a:off x="720000" y="3294788"/>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a:t>
            </a:r>
            <a:r>
              <a:rPr lang="en"/>
              <a:t> in the Solar System</a:t>
            </a:r>
            <a:endParaRPr/>
          </a:p>
        </p:txBody>
      </p:sp>
      <p:sp>
        <p:nvSpPr>
          <p:cNvPr id="1658" name="Google Shape;1658;p41"/>
          <p:cNvSpPr txBox="1">
            <a:spLocks noGrp="1"/>
          </p:cNvSpPr>
          <p:nvPr>
            <p:ph type="subTitle" idx="2"/>
          </p:nvPr>
        </p:nvSpPr>
        <p:spPr>
          <a:xfrm>
            <a:off x="3584487"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659" name="Google Shape;1659;p41"/>
          <p:cNvSpPr txBox="1">
            <a:spLocks noGrp="1"/>
          </p:cNvSpPr>
          <p:nvPr>
            <p:ph type="subTitle" idx="3"/>
          </p:nvPr>
        </p:nvSpPr>
        <p:spPr>
          <a:xfrm>
            <a:off x="6448975" y="3294787"/>
            <a:ext cx="19818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sp>
        <p:nvSpPr>
          <p:cNvPr id="1660" name="Google Shape;1660;p41"/>
          <p:cNvSpPr txBox="1">
            <a:spLocks noGrp="1"/>
          </p:cNvSpPr>
          <p:nvPr>
            <p:ph type="subTitle" idx="4"/>
          </p:nvPr>
        </p:nvSpPr>
        <p:spPr>
          <a:xfrm>
            <a:off x="720000"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661" name="Google Shape;1661;p41"/>
          <p:cNvSpPr txBox="1">
            <a:spLocks noGrp="1"/>
          </p:cNvSpPr>
          <p:nvPr>
            <p:ph type="subTitle" idx="5"/>
          </p:nvPr>
        </p:nvSpPr>
        <p:spPr>
          <a:xfrm>
            <a:off x="3584486" y="2968688"/>
            <a:ext cx="19818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662" name="Google Shape;1662;p4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grpSp>
        <p:nvGrpSpPr>
          <p:cNvPr id="1663" name="Google Shape;1663;p41"/>
          <p:cNvGrpSpPr/>
          <p:nvPr/>
        </p:nvGrpSpPr>
        <p:grpSpPr>
          <a:xfrm>
            <a:off x="812448" y="2494613"/>
            <a:ext cx="341227" cy="302177"/>
            <a:chOff x="713167" y="740543"/>
            <a:chExt cx="476707" cy="422153"/>
          </a:xfrm>
        </p:grpSpPr>
        <p:sp>
          <p:nvSpPr>
            <p:cNvPr id="1664" name="Google Shape;1664;p41"/>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1"/>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1"/>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1"/>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1"/>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1"/>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1"/>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1"/>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1"/>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1"/>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1"/>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1"/>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1"/>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1"/>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1"/>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1"/>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1"/>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1"/>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1"/>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1"/>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1"/>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1"/>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1"/>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1"/>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41"/>
          <p:cNvGrpSpPr/>
          <p:nvPr/>
        </p:nvGrpSpPr>
        <p:grpSpPr>
          <a:xfrm>
            <a:off x="3677207" y="2500254"/>
            <a:ext cx="341661" cy="290896"/>
            <a:chOff x="2335403" y="748460"/>
            <a:chExt cx="477313" cy="406392"/>
          </a:xfrm>
        </p:grpSpPr>
        <p:sp>
          <p:nvSpPr>
            <p:cNvPr id="1689" name="Google Shape;1689;p41"/>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1"/>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1"/>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1"/>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1"/>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1"/>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1"/>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1"/>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1"/>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1"/>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1"/>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1"/>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41"/>
          <p:cNvGrpSpPr/>
          <p:nvPr/>
        </p:nvGrpSpPr>
        <p:grpSpPr>
          <a:xfrm>
            <a:off x="6542379" y="2475115"/>
            <a:ext cx="340332" cy="341173"/>
            <a:chOff x="1558836" y="713303"/>
            <a:chExt cx="475457" cy="476631"/>
          </a:xfrm>
        </p:grpSpPr>
        <p:sp>
          <p:nvSpPr>
            <p:cNvPr id="1702" name="Google Shape;1702;p41"/>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1"/>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1"/>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1"/>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1"/>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1"/>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1"/>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1"/>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1"/>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1"/>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1"/>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1"/>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1"/>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1"/>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1"/>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1"/>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67243"/>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1636</TotalTime>
  <Words>1526</Words>
  <Application>Microsoft Office PowerPoint</Application>
  <PresentationFormat>Экран (4:3)</PresentationFormat>
  <Paragraphs>330</Paragraphs>
  <Slides>51</Slides>
  <Notes>51</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51</vt:i4>
      </vt:variant>
    </vt:vector>
  </HeadingPairs>
  <TitlesOfParts>
    <vt:vector size="65" baseType="lpstr">
      <vt:lpstr>Poppins</vt:lpstr>
      <vt:lpstr>Calibri</vt:lpstr>
      <vt:lpstr>Proxima Nova</vt:lpstr>
      <vt:lpstr>Source Code Pro</vt:lpstr>
      <vt:lpstr>IBM Plex Mono</vt:lpstr>
      <vt:lpstr>Roboto Medium</vt:lpstr>
      <vt:lpstr>Amatic SC</vt:lpstr>
      <vt:lpstr>Arial</vt:lpstr>
      <vt:lpstr>Open Sans</vt:lpstr>
      <vt:lpstr>Wingdings</vt:lpstr>
      <vt:lpstr>Roboto Condensed Light</vt:lpstr>
      <vt:lpstr>Proxima Nova Semibold</vt:lpstr>
      <vt:lpstr>Introduction to Coding Workshop by Slidesgo</vt:lpstr>
      <vt:lpstr>Slidesgo Final Pages</vt:lpstr>
      <vt:lpstr>Итоги 4 спринта</vt:lpstr>
      <vt:lpstr>Наша команда</vt:lpstr>
      <vt:lpstr>Задачи спринта</vt:lpstr>
      <vt:lpstr>Задание на нормализацию</vt:lpstr>
      <vt:lpstr>Задание на нормализацию</vt:lpstr>
      <vt:lpstr>Задание на нормализацию</vt:lpstr>
      <vt:lpstr>Задание на нормализацию</vt:lpstr>
      <vt:lpstr>Функциональные требования</vt:lpstr>
      <vt:lpstr>Прототип интерфейса клиента</vt:lpstr>
      <vt:lpstr>Обзор спринта</vt:lpstr>
      <vt:lpstr>Ретроспектива</vt:lpstr>
      <vt:lpstr>Спасибо за внимание!</vt:lpstr>
      <vt:lpstr>Дальше идут шаблоны и заготовки</vt:lpstr>
      <vt:lpstr>Тема проекта</vt:lpstr>
      <vt:lpstr>Роли пользователей</vt:lpstr>
      <vt:lpstr>Организация работы</vt:lpstr>
      <vt:lpstr>Выбор технологического стека</vt:lpstr>
      <vt:lpstr>Задачи 2 спринта</vt:lpstr>
      <vt:lpstr>Рассуждение</vt:lpstr>
      <vt:lpstr>Прототип интерфейса оператора</vt:lpstr>
      <vt:lpstr>What is this topic about?</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75</cp:revision>
  <dcterms:modified xsi:type="dcterms:W3CDTF">2026-03-24T07:25:37Z</dcterms:modified>
</cp:coreProperties>
</file>