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0"/>
  </p:notesMasterIdLst>
  <p:sldIdLst>
    <p:sldId id="256" r:id="rId3"/>
    <p:sldId id="314" r:id="rId4"/>
    <p:sldId id="258" r:id="rId5"/>
    <p:sldId id="257" r:id="rId6"/>
    <p:sldId id="318" r:id="rId7"/>
    <p:sldId id="317" r:id="rId8"/>
    <p:sldId id="316" r:id="rId9"/>
    <p:sldId id="264" r:id="rId10"/>
    <p:sldId id="315" r:id="rId11"/>
    <p:sldId id="270" r:id="rId12"/>
    <p:sldId id="268" r:id="rId13"/>
    <p:sldId id="267" r:id="rId14"/>
    <p:sldId id="262" r:id="rId15"/>
    <p:sldId id="266" r:id="rId16"/>
    <p:sldId id="260" r:id="rId17"/>
    <p:sldId id="263" r:id="rId18"/>
    <p:sldId id="265" r:id="rId19"/>
    <p:sldId id="273" r:id="rId20"/>
    <p:sldId id="275" r:id="rId21"/>
    <p:sldId id="277" r:id="rId22"/>
    <p:sldId id="278" r:id="rId23"/>
    <p:sldId id="279" r:id="rId24"/>
    <p:sldId id="280" r:id="rId25"/>
    <p:sldId id="281" r:id="rId26"/>
    <p:sldId id="284" r:id="rId27"/>
    <p:sldId id="286" r:id="rId28"/>
    <p:sldId id="287" r:id="rId29"/>
    <p:sldId id="293" r:id="rId30"/>
    <p:sldId id="294" r:id="rId31"/>
    <p:sldId id="295" r:id="rId32"/>
    <p:sldId id="296" r:id="rId33"/>
    <p:sldId id="297" r:id="rId34"/>
    <p:sldId id="298" r:id="rId35"/>
    <p:sldId id="299" r:id="rId36"/>
    <p:sldId id="300" r:id="rId37"/>
    <p:sldId id="301" r:id="rId38"/>
    <p:sldId id="302" r:id="rId39"/>
    <p:sldId id="303" r:id="rId40"/>
    <p:sldId id="304" r:id="rId41"/>
    <p:sldId id="305" r:id="rId42"/>
    <p:sldId id="306" r:id="rId43"/>
    <p:sldId id="307" r:id="rId44"/>
    <p:sldId id="308" r:id="rId45"/>
    <p:sldId id="309" r:id="rId46"/>
    <p:sldId id="310" r:id="rId47"/>
    <p:sldId id="311" r:id="rId48"/>
    <p:sldId id="312" r:id="rId49"/>
  </p:sldIdLst>
  <p:sldSz cx="9144000" cy="6858000" type="screen4x3"/>
  <p:notesSz cx="6858000" cy="9144000"/>
  <p:embeddedFontLst>
    <p:embeddedFont>
      <p:font typeface="Poppins" panose="020B0604020202020204" charset="0"/>
      <p:regular r:id="rId51"/>
      <p:bold r:id="rId52"/>
      <p:italic r:id="rId53"/>
      <p:boldItalic r:id="rId54"/>
    </p:embeddedFont>
    <p:embeddedFont>
      <p:font typeface="IBM Plex Mono" panose="020B0604020202020204" charset="-52"/>
      <p:regular r:id="rId55"/>
      <p:bold r:id="rId56"/>
      <p:italic r:id="rId57"/>
      <p:boldItalic r:id="rId58"/>
    </p:embeddedFont>
    <p:embeddedFont>
      <p:font typeface="Amatic SC" panose="020B0604020202020204" charset="-79"/>
      <p:regular r:id="rId59"/>
      <p:bold r:id="rId60"/>
    </p:embeddedFont>
    <p:embeddedFont>
      <p:font typeface="Roboto Medium" panose="020B0604020202020204" charset="0"/>
      <p:regular r:id="rId61"/>
      <p:bold r:id="rId62"/>
      <p:italic r:id="rId63"/>
      <p:boldItalic r:id="rId64"/>
    </p:embeddedFont>
    <p:embeddedFont>
      <p:font typeface="Calibri" panose="020F0502020204030204" pitchFamily="34" charset="0"/>
      <p:regular r:id="rId65"/>
      <p:bold r:id="rId66"/>
      <p:italic r:id="rId67"/>
      <p:boldItalic r:id="rId68"/>
    </p:embeddedFont>
    <p:embeddedFont>
      <p:font typeface="Proxima Nova" panose="020B0604020202020204" charset="0"/>
      <p:regular r:id="rId69"/>
      <p:bold r:id="rId70"/>
      <p:italic r:id="rId71"/>
      <p:boldItalic r:id="rId72"/>
    </p:embeddedFont>
    <p:embeddedFont>
      <p:font typeface="Source Code Pro" panose="020B0604020202020204" charset="0"/>
      <p:regular r:id="rId73"/>
      <p:bold r:id="rId74"/>
      <p:italic r:id="rId75"/>
      <p:boldItalic r:id="rId76"/>
    </p:embeddedFont>
    <p:embeddedFont>
      <p:font typeface="Proxima Nova Semibold" panose="020B0604020202020204" charset="0"/>
      <p:regular r:id="rId77"/>
      <p:bold r:id="rId78"/>
      <p:boldItalic r:id="rId7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91" d="100"/>
          <a:sy n="91" d="100"/>
        </p:scale>
        <p:origin x="61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3.fntdata"/><Relationship Id="rId68" Type="http://schemas.openxmlformats.org/officeDocument/2006/relationships/font" Target="fonts/font18.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3.fntdata"/><Relationship Id="rId58" Type="http://schemas.openxmlformats.org/officeDocument/2006/relationships/font" Target="fonts/font8.fntdata"/><Relationship Id="rId74" Type="http://schemas.openxmlformats.org/officeDocument/2006/relationships/font" Target="fonts/font24.fntdata"/><Relationship Id="rId79" Type="http://schemas.openxmlformats.org/officeDocument/2006/relationships/font" Target="fonts/font29.fntdata"/><Relationship Id="rId5" Type="http://schemas.openxmlformats.org/officeDocument/2006/relationships/slide" Target="slides/slide3.xml"/><Relationship Id="rId61" Type="http://schemas.openxmlformats.org/officeDocument/2006/relationships/font" Target="fonts/font11.fntdata"/><Relationship Id="rId82" Type="http://schemas.openxmlformats.org/officeDocument/2006/relationships/theme" Target="theme/theme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6.fntdata"/><Relationship Id="rId64" Type="http://schemas.openxmlformats.org/officeDocument/2006/relationships/font" Target="fonts/font14.fntdata"/><Relationship Id="rId69" Type="http://schemas.openxmlformats.org/officeDocument/2006/relationships/font" Target="fonts/font19.fntdata"/><Relationship Id="rId77" Type="http://schemas.openxmlformats.org/officeDocument/2006/relationships/font" Target="fonts/font27.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font" Target="fonts/font22.fntdata"/><Relationship Id="rId80"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67"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schemas.openxmlformats.org/officeDocument/2006/relationships/font" Target="fonts/font20.fntdata"/><Relationship Id="rId75" Type="http://schemas.openxmlformats.org/officeDocument/2006/relationships/font" Target="fonts/font25.fntdata"/><Relationship Id="rId8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font" Target="fonts/font23.fntdata"/><Relationship Id="rId78" Type="http://schemas.openxmlformats.org/officeDocument/2006/relationships/font" Target="fonts/font28.fntdata"/><Relationship Id="rId81"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notesMaster" Target="notesMasters/notesMaster1.xml"/><Relationship Id="rId55" Type="http://schemas.openxmlformats.org/officeDocument/2006/relationships/font" Target="fonts/font5.fntdata"/><Relationship Id="rId76" Type="http://schemas.openxmlformats.org/officeDocument/2006/relationships/font" Target="fonts/font26.fntdata"/><Relationship Id="rId7" Type="http://schemas.openxmlformats.org/officeDocument/2006/relationships/slide" Target="slides/slide5.xml"/><Relationship Id="rId71" Type="http://schemas.openxmlformats.org/officeDocument/2006/relationships/font" Target="fonts/font21.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002239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22.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12.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15.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9.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7.xml"/><Relationship Id="rId1" Type="http://schemas.openxmlformats.org/officeDocument/2006/relationships/slideLayout" Target="../slideLayouts/slideLayout20.xml"/><Relationship Id="rId5" Type="http://schemas.openxmlformats.org/officeDocument/2006/relationships/image" Target="../media/image18.jpg"/><Relationship Id="rId4" Type="http://schemas.openxmlformats.org/officeDocument/2006/relationships/image" Target="../media/image17.jp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25.xml"/><Relationship Id="rId1" Type="http://schemas.openxmlformats.org/officeDocument/2006/relationships/slideLayout" Target="../slideLayouts/slideLayout16.xml"/><Relationship Id="rId4" Type="http://schemas.openxmlformats.org/officeDocument/2006/relationships/image" Target="../media/image20.jp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550949"/>
          </a:xfrm>
          <a:prstGeom prst="rect">
            <a:avLst/>
          </a:prstGeom>
        </p:spPr>
        <p:txBody>
          <a:bodyPr spcFirstLastPara="1" wrap="square" lIns="91425" tIns="91425" rIns="91425" bIns="91425" anchor="t" anchorCtr="0">
            <a:noAutofit/>
          </a:bodyPr>
          <a:lstStyle/>
          <a:p>
            <a:pPr marL="0" lvl="0" indent="0"/>
            <a:r>
              <a:rPr lang="ru-RU" sz="2800" dirty="0" smtClean="0"/>
              <a:t>Выделение бизнес-процессов</a:t>
            </a:r>
            <a:endParaRPr sz="2800" dirty="0"/>
          </a:p>
        </p:txBody>
      </p:sp>
      <p:sp>
        <p:nvSpPr>
          <p:cNvPr id="1421" name="Google Shape;1421;p34"/>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2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 name="Google Shape;11740;p79"/>
          <p:cNvSpPr>
            <a:spLocks noChangeAspect="1"/>
          </p:cNvSpPr>
          <p:nvPr/>
        </p:nvSpPr>
        <p:spPr>
          <a:xfrm>
            <a:off x="5651805" y="4511062"/>
            <a:ext cx="657721" cy="657665"/>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Федор</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a:solidFill>
                    <a:schemeClr val="dk1"/>
                  </a:solidFill>
                  <a:latin typeface="Arial" panose="020B0604020202020204" pitchFamily="34" charset="0"/>
                  <a:ea typeface="Poppins"/>
                  <a:cs typeface="Arial" panose="020B0604020202020204" pitchFamily="34" charset="0"/>
                  <a:sym typeface="Poppins"/>
                </a:rPr>
                <a:t>Ивличев</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Дмитрий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2 спринта</a:t>
            </a:r>
            <a:endParaRPr dirty="0"/>
          </a:p>
        </p:txBody>
      </p:sp>
      <p:sp>
        <p:nvSpPr>
          <p:cNvPr id="1457" name="Google Shape;1457;p36"/>
          <p:cNvSpPr txBox="1">
            <a:spLocks noGrp="1"/>
          </p:cNvSpPr>
          <p:nvPr>
            <p:ph type="subTitle" idx="8"/>
          </p:nvPr>
        </p:nvSpPr>
        <p:spPr>
          <a:xfrm>
            <a:off x="508299" y="1516861"/>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508298" y="1842909"/>
            <a:ext cx="4033222" cy="1085514"/>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Выделение бизнес-процессов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начало подбора </a:t>
            </a:r>
            <a:r>
              <a:rPr lang="ru-RU" sz="1800" dirty="0">
                <a:latin typeface="Arial" panose="020B0604020202020204" pitchFamily="34" charset="0"/>
                <a:cs typeface="Arial" panose="020B0604020202020204" pitchFamily="34" charset="0"/>
              </a:rPr>
              <a:t>технологий для проекта</a:t>
            </a:r>
          </a:p>
        </p:txBody>
      </p:sp>
      <p:sp>
        <p:nvSpPr>
          <p:cNvPr id="1459" name="Google Shape;1459;p36"/>
          <p:cNvSpPr txBox="1">
            <a:spLocks noGrp="1"/>
          </p:cNvSpPr>
          <p:nvPr>
            <p:ph type="subTitle" idx="2"/>
          </p:nvPr>
        </p:nvSpPr>
        <p:spPr>
          <a:xfrm>
            <a:off x="455513" y="3925855"/>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a:t>
            </a:r>
            <a:r>
              <a:rPr lang="ru-RU" sz="1800" dirty="0">
                <a:latin typeface="Arial" panose="020B0604020202020204" pitchFamily="34" charset="0"/>
                <a:cs typeface="Arial" panose="020B0604020202020204" pitchFamily="34" charset="0"/>
              </a:rPr>
              <a:t>4 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508302" y="942965"/>
            <a:ext cx="123150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508298" y="3025912"/>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508298" y="3599808"/>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Исправления</a:t>
            </a:r>
            <a:endParaRPr sz="2400" dirty="0"/>
          </a:p>
        </p:txBody>
      </p:sp>
      <p:sp>
        <p:nvSpPr>
          <p:cNvPr id="10" name="Google Shape;14251;p83"/>
          <p:cNvSpPr/>
          <p:nvPr/>
        </p:nvSpPr>
        <p:spPr>
          <a:xfrm>
            <a:off x="1115400" y="995352"/>
            <a:ext cx="414433" cy="38824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187009" y="3071860"/>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Рисунок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77025" y="394026"/>
            <a:ext cx="3443686" cy="6253461"/>
          </a:xfrm>
          <a:prstGeom prst="rect">
            <a:avLst/>
          </a:prstGeom>
          <a:effectLst>
            <a:softEdge rad="25400"/>
          </a:effectLst>
        </p:spPr>
      </p:pic>
      <p:pic>
        <p:nvPicPr>
          <p:cNvPr id="4" name="Рисунок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8298" y="4002108"/>
            <a:ext cx="3221188" cy="2645379"/>
          </a:xfrm>
          <a:prstGeom prst="rect">
            <a:avLst/>
          </a:prstGeom>
          <a:effectLst>
            <a:softEdge rad="25400"/>
          </a:effectLst>
        </p:spPr>
      </p:pic>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6" name="Рисунок 45"/>
          <p:cNvPicPr>
            <a:picLocks noChangeAspect="1"/>
          </p:cNvPicPr>
          <p:nvPr/>
        </p:nvPicPr>
        <p:blipFill rotWithShape="1">
          <a:blip r:embed="rId3">
            <a:extLst>
              <a:ext uri="{28A0092B-C50C-407E-A947-70E740481C1C}">
                <a14:useLocalDpi xmlns:a14="http://schemas.microsoft.com/office/drawing/2010/main" val="0"/>
              </a:ext>
            </a:extLst>
          </a:blip>
          <a:srcRect l="40858" r="21467" b="41939"/>
          <a:stretch/>
        </p:blipFill>
        <p:spPr>
          <a:xfrm>
            <a:off x="71298" y="3645975"/>
            <a:ext cx="8992910" cy="2781161"/>
          </a:xfrm>
          <a:prstGeom prst="rect">
            <a:avLst/>
          </a:prstGeom>
        </p:spPr>
      </p:pic>
      <p:pic>
        <p:nvPicPr>
          <p:cNvPr id="48" name="Рисунок 47"/>
          <p:cNvPicPr>
            <a:picLocks noChangeAspect="1"/>
          </p:cNvPicPr>
          <p:nvPr/>
        </p:nvPicPr>
        <p:blipFill rotWithShape="1">
          <a:blip r:embed="rId3">
            <a:extLst>
              <a:ext uri="{28A0092B-C50C-407E-A947-70E740481C1C}">
                <a14:useLocalDpi xmlns:a14="http://schemas.microsoft.com/office/drawing/2010/main" val="0"/>
              </a:ext>
            </a:extLst>
          </a:blip>
          <a:srcRect t="3665" r="59175" b="34718"/>
          <a:stretch/>
        </p:blipFill>
        <p:spPr>
          <a:xfrm>
            <a:off x="71298" y="836179"/>
            <a:ext cx="8992910" cy="2723793"/>
          </a:xfrm>
          <a:prstGeom prst="rect">
            <a:avLst/>
          </a:prstGeom>
        </p:spPr>
      </p:pic>
      <p:grpSp>
        <p:nvGrpSpPr>
          <p:cNvPr id="1476" name="Google Shape;1476;p37"/>
          <p:cNvGrpSpPr/>
          <p:nvPr/>
        </p:nvGrpSpPr>
        <p:grpSpPr>
          <a:xfrm>
            <a:off x="-2535475" y="5363093"/>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394370367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7" name="Рисунок 46"/>
          <p:cNvPicPr>
            <a:picLocks noChangeAspect="1"/>
          </p:cNvPicPr>
          <p:nvPr/>
        </p:nvPicPr>
        <p:blipFill rotWithShape="1">
          <a:blip r:embed="rId3">
            <a:extLst>
              <a:ext uri="{28A0092B-C50C-407E-A947-70E740481C1C}">
                <a14:useLocalDpi xmlns:a14="http://schemas.microsoft.com/office/drawing/2010/main" val="0"/>
              </a:ext>
            </a:extLst>
          </a:blip>
          <a:srcRect l="78417" b="30976"/>
          <a:stretch/>
        </p:blipFill>
        <p:spPr>
          <a:xfrm>
            <a:off x="853382" y="1215052"/>
            <a:ext cx="7691344" cy="4935973"/>
          </a:xfrm>
          <a:prstGeom prst="rect">
            <a:avLst/>
          </a:prstGeom>
        </p:spPr>
      </p:pic>
      <p:sp>
        <p:nvSpPr>
          <p:cNvPr id="1475" name="Google Shape;1475;p37"/>
          <p:cNvSpPr txBox="1">
            <a:spLocks noGrp="1"/>
          </p:cNvSpPr>
          <p:nvPr>
            <p:ph type="subTitle" idx="1"/>
          </p:nvPr>
        </p:nvSpPr>
        <p:spPr>
          <a:xfrm>
            <a:off x="475129" y="683752"/>
            <a:ext cx="4580839" cy="457800"/>
          </a:xfrm>
          <a:prstGeom prst="rect">
            <a:avLst/>
          </a:prstGeom>
        </p:spPr>
        <p:txBody>
          <a:bodyPr spcFirstLastPara="1" wrap="square" lIns="91425" tIns="91425" rIns="91425" bIns="91425" anchor="t" anchorCtr="0">
            <a:noAutofit/>
          </a:bodyPr>
          <a:lstStyle/>
          <a:p>
            <a:pPr marL="0" lvl="0" indent="0"/>
            <a:r>
              <a:rPr lang="ru-RU" dirty="0">
                <a:latin typeface="Arial" panose="020B0604020202020204" pitchFamily="34" charset="0"/>
                <a:cs typeface="Arial" panose="020B0604020202020204" pitchFamily="34" charset="0"/>
              </a:rPr>
              <a:t>М</a:t>
            </a:r>
            <a:r>
              <a:rPr lang="ru-RU" dirty="0" smtClean="0">
                <a:latin typeface="Arial" panose="020B0604020202020204" pitchFamily="34" charset="0"/>
                <a:cs typeface="Arial" panose="020B0604020202020204" pitchFamily="34" charset="0"/>
              </a:rPr>
              <a:t>одель </a:t>
            </a:r>
            <a:r>
              <a:rPr lang="ru-RU" dirty="0">
                <a:latin typeface="Arial" panose="020B0604020202020204" pitchFamily="34" charset="0"/>
                <a:cs typeface="Arial" panose="020B0604020202020204" pitchFamily="34" charset="0"/>
              </a:rPr>
              <a:t>слоя </a:t>
            </a:r>
            <a:r>
              <a:rPr lang="ru-RU" dirty="0" smtClean="0">
                <a:latin typeface="Arial" panose="020B0604020202020204" pitchFamily="34" charset="0"/>
                <a:cs typeface="Arial" panose="020B0604020202020204" pitchFamily="34" charset="0"/>
              </a:rPr>
              <a:t>бизнеса</a:t>
            </a:r>
            <a:endParaRPr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973337" y="458217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Диаграмма бизнес-слоя</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Собраны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зафиксированы </a:t>
            </a:r>
            <a:r>
              <a:rPr lang="ru-RU" sz="1800" dirty="0">
                <a:latin typeface="Arial" panose="020B0604020202020204" pitchFamily="34" charset="0"/>
                <a:cs typeface="Arial" panose="020B0604020202020204" pitchFamily="34" charset="0"/>
              </a:rPr>
              <a:t>замечания от </a:t>
            </a:r>
            <a:r>
              <a:rPr lang="ru-RU" sz="18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Исправлены </a:t>
            </a:r>
            <a:r>
              <a:rPr lang="ru-RU" sz="1800" dirty="0">
                <a:latin typeface="Arial" panose="020B0604020202020204" pitchFamily="34" charset="0"/>
                <a:cs typeface="Arial" panose="020B0604020202020204" pitchFamily="34" charset="0"/>
              </a:rPr>
              <a:t>роли </a:t>
            </a:r>
            <a:r>
              <a:rPr lang="ru-RU" sz="1800" dirty="0" smtClean="0">
                <a:latin typeface="Arial" panose="020B0604020202020204" pitchFamily="34" charset="0"/>
                <a:cs typeface="Arial" panose="020B0604020202020204" pitchFamily="34" charset="0"/>
              </a:rPr>
              <a:t>пользователей</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Проработана диаграмма </a:t>
            </a:r>
            <a:r>
              <a:rPr lang="ru-RU" sz="1800" dirty="0">
                <a:latin typeface="Arial" panose="020B0604020202020204" pitchFamily="34" charset="0"/>
                <a:cs typeface="Arial" panose="020B0604020202020204" pitchFamily="34" charset="0"/>
              </a:rPr>
              <a:t>слоя бизнеса в </a:t>
            </a:r>
            <a:r>
              <a:rPr lang="ru-RU" sz="1800" dirty="0" err="1" smtClean="0">
                <a:latin typeface="Arial" panose="020B0604020202020204" pitchFamily="34" charset="0"/>
                <a:cs typeface="Arial" panose="020B0604020202020204" pitchFamily="34" charset="0"/>
              </a:rPr>
              <a:t>Archimate</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Исправлена презентация </a:t>
            </a:r>
            <a:r>
              <a:rPr lang="ru-RU" sz="1800" dirty="0">
                <a:latin typeface="Arial" panose="020B0604020202020204" pitchFamily="34" charset="0"/>
                <a:cs typeface="Arial" panose="020B0604020202020204" pitchFamily="34" charset="0"/>
              </a:rPr>
              <a:t>1 </a:t>
            </a:r>
            <a:r>
              <a:rPr lang="ru-RU" sz="1800" dirty="0" smtClean="0">
                <a:latin typeface="Arial" panose="020B0604020202020204" pitchFamily="34" charset="0"/>
                <a:cs typeface="Arial" panose="020B0604020202020204" pitchFamily="34" charset="0"/>
              </a:rPr>
              <a:t>спринта</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Исследован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выбран </a:t>
            </a:r>
            <a:r>
              <a:rPr lang="ru-RU" sz="1800" dirty="0">
                <a:latin typeface="Arial" panose="020B0604020202020204" pitchFamily="34" charset="0"/>
                <a:cs typeface="Arial" panose="020B0604020202020204" pitchFamily="34" charset="0"/>
              </a:rPr>
              <a:t>технологический </a:t>
            </a:r>
            <a:r>
              <a:rPr lang="ru-RU" sz="1800" dirty="0" smtClean="0">
                <a:latin typeface="Arial" panose="020B0604020202020204" pitchFamily="34" charset="0"/>
                <a:cs typeface="Arial" panose="020B0604020202020204" pitchFamily="34" charset="0"/>
              </a:rPr>
              <a:t>стек</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для отчётности</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a:latin typeface="Arial" panose="020B0604020202020204" pitchFamily="34" charset="0"/>
                <a:cs typeface="Arial" panose="020B0604020202020204" pitchFamily="34" charset="0"/>
              </a:rPr>
              <a:t>Исследовать и добавить нефункциональные требования в </a:t>
            </a:r>
            <a:r>
              <a:rPr lang="ru-RU" sz="1800" dirty="0" err="1" smtClean="0">
                <a:latin typeface="Arial" panose="020B0604020202020204" pitchFamily="34" charset="0"/>
                <a:cs typeface="Arial" panose="020B0604020202020204" pitchFamily="34" charset="0"/>
              </a:rPr>
              <a:t>бэклог</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a:latin typeface="Arial" panose="020B0604020202020204" pitchFamily="34" charset="0"/>
                <a:cs typeface="Arial" panose="020B0604020202020204" pitchFamily="34" charset="0"/>
              </a:rPr>
              <a:t>Исследовать архитектурные стили для </a:t>
            </a:r>
            <a:r>
              <a:rPr lang="ru-RU" sz="1800" dirty="0" smtClean="0">
                <a:latin typeface="Arial" panose="020B0604020202020204" pitchFamily="34" charset="0"/>
                <a:cs typeface="Arial" panose="020B0604020202020204" pitchFamily="34" charset="0"/>
              </a:rPr>
              <a:t>веб-приложения</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Задания выполнялись равномерно на протяжении спринта</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Несколько раз проводилось обсуждение проекта</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Чаще обсуждать проект всей командой</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Подключать помощь к заданию, если оно висит дольше 2-ух дней</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Большая часть заданий выполнялось меньшей частью команды</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кто реально брал задание, отмечали себя на доске</a:t>
            </a:r>
          </a:p>
          <a:p>
            <a:pPr marL="342900" indent="-342900">
              <a:spcBef>
                <a:spcPts val="500"/>
              </a:spcBef>
              <a:buFont typeface="Wingdings" panose="05000000000000000000" pitchFamily="2" charset="2"/>
              <a:buChar char="§"/>
            </a:pPr>
            <a:r>
              <a:rPr lang="ru-RU" sz="1300" dirty="0">
                <a:latin typeface="Arial" panose="020B0604020202020204" pitchFamily="34" charset="0"/>
                <a:cs typeface="Arial" panose="020B0604020202020204" pitchFamily="34" charset="0"/>
              </a:rPr>
              <a:t>О</a:t>
            </a:r>
            <a:r>
              <a:rPr lang="ru-RU" sz="1300" dirty="0" smtClean="0">
                <a:latin typeface="Arial" panose="020B0604020202020204" pitchFamily="34" charset="0"/>
                <a:cs typeface="Arial" panose="020B0604020202020204" pitchFamily="34" charset="0"/>
              </a:rPr>
              <a:t>бсуждения </a:t>
            </a:r>
            <a:r>
              <a:rPr lang="ru-RU" sz="1300" dirty="0" smtClean="0">
                <a:latin typeface="Arial" panose="020B0604020202020204" pitchFamily="34" charset="0"/>
                <a:cs typeface="Arial" panose="020B0604020202020204" pitchFamily="34" charset="0"/>
              </a:rPr>
              <a:t>работы </a:t>
            </a:r>
            <a:r>
              <a:rPr lang="ru-RU" sz="1300" smtClean="0">
                <a:latin typeface="Arial" panose="020B0604020202020204" pitchFamily="34" charset="0"/>
                <a:cs typeface="Arial" panose="020B0604020202020204" pitchFamily="34" charset="0"/>
              </a:rPr>
              <a:t>проводились </a:t>
            </a:r>
            <a:r>
              <a:rPr lang="ru-RU" sz="1300" smtClean="0">
                <a:latin typeface="Arial" panose="020B0604020202020204" pitchFamily="34" charset="0"/>
                <a:cs typeface="Arial" panose="020B0604020202020204" pitchFamily="34" charset="0"/>
              </a:rPr>
              <a:t>не в </a:t>
            </a:r>
            <a:r>
              <a:rPr lang="ru-RU" sz="1300" dirty="0" smtClean="0">
                <a:latin typeface="Arial" panose="020B0604020202020204" pitchFamily="34" charset="0"/>
                <a:cs typeface="Arial" panose="020B0604020202020204" pitchFamily="34" charset="0"/>
              </a:rPr>
              <a:t>полном составе команды</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Mockups</a:t>
            </a:r>
            <a:endParaRPr/>
          </a:p>
        </p:txBody>
      </p:sp>
      <p:sp>
        <p:nvSpPr>
          <p:cNvPr id="2315" name="Google Shape;2315;p62"/>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them and select “Replace image”</a:t>
            </a:r>
            <a:endParaRPr/>
          </a:p>
        </p:txBody>
      </p:sp>
      <p:grpSp>
        <p:nvGrpSpPr>
          <p:cNvPr id="2316" name="Google Shape;2316;p62"/>
          <p:cNvGrpSpPr/>
          <p:nvPr/>
        </p:nvGrpSpPr>
        <p:grpSpPr>
          <a:xfrm>
            <a:off x="3812690" y="1909089"/>
            <a:ext cx="4003052" cy="2972459"/>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0" name="Google Shape;2320;p62"/>
          <p:cNvPicPr preferRelativeResize="0"/>
          <p:nvPr/>
        </p:nvPicPr>
        <p:blipFill rotWithShape="1">
          <a:blip r:embed="rId3">
            <a:alphaModFix/>
          </a:blip>
          <a:srcRect l="3891" r="3882"/>
          <a:stretch/>
        </p:blipFill>
        <p:spPr>
          <a:xfrm>
            <a:off x="3983789" y="2080675"/>
            <a:ext cx="3660749" cy="2232795"/>
          </a:xfrm>
          <a:prstGeom prst="rect">
            <a:avLst/>
          </a:prstGeom>
          <a:noFill/>
          <a:ln>
            <a:noFill/>
          </a:ln>
        </p:spPr>
      </p:pic>
      <p:grpSp>
        <p:nvGrpSpPr>
          <p:cNvPr id="2321" name="Google Shape;2321;p62"/>
          <p:cNvGrpSpPr/>
          <p:nvPr/>
        </p:nvGrpSpPr>
        <p:grpSpPr>
          <a:xfrm>
            <a:off x="7468200" y="2593147"/>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4">
            <a:alphaModFix/>
          </a:blip>
          <a:srcRect l="9415" r="9415"/>
          <a:stretch/>
        </p:blipFill>
        <p:spPr>
          <a:xfrm>
            <a:off x="7551901" y="2652759"/>
            <a:ext cx="1008298" cy="1981724"/>
          </a:xfrm>
          <a:prstGeom prst="rect">
            <a:avLst/>
          </a:prstGeom>
          <a:noFill/>
          <a:ln>
            <a:noFill/>
          </a:ln>
        </p:spPr>
      </p:pic>
      <p:grpSp>
        <p:nvGrpSpPr>
          <p:cNvPr id="2325" name="Google Shape;2325;p62"/>
          <p:cNvGrpSpPr/>
          <p:nvPr/>
        </p:nvGrpSpPr>
        <p:grpSpPr>
          <a:xfrm>
            <a:off x="2734920" y="4814811"/>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1373</TotalTime>
  <Words>1480</Words>
  <Application>Microsoft Office PowerPoint</Application>
  <PresentationFormat>Экран (4:3)</PresentationFormat>
  <Paragraphs>312</Paragraphs>
  <Slides>47</Slides>
  <Notes>47</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47</vt:i4>
      </vt:variant>
    </vt:vector>
  </HeadingPairs>
  <TitlesOfParts>
    <vt:vector size="61" baseType="lpstr">
      <vt:lpstr>Poppins</vt:lpstr>
      <vt:lpstr>IBM Plex Mono</vt:lpstr>
      <vt:lpstr>Wingdings</vt:lpstr>
      <vt:lpstr>Open Sans</vt:lpstr>
      <vt:lpstr>Amatic SC</vt:lpstr>
      <vt:lpstr>Roboto Medium</vt:lpstr>
      <vt:lpstr>Roboto Condensed Light</vt:lpstr>
      <vt:lpstr>Calibri</vt:lpstr>
      <vt:lpstr>Proxima Nova</vt:lpstr>
      <vt:lpstr>Arial</vt:lpstr>
      <vt:lpstr>Source Code Pro</vt:lpstr>
      <vt:lpstr>Proxima Nova Semibold</vt:lpstr>
      <vt:lpstr>Introduction to Coding Workshop by Slidesgo</vt:lpstr>
      <vt:lpstr>Slidesgo Final Pages</vt:lpstr>
      <vt:lpstr>Итоги 2 спринта</vt:lpstr>
      <vt:lpstr>Наша команда</vt:lpstr>
      <vt:lpstr>Задачи 2 спринта</vt:lpstr>
      <vt:lpstr>Роли пользователей</vt:lpstr>
      <vt:lpstr>Диаграмма бизнес-слоя</vt:lpstr>
      <vt:lpstr>Диаграмма бизнес-слоя</vt:lpstr>
      <vt:lpstr>Выбор технологического стека</vt:lpstr>
      <vt:lpstr>Обзор спринта</vt:lpstr>
      <vt:lpstr>Ретроспектива</vt:lpstr>
      <vt:lpstr>Спасибо за внимание!</vt:lpstr>
      <vt:lpstr>Дальше идут шаблоны и заготовки</vt:lpstr>
      <vt:lpstr>Тема проекта</vt:lpstr>
      <vt:lpstr>Организация работы</vt:lpstr>
      <vt:lpstr>Задачи 2 спринта</vt:lpstr>
      <vt:lpstr>Рассуждение</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Mockups</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51</cp:revision>
  <dcterms:modified xsi:type="dcterms:W3CDTF">2026-03-09T08:44:44Z</dcterms:modified>
</cp:coreProperties>
</file>