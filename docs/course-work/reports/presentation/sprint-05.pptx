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1"/>
  </p:notesMasterIdLst>
  <p:sldIdLst>
    <p:sldId id="256" r:id="rId3"/>
    <p:sldId id="314" r:id="rId4"/>
    <p:sldId id="258" r:id="rId5"/>
    <p:sldId id="317" r:id="rId6"/>
    <p:sldId id="326" r:id="rId7"/>
    <p:sldId id="325" r:id="rId8"/>
    <p:sldId id="264" r:id="rId9"/>
    <p:sldId id="315" r:id="rId10"/>
    <p:sldId id="270" r:id="rId11"/>
    <p:sldId id="268" r:id="rId12"/>
    <p:sldId id="267" r:id="rId13"/>
    <p:sldId id="257" r:id="rId14"/>
    <p:sldId id="262" r:id="rId15"/>
    <p:sldId id="316" r:id="rId16"/>
    <p:sldId id="266" r:id="rId17"/>
    <p:sldId id="260" r:id="rId18"/>
    <p:sldId id="284" r:id="rId19"/>
    <p:sldId id="263" r:id="rId20"/>
    <p:sldId id="265" r:id="rId21"/>
    <p:sldId id="273" r:id="rId22"/>
    <p:sldId id="275" r:id="rId23"/>
    <p:sldId id="277" r:id="rId24"/>
    <p:sldId id="278" r:id="rId25"/>
    <p:sldId id="279" r:id="rId26"/>
    <p:sldId id="280" r:id="rId27"/>
    <p:sldId id="281" r:id="rId28"/>
    <p:sldId id="286" r:id="rId29"/>
    <p:sldId id="287" r:id="rId30"/>
    <p:sldId id="293" r:id="rId31"/>
    <p:sldId id="294" r:id="rId32"/>
    <p:sldId id="295" r:id="rId33"/>
    <p:sldId id="296" r:id="rId34"/>
    <p:sldId id="297" r:id="rId35"/>
    <p:sldId id="298" r:id="rId36"/>
    <p:sldId id="299" r:id="rId37"/>
    <p:sldId id="300" r:id="rId38"/>
    <p:sldId id="301" r:id="rId39"/>
    <p:sldId id="302" r:id="rId40"/>
    <p:sldId id="303" r:id="rId41"/>
    <p:sldId id="304" r:id="rId42"/>
    <p:sldId id="305" r:id="rId43"/>
    <p:sldId id="306" r:id="rId44"/>
    <p:sldId id="307" r:id="rId45"/>
    <p:sldId id="308" r:id="rId46"/>
    <p:sldId id="309" r:id="rId47"/>
    <p:sldId id="310" r:id="rId48"/>
    <p:sldId id="311" r:id="rId49"/>
    <p:sldId id="312" r:id="rId50"/>
  </p:sldIdLst>
  <p:sldSz cx="9144000" cy="6858000" type="screen4x3"/>
  <p:notesSz cx="6858000" cy="9144000"/>
  <p:embeddedFontLst>
    <p:embeddedFont>
      <p:font typeface="Calibri" panose="020F0502020204030204" pitchFamily="34" charset="0"/>
      <p:regular r:id="rId52"/>
      <p:bold r:id="rId53"/>
      <p:italic r:id="rId54"/>
      <p:boldItalic r:id="rId55"/>
    </p:embeddedFont>
    <p:embeddedFont>
      <p:font typeface="Proxima Nova Semibold" panose="020B0604020202020204" charset="0"/>
      <p:regular r:id="rId56"/>
      <p:bold r:id="rId57"/>
      <p:boldItalic r:id="rId58"/>
    </p:embeddedFont>
    <p:embeddedFont>
      <p:font typeface="IBM Plex Mono" panose="020B0604020202020204" charset="-52"/>
      <p:regular r:id="rId59"/>
      <p:bold r:id="rId60"/>
      <p:italic r:id="rId61"/>
      <p:boldItalic r:id="rId62"/>
    </p:embeddedFont>
    <p:embeddedFont>
      <p:font typeface="Roboto Medium" panose="020B0604020202020204" charset="0"/>
      <p:regular r:id="rId63"/>
      <p:bold r:id="rId64"/>
      <p:italic r:id="rId65"/>
      <p:boldItalic r:id="rId66"/>
    </p:embeddedFont>
    <p:embeddedFont>
      <p:font typeface="Amatic SC" panose="020B0604020202020204" charset="-79"/>
      <p:regular r:id="rId67"/>
      <p:bold r:id="rId68"/>
    </p:embeddedFont>
    <p:embeddedFont>
      <p:font typeface="Proxima Nova" panose="020B0604020202020204" charset="0"/>
      <p:regular r:id="rId69"/>
      <p:bold r:id="rId70"/>
      <p:italic r:id="rId71"/>
      <p:boldItalic r:id="rId72"/>
    </p:embeddedFont>
    <p:embeddedFont>
      <p:font typeface="Source Code Pro" panose="020B0604020202020204" charset="0"/>
      <p:regular r:id="rId73"/>
      <p:bold r:id="rId74"/>
      <p:italic r:id="rId75"/>
      <p:boldItalic r:id="rId76"/>
    </p:embeddedFont>
    <p:embeddedFont>
      <p:font typeface="Poppins" panose="020B0604020202020204" charset="0"/>
      <p:regular r:id="rId77"/>
      <p:bold r:id="rId78"/>
      <p:italic r:id="rId79"/>
      <p:boldItalic r:id="rId8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91" d="100"/>
          <a:sy n="91" d="100"/>
        </p:scale>
        <p:origin x="610"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2.fntdata"/><Relationship Id="rId68" Type="http://schemas.openxmlformats.org/officeDocument/2006/relationships/font" Target="fonts/font17.fntdata"/><Relationship Id="rId84"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2.fntdata"/><Relationship Id="rId58" Type="http://schemas.openxmlformats.org/officeDocument/2006/relationships/font" Target="fonts/font7.fntdata"/><Relationship Id="rId74" Type="http://schemas.openxmlformats.org/officeDocument/2006/relationships/font" Target="fonts/font23.fntdata"/><Relationship Id="rId79" Type="http://schemas.openxmlformats.org/officeDocument/2006/relationships/font" Target="fonts/font28.fntdata"/><Relationship Id="rId5" Type="http://schemas.openxmlformats.org/officeDocument/2006/relationships/slide" Target="slides/slide3.xml"/><Relationship Id="rId61" Type="http://schemas.openxmlformats.org/officeDocument/2006/relationships/font" Target="fonts/font10.fntdata"/><Relationship Id="rId82"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5.fntdata"/><Relationship Id="rId64" Type="http://schemas.openxmlformats.org/officeDocument/2006/relationships/font" Target="fonts/font13.fntdata"/><Relationship Id="rId69" Type="http://schemas.openxmlformats.org/officeDocument/2006/relationships/font" Target="fonts/font18.fntdata"/><Relationship Id="rId77" Type="http://schemas.openxmlformats.org/officeDocument/2006/relationships/font" Target="fonts/font26.fntdata"/><Relationship Id="rId8" Type="http://schemas.openxmlformats.org/officeDocument/2006/relationships/slide" Target="slides/slide6.xml"/><Relationship Id="rId51" Type="http://schemas.openxmlformats.org/officeDocument/2006/relationships/notesMaster" Target="notesMasters/notesMaster1.xml"/><Relationship Id="rId72" Type="http://schemas.openxmlformats.org/officeDocument/2006/relationships/font" Target="fonts/font21.fntdata"/><Relationship Id="rId80" Type="http://schemas.openxmlformats.org/officeDocument/2006/relationships/font" Target="fonts/font2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8.fntdata"/><Relationship Id="rId67" Type="http://schemas.openxmlformats.org/officeDocument/2006/relationships/font" Target="fonts/font1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3.fntdata"/><Relationship Id="rId62" Type="http://schemas.openxmlformats.org/officeDocument/2006/relationships/font" Target="fonts/font11.fntdata"/><Relationship Id="rId70" Type="http://schemas.openxmlformats.org/officeDocument/2006/relationships/font" Target="fonts/font19.fntdata"/><Relationship Id="rId75" Type="http://schemas.openxmlformats.org/officeDocument/2006/relationships/font" Target="fonts/font24.fntdata"/><Relationship Id="rId83"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6.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1.fntdata"/><Relationship Id="rId60" Type="http://schemas.openxmlformats.org/officeDocument/2006/relationships/font" Target="fonts/font9.fntdata"/><Relationship Id="rId65" Type="http://schemas.openxmlformats.org/officeDocument/2006/relationships/font" Target="fonts/font14.fntdata"/><Relationship Id="rId73" Type="http://schemas.openxmlformats.org/officeDocument/2006/relationships/font" Target="fonts/font22.fntdata"/><Relationship Id="rId78" Type="http://schemas.openxmlformats.org/officeDocument/2006/relationships/font" Target="fonts/font27.fntdata"/><Relationship Id="rId8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4.fntdata"/><Relationship Id="rId76" Type="http://schemas.openxmlformats.org/officeDocument/2006/relationships/font" Target="fonts/font25.fntdata"/><Relationship Id="rId7" Type="http://schemas.openxmlformats.org/officeDocument/2006/relationships/slide" Target="slides/slide5.xml"/><Relationship Id="rId71" Type="http://schemas.openxmlformats.org/officeDocument/2006/relationships/font" Target="fonts/font20.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5.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661143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0119715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1.xm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7.png"/></Relationships>
</file>

<file path=ppt/slides/_rels/slide14.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png"/><Relationship Id="rId7"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22.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14.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7.xml"/><Relationship Id="rId1" Type="http://schemas.openxmlformats.org/officeDocument/2006/relationships/slideLayout" Target="../slideLayouts/slideLayout16.xml"/><Relationship Id="rId4" Type="http://schemas.openxmlformats.org/officeDocument/2006/relationships/image" Target="../media/image16.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9.xml"/><Relationship Id="rId1" Type="http://schemas.openxmlformats.org/officeDocument/2006/relationships/slideLayout" Target="../slideLayouts/slideLayout20.xml"/><Relationship Id="rId5" Type="http://schemas.openxmlformats.org/officeDocument/2006/relationships/image" Target="../media/image19.jpg"/><Relationship Id="rId4" Type="http://schemas.openxmlformats.org/officeDocument/2006/relationships/image" Target="../media/image18.jp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1205758"/>
          </a:xfrm>
          <a:prstGeom prst="rect">
            <a:avLst/>
          </a:prstGeom>
        </p:spPr>
        <p:txBody>
          <a:bodyPr spcFirstLastPara="1" wrap="square" lIns="91425" tIns="91425" rIns="91425" bIns="91425" anchor="t" anchorCtr="0">
            <a:noAutofit/>
          </a:bodyPr>
          <a:lstStyle/>
          <a:p>
            <a:pPr marL="0" lvl="0" indent="0"/>
            <a:r>
              <a:rPr lang="ru-RU" sz="2800" dirty="0" smtClean="0"/>
              <a:t>Модель данных</a:t>
            </a:r>
            <a:endParaRPr sz="2800" dirty="0"/>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5 </a:t>
            </a:r>
            <a:r>
              <a:rPr lang="ru-RU" dirty="0" smtClean="0"/>
              <a:t>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14447;p83"/>
          <p:cNvGrpSpPr>
            <a:grpSpLocks noChangeAspect="1"/>
          </p:cNvGrpSpPr>
          <p:nvPr/>
        </p:nvGrpSpPr>
        <p:grpSpPr>
          <a:xfrm>
            <a:off x="3440383" y="4598111"/>
            <a:ext cx="722315" cy="672069"/>
            <a:chOff x="6099375" y="2456075"/>
            <a:chExt cx="337684" cy="314194"/>
          </a:xfrm>
          <a:solidFill>
            <a:schemeClr val="tx2"/>
          </a:solidFill>
        </p:grpSpPr>
        <p:sp>
          <p:nvSpPr>
            <p:cNvPr id="51"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085514"/>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Сформировать концептуальную и логическую модели данных</a:t>
            </a:r>
            <a:endParaRPr lang="ru-RU" sz="1800" dirty="0">
              <a:latin typeface="Arial" panose="020B0604020202020204" pitchFamily="34" charset="0"/>
              <a:cs typeface="Arial" panose="020B0604020202020204" pitchFamily="34" charset="0"/>
            </a:endParaRPr>
          </a:p>
        </p:txBody>
      </p:sp>
      <p:sp>
        <p:nvSpPr>
          <p:cNvPr id="1459" name="Google Shape;1459;p36"/>
          <p:cNvSpPr txBox="1">
            <a:spLocks noGrp="1"/>
          </p:cNvSpPr>
          <p:nvPr>
            <p:ph type="subTitle" idx="2"/>
          </p:nvPr>
        </p:nvSpPr>
        <p:spPr>
          <a:xfrm>
            <a:off x="631680" y="4833607"/>
            <a:ext cx="3130787" cy="701467"/>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a:t>
            </a:r>
            <a:r>
              <a:rPr lang="ru-RU" sz="1800" dirty="0" smtClean="0">
                <a:latin typeface="Arial" panose="020B0604020202020204" pitchFamily="34" charset="0"/>
                <a:cs typeface="Arial" panose="020B0604020202020204" pitchFamily="34" charset="0"/>
              </a:rPr>
              <a:t>3 </a:t>
            </a:r>
            <a:r>
              <a:rPr lang="ru-RU" sz="1800" dirty="0" smtClean="0">
                <a:latin typeface="Arial" panose="020B0604020202020204" pitchFamily="34" charset="0"/>
                <a:cs typeface="Arial" panose="020B0604020202020204" pitchFamily="34" charset="0"/>
              </a:rPr>
              <a:t>задачи</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603727" y="3933664"/>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603727" y="4507560"/>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282438" y="3979612"/>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695686" y="1044291"/>
            <a:ext cx="4036769" cy="519487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Определить концептуальную модель </a:t>
            </a:r>
            <a:r>
              <a:rPr lang="ru-RU" sz="2000" dirty="0" smtClean="0">
                <a:latin typeface="Arial" panose="020B0604020202020204" pitchFamily="34" charset="0"/>
                <a:cs typeface="Arial" panose="020B0604020202020204" pitchFamily="34" charset="0"/>
              </a:rPr>
              <a:t>данных</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Определить логическую модель </a:t>
            </a:r>
            <a:r>
              <a:rPr lang="ru-RU" sz="2000" dirty="0" smtClean="0">
                <a:latin typeface="Arial" panose="020B0604020202020204" pitchFamily="34" charset="0"/>
                <a:cs typeface="Arial" panose="020B0604020202020204" pitchFamily="34" charset="0"/>
              </a:rPr>
              <a:t>данных</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презентацию по итогам #5 </a:t>
            </a:r>
            <a:r>
              <a:rPr lang="ru-RU" sz="2000" dirty="0" smtClean="0">
                <a:latin typeface="Arial" panose="020B0604020202020204" pitchFamily="34" charset="0"/>
                <a:cs typeface="Arial" panose="020B0604020202020204" pitchFamily="34" charset="0"/>
              </a:rPr>
              <a:t>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8572" y="1016565"/>
            <a:ext cx="8833635" cy="5701141"/>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В нотации </a:t>
            </a:r>
            <a:r>
              <a:rPr lang="ru-RU" sz="1600" dirty="0" err="1" smtClean="0">
                <a:latin typeface="Arial" panose="020B0604020202020204" pitchFamily="34" charset="0"/>
                <a:cs typeface="Arial" panose="020B0604020202020204" pitchFamily="34" charset="0"/>
              </a:rPr>
              <a:t>Чена</a:t>
            </a:r>
            <a:r>
              <a:rPr lang="ru-RU" sz="1600" dirty="0" smtClean="0">
                <a:latin typeface="Arial" panose="020B0604020202020204" pitchFamily="34" charset="0"/>
                <a:cs typeface="Arial" panose="020B0604020202020204" pitchFamily="34" charset="0"/>
              </a:rPr>
              <a:t>, без атрибутов</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Концептуальная модель данных</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 name="Рисунок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6130" y="820909"/>
            <a:ext cx="7419401" cy="6044376"/>
          </a:xfrm>
          <a:prstGeom prst="rect">
            <a:avLst/>
          </a:prstGeom>
        </p:spPr>
      </p:pic>
      <p:sp>
        <p:nvSpPr>
          <p:cNvPr id="1475" name="Google Shape;1475;p37"/>
          <p:cNvSpPr txBox="1">
            <a:spLocks noGrp="1"/>
          </p:cNvSpPr>
          <p:nvPr>
            <p:ph type="subTitle" idx="1"/>
          </p:nvPr>
        </p:nvSpPr>
        <p:spPr>
          <a:xfrm>
            <a:off x="475696" y="488046"/>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В нотации Мартина</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756" y="448725"/>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703" y="-200871"/>
            <a:ext cx="8489161" cy="841800"/>
          </a:xfrm>
          <a:prstGeom prst="rect">
            <a:avLst/>
          </a:prstGeom>
        </p:spPr>
        <p:txBody>
          <a:bodyPr spcFirstLastPara="1" wrap="square" lIns="91425" tIns="91425" rIns="91425" bIns="91425" anchor="ctr" anchorCtr="0">
            <a:noAutofit/>
          </a:bodyPr>
          <a:lstStyle/>
          <a:p>
            <a:pPr lvl="0"/>
            <a:r>
              <a:rPr lang="ru-RU" sz="3600" dirty="0" smtClean="0"/>
              <a:t>Логическая </a:t>
            </a:r>
            <a:r>
              <a:rPr lang="ru-RU" sz="3600" dirty="0"/>
              <a:t>модель данных</a:t>
            </a:r>
            <a:endParaRPr sz="3600" dirty="0"/>
          </a:p>
        </p:txBody>
      </p:sp>
    </p:spTree>
    <p:extLst>
      <p:ext uri="{BB962C8B-B14F-4D97-AF65-F5344CB8AC3E}">
        <p14:creationId xmlns:p14="http://schemas.microsoft.com/office/powerpoint/2010/main" val="236334198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341944" y="1422542"/>
            <a:ext cx="7172869" cy="4887741"/>
          </a:xfrm>
          <a:prstGeom prst="rect">
            <a:avLst/>
          </a:prstGeom>
        </p:spPr>
        <p:txBody>
          <a:bodyPr spcFirstLastPara="1" wrap="square" lIns="91425" tIns="91425" rIns="91425" bIns="91425" anchor="t" anchorCtr="0">
            <a:noAutofit/>
          </a:bodyPr>
          <a:lstStyle/>
          <a:p>
            <a:pPr marL="285750" lvl="0" indent="-285750">
              <a:buFont typeface="Arial" panose="020B0604020202020204" pitchFamily="34" charset="0"/>
              <a:buChar char="•"/>
            </a:pPr>
            <a:r>
              <a:rPr lang="ru-RU" sz="2000" dirty="0">
                <a:latin typeface="+mn-lt"/>
              </a:rPr>
              <a:t>Управление позицией в </a:t>
            </a:r>
            <a:r>
              <a:rPr lang="ru-RU" sz="2000" dirty="0" smtClean="0">
                <a:latin typeface="+mn-lt"/>
              </a:rPr>
              <a:t>очереди (вычисление позиций в очереди)</a:t>
            </a:r>
          </a:p>
          <a:p>
            <a:pPr marL="285750" lvl="0" indent="-285750">
              <a:buFont typeface="Arial" panose="020B0604020202020204" pitchFamily="34" charset="0"/>
              <a:buChar char="•"/>
            </a:pPr>
            <a:r>
              <a:rPr lang="ru-RU" sz="2000" dirty="0">
                <a:latin typeface="+mn-lt"/>
              </a:rPr>
              <a:t>Добавление позиций в </a:t>
            </a:r>
            <a:r>
              <a:rPr lang="ru-RU" sz="2000" dirty="0" smtClean="0">
                <a:latin typeface="+mn-lt"/>
              </a:rPr>
              <a:t>очереди (добавление новых позиций в очереди)</a:t>
            </a:r>
          </a:p>
          <a:p>
            <a:pPr marL="285750" lvl="0" indent="-285750">
              <a:buFont typeface="Arial" panose="020B0604020202020204" pitchFamily="34" charset="0"/>
              <a:buChar char="•"/>
            </a:pPr>
            <a:r>
              <a:rPr lang="ru-RU" sz="2000" dirty="0" smtClean="0">
                <a:latin typeface="+mn-lt"/>
              </a:rPr>
              <a:t>Приоритетность (вычисление приоритетности)</a:t>
            </a:r>
          </a:p>
          <a:p>
            <a:pPr marL="285750" lvl="0" indent="-285750">
              <a:buFont typeface="Arial" panose="020B0604020202020204" pitchFamily="34" charset="0"/>
              <a:buChar char="•"/>
            </a:pPr>
            <a:r>
              <a:rPr lang="ru-RU" sz="2000" dirty="0">
                <a:latin typeface="+mn-lt"/>
              </a:rPr>
              <a:t>Статусы </a:t>
            </a:r>
            <a:r>
              <a:rPr lang="ru-RU" sz="2000" dirty="0" smtClean="0">
                <a:latin typeface="+mn-lt"/>
              </a:rPr>
              <a:t>талона</a:t>
            </a:r>
          </a:p>
          <a:p>
            <a:pPr marL="285750" lvl="0" indent="-285750">
              <a:buFont typeface="Arial" panose="020B0604020202020204" pitchFamily="34" charset="0"/>
              <a:buChar char="•"/>
            </a:pPr>
            <a:r>
              <a:rPr lang="ru-RU" sz="2000" dirty="0">
                <a:latin typeface="+mn-lt"/>
              </a:rPr>
              <a:t>Конкурентный </a:t>
            </a:r>
            <a:r>
              <a:rPr lang="ru-RU" sz="2000" dirty="0" smtClean="0">
                <a:latin typeface="+mn-lt"/>
              </a:rPr>
              <a:t>доступ (способ разрешения проблем с доступом)</a:t>
            </a:r>
          </a:p>
          <a:p>
            <a:pPr marL="285750" lvl="0" indent="-285750">
              <a:buFont typeface="Arial" panose="020B0604020202020204" pitchFamily="34" charset="0"/>
              <a:buChar char="•"/>
            </a:pPr>
            <a:r>
              <a:rPr lang="ru-RU" sz="2000" dirty="0">
                <a:latin typeface="+mn-lt"/>
              </a:rPr>
              <a:t>Ограничения по сессии </a:t>
            </a:r>
            <a:r>
              <a:rPr lang="ru-RU" sz="2000" dirty="0" smtClean="0">
                <a:latin typeface="+mn-lt"/>
              </a:rPr>
              <a:t>клиента</a:t>
            </a:r>
          </a:p>
          <a:p>
            <a:pPr marL="285750" lvl="0" indent="-285750">
              <a:buFont typeface="Arial" panose="020B0604020202020204" pitchFamily="34" charset="0"/>
              <a:buChar char="•"/>
            </a:pPr>
            <a:r>
              <a:rPr lang="ru-RU" sz="2000" dirty="0">
                <a:latin typeface="+mn-lt"/>
              </a:rPr>
              <a:t>Расчёт времени </a:t>
            </a:r>
            <a:r>
              <a:rPr lang="ru-RU" sz="2000" dirty="0" smtClean="0">
                <a:latin typeface="+mn-lt"/>
              </a:rPr>
              <a:t>ожидания (правила расчёта)</a:t>
            </a:r>
          </a:p>
          <a:p>
            <a:pPr marL="285750" lvl="0" indent="-285750">
              <a:buFont typeface="Arial" panose="020B0604020202020204" pitchFamily="34" charset="0"/>
              <a:buChar char="•"/>
            </a:pPr>
            <a:r>
              <a:rPr lang="ru-RU" sz="2000" dirty="0">
                <a:latin typeface="+mn-lt"/>
              </a:rPr>
              <a:t>Безопасность данных</a:t>
            </a:r>
            <a:endParaRPr lang="ru-RU" sz="2000" dirty="0" smtClean="0">
              <a:latin typeface="+mn-lt"/>
            </a:endParaRPr>
          </a:p>
          <a:p>
            <a:pPr marL="285750" lvl="0" indent="-285750">
              <a:buFont typeface="Arial" panose="020B0604020202020204" pitchFamily="34" charset="0"/>
              <a:buChar char="•"/>
            </a:pPr>
            <a:endParaRPr sz="1600" dirty="0">
              <a:latin typeface="+mn-lt"/>
            </a:endParaRPr>
          </a:p>
        </p:txBody>
      </p:sp>
      <p:sp>
        <p:nvSpPr>
          <p:cNvPr id="1752" name="Google Shape;1752;p44"/>
          <p:cNvSpPr txBox="1">
            <a:spLocks noGrp="1"/>
          </p:cNvSpPr>
          <p:nvPr>
            <p:ph type="title"/>
          </p:nvPr>
        </p:nvSpPr>
        <p:spPr>
          <a:xfrm>
            <a:off x="341944" y="97896"/>
            <a:ext cx="6906144" cy="572700"/>
          </a:xfrm>
          <a:prstGeom prst="rect">
            <a:avLst/>
          </a:prstGeom>
        </p:spPr>
        <p:txBody>
          <a:bodyPr spcFirstLastPara="1" wrap="square" lIns="91425" tIns="91425" rIns="91425" bIns="91425" anchor="t" anchorCtr="0">
            <a:noAutofit/>
          </a:bodyPr>
          <a:lstStyle/>
          <a:p>
            <a:pPr lvl="0"/>
            <a:r>
              <a:rPr lang="ru-RU" dirty="0"/>
              <a:t>Бизнес-правила и ограничения</a:t>
            </a:r>
            <a:endParaRPr dirty="0"/>
          </a:p>
        </p:txBody>
      </p:sp>
      <p:sp>
        <p:nvSpPr>
          <p:cNvPr id="15" name="Google Shape;1475;p37"/>
          <p:cNvSpPr txBox="1">
            <a:spLocks/>
          </p:cNvSpPr>
          <p:nvPr/>
        </p:nvSpPr>
        <p:spPr>
          <a:xfrm>
            <a:off x="341944" y="635809"/>
            <a:ext cx="5563906" cy="457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600" dirty="0" smtClean="0">
                <a:latin typeface="+mn-lt"/>
                <a:cs typeface="Arial" panose="020B0604020202020204" pitchFamily="34" charset="0"/>
              </a:rPr>
              <a:t>Выделенные категории </a:t>
            </a:r>
            <a:r>
              <a:rPr lang="ru-RU" sz="1600" dirty="0" smtClean="0">
                <a:latin typeface="+mn-lt"/>
                <a:cs typeface="Arial" panose="020B0604020202020204" pitchFamily="34" charset="0"/>
              </a:rPr>
              <a:t>правил</a:t>
            </a:r>
            <a:endParaRPr lang="ru-RU" sz="1600" dirty="0">
              <a:latin typeface="+mn-lt"/>
              <a:cs typeface="Arial" panose="020B0604020202020204" pitchFamily="34" charset="0"/>
            </a:endParaRPr>
          </a:p>
        </p:txBody>
      </p:sp>
      <p:grpSp>
        <p:nvGrpSpPr>
          <p:cNvPr id="16" name="Google Shape;1512;p37"/>
          <p:cNvGrpSpPr/>
          <p:nvPr/>
        </p:nvGrpSpPr>
        <p:grpSpPr>
          <a:xfrm>
            <a:off x="394004" y="596488"/>
            <a:ext cx="4558967" cy="134100"/>
            <a:chOff x="796100" y="3019701"/>
            <a:chExt cx="4558967" cy="134100"/>
          </a:xfrm>
        </p:grpSpPr>
        <p:sp>
          <p:nvSpPr>
            <p:cNvPr id="17"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9"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77534292"/>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Определена концептуальная </a:t>
            </a:r>
            <a:r>
              <a:rPr lang="ru-RU" sz="1800" dirty="0">
                <a:latin typeface="Arial" panose="020B0604020202020204" pitchFamily="34" charset="0"/>
                <a:cs typeface="Arial" panose="020B0604020202020204" pitchFamily="34" charset="0"/>
              </a:rPr>
              <a:t>модель </a:t>
            </a:r>
            <a:r>
              <a:rPr lang="ru-RU" sz="1800" dirty="0" smtClean="0">
                <a:latin typeface="Arial" panose="020B0604020202020204" pitchFamily="34" charset="0"/>
                <a:cs typeface="Arial" panose="020B0604020202020204" pitchFamily="34" charset="0"/>
              </a:rPr>
              <a:t>данных</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Определена логическая </a:t>
            </a:r>
            <a:r>
              <a:rPr lang="ru-RU" sz="1800" dirty="0">
                <a:latin typeface="Arial" panose="020B0604020202020204" pitchFamily="34" charset="0"/>
                <a:cs typeface="Arial" panose="020B0604020202020204" pitchFamily="34" charset="0"/>
              </a:rPr>
              <a:t>модель </a:t>
            </a:r>
            <a:r>
              <a:rPr lang="ru-RU" sz="1800" dirty="0" smtClean="0">
                <a:latin typeface="Arial" panose="020B0604020202020204" pitchFamily="34" charset="0"/>
                <a:cs typeface="Arial" panose="020B0604020202020204" pitchFamily="34" charset="0"/>
              </a:rPr>
              <a:t>данных</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по итогам #5 спринта</a:t>
            </a:r>
            <a:endParaRPr lang="ru-RU" sz="1800" dirty="0">
              <a:latin typeface="Arial" panose="020B0604020202020204" pitchFamily="34" charset="0"/>
              <a:cs typeface="Arial" panose="020B0604020202020204" pitchFamily="34" charset="0"/>
            </a:endParaRP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все задания</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Проведено дополнительное обсуждение архитектуры проекта с </a:t>
            </a:r>
            <a:r>
              <a:rPr lang="ru-RU" sz="1300" dirty="0" smtClean="0">
                <a:latin typeface="Arial" panose="020B0604020202020204" pitchFamily="34" charset="0"/>
                <a:cs typeface="Arial" panose="020B0604020202020204" pitchFamily="34" charset="0"/>
              </a:rPr>
              <a:t>участниками проекта</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Устранены различия в восприятии проекта между участниками проекта</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с участниками какие задания они могут взять на следующий спринт</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Большая часть заданий выполнялась меньшей частью команды</a:t>
            </a:r>
            <a:endParaRPr lang="ru-RU" sz="1300" dirty="0" smtClean="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752860"/>
            <a:ext cx="6122127" cy="3855965"/>
          </a:xfrm>
          <a:prstGeom prst="rect">
            <a:avLst/>
          </a:prstGeom>
        </p:spPr>
      </p:pic>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1682</TotalTime>
  <Words>1519</Words>
  <Application>Microsoft Office PowerPoint</Application>
  <PresentationFormat>Экран (4:3)</PresentationFormat>
  <Paragraphs>320</Paragraphs>
  <Slides>48</Slides>
  <Notes>48</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48</vt:i4>
      </vt:variant>
    </vt:vector>
  </HeadingPairs>
  <TitlesOfParts>
    <vt:vector size="62" baseType="lpstr">
      <vt:lpstr>Calibri</vt:lpstr>
      <vt:lpstr>Arial</vt:lpstr>
      <vt:lpstr>Open Sans</vt:lpstr>
      <vt:lpstr>Proxima Nova Semibold</vt:lpstr>
      <vt:lpstr>IBM Plex Mono</vt:lpstr>
      <vt:lpstr>Roboto Medium</vt:lpstr>
      <vt:lpstr>Amatic SC</vt:lpstr>
      <vt:lpstr>Wingdings</vt:lpstr>
      <vt:lpstr>Roboto Condensed Light</vt:lpstr>
      <vt:lpstr>Proxima Nova</vt:lpstr>
      <vt:lpstr>Source Code Pro</vt:lpstr>
      <vt:lpstr>Poppins</vt:lpstr>
      <vt:lpstr>Introduction to Coding Workshop by Slidesgo</vt:lpstr>
      <vt:lpstr>Slidesgo Final Pages</vt:lpstr>
      <vt:lpstr>Итоги 5 спринта</vt:lpstr>
      <vt:lpstr>Наша команда</vt:lpstr>
      <vt:lpstr>Задачи спринта</vt:lpstr>
      <vt:lpstr>Концептуальная модель данных</vt:lpstr>
      <vt:lpstr>Логическая модель данных</vt:lpstr>
      <vt:lpstr>Бизнес-правила и ограничения</vt:lpstr>
      <vt:lpstr>Обзор спринта</vt:lpstr>
      <vt:lpstr>Ретроспектива</vt:lpstr>
      <vt:lpstr>Спасибо за внимание!</vt:lpstr>
      <vt:lpstr>Дальше идут шаблоны и заготовки</vt:lpstr>
      <vt:lpstr>Тема проекта</vt:lpstr>
      <vt:lpstr>Роли пользователей</vt:lpstr>
      <vt:lpstr>Организация работы</vt:lpstr>
      <vt:lpstr>Выбор технологического стека</vt:lpstr>
      <vt:lpstr>Задачи 2 спринта</vt:lpstr>
      <vt:lpstr>Рассуждение</vt:lpstr>
      <vt:lpstr>Прототип интерфейса клиента</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81</cp:revision>
  <dcterms:modified xsi:type="dcterms:W3CDTF">2026-03-31T08:32:16Z</dcterms:modified>
</cp:coreProperties>
</file>