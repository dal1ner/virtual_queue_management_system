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57"/>
  </p:notesMasterIdLst>
  <p:sldIdLst>
    <p:sldId id="256" r:id="rId3"/>
    <p:sldId id="314" r:id="rId4"/>
    <p:sldId id="258" r:id="rId5"/>
    <p:sldId id="317" r:id="rId6"/>
    <p:sldId id="345" r:id="rId7"/>
    <p:sldId id="346" r:id="rId8"/>
    <p:sldId id="347" r:id="rId9"/>
    <p:sldId id="348" r:id="rId10"/>
    <p:sldId id="349" r:id="rId11"/>
    <p:sldId id="350" r:id="rId12"/>
    <p:sldId id="351" r:id="rId13"/>
    <p:sldId id="352" r:id="rId14"/>
    <p:sldId id="264" r:id="rId15"/>
    <p:sldId id="315" r:id="rId16"/>
    <p:sldId id="270" r:id="rId17"/>
    <p:sldId id="268" r:id="rId18"/>
    <p:sldId id="260" r:id="rId19"/>
    <p:sldId id="257" r:id="rId20"/>
    <p:sldId id="327" r:id="rId21"/>
    <p:sldId id="267" r:id="rId22"/>
    <p:sldId id="262" r:id="rId23"/>
    <p:sldId id="316" r:id="rId24"/>
    <p:sldId id="266" r:id="rId25"/>
    <p:sldId id="284" r:id="rId26"/>
    <p:sldId id="265" r:id="rId27"/>
    <p:sldId id="273" r:id="rId28"/>
    <p:sldId id="275" r:id="rId29"/>
    <p:sldId id="277" r:id="rId30"/>
    <p:sldId id="278" r:id="rId31"/>
    <p:sldId id="279" r:id="rId32"/>
    <p:sldId id="280" r:id="rId33"/>
    <p:sldId id="281" r:id="rId34"/>
    <p:sldId id="286" r:id="rId35"/>
    <p:sldId id="287" r:id="rId36"/>
    <p:sldId id="293" r:id="rId37"/>
    <p:sldId id="294" r:id="rId38"/>
    <p:sldId id="295" r:id="rId39"/>
    <p:sldId id="296" r:id="rId40"/>
    <p:sldId id="297" r:id="rId41"/>
    <p:sldId id="298" r:id="rId42"/>
    <p:sldId id="299" r:id="rId43"/>
    <p:sldId id="300" r:id="rId44"/>
    <p:sldId id="301" r:id="rId45"/>
    <p:sldId id="302" r:id="rId46"/>
    <p:sldId id="303" r:id="rId47"/>
    <p:sldId id="304" r:id="rId48"/>
    <p:sldId id="305" r:id="rId49"/>
    <p:sldId id="306" r:id="rId50"/>
    <p:sldId id="307" r:id="rId51"/>
    <p:sldId id="308" r:id="rId52"/>
    <p:sldId id="309" r:id="rId53"/>
    <p:sldId id="310" r:id="rId54"/>
    <p:sldId id="311" r:id="rId55"/>
    <p:sldId id="312" r:id="rId56"/>
  </p:sldIdLst>
  <p:sldSz cx="9144000" cy="6858000" type="screen4x3"/>
  <p:notesSz cx="6858000" cy="9144000"/>
  <p:embeddedFontLst>
    <p:embeddedFont>
      <p:font typeface="Calibri" panose="020F0502020204030204" pitchFamily="34" charset="0"/>
      <p:regular r:id="rId58"/>
      <p:bold r:id="rId59"/>
      <p:italic r:id="rId60"/>
      <p:boldItalic r:id="rId61"/>
    </p:embeddedFont>
    <p:embeddedFont>
      <p:font typeface="Proxima Nova" panose="020B0604020202020204" charset="0"/>
      <p:regular r:id="rId62"/>
      <p:bold r:id="rId63"/>
      <p:italic r:id="rId64"/>
      <p:boldItalic r:id="rId65"/>
    </p:embeddedFont>
    <p:embeddedFont>
      <p:font typeface="Roboto Medium" panose="020B0604020202020204" charset="0"/>
      <p:regular r:id="rId66"/>
      <p:bold r:id="rId67"/>
      <p:italic r:id="rId68"/>
      <p:boldItalic r:id="rId69"/>
    </p:embeddedFont>
    <p:embeddedFont>
      <p:font typeface="Poppins" panose="020B0604020202020204" charset="0"/>
      <p:regular r:id="rId70"/>
      <p:bold r:id="rId71"/>
      <p:italic r:id="rId72"/>
      <p:boldItalic r:id="rId73"/>
    </p:embeddedFont>
    <p:embeddedFont>
      <p:font typeface="IBM Plex Mono" panose="020B0604020202020204" charset="-52"/>
      <p:regular r:id="rId74"/>
      <p:bold r:id="rId75"/>
      <p:italic r:id="rId76"/>
      <p:boldItalic r:id="rId77"/>
    </p:embeddedFont>
    <p:embeddedFont>
      <p:font typeface="Proxima Nova Semibold" panose="020B0604020202020204" charset="0"/>
      <p:regular r:id="rId78"/>
      <p:bold r:id="rId79"/>
      <p:boldItalic r:id="rId80"/>
    </p:embeddedFont>
    <p:embeddedFont>
      <p:font typeface="Source Code Pro" panose="020B0604020202020204" charset="0"/>
      <p:regular r:id="rId81"/>
      <p:bold r:id="rId82"/>
      <p:italic r:id="rId83"/>
      <p:boldItalic r:id="rId84"/>
    </p:embeddedFont>
    <p:embeddedFont>
      <p:font typeface="Amatic SC" panose="020B0604020202020204" charset="-79"/>
      <p:regular r:id="rId85"/>
      <p:bold r:id="rId8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164" autoAdjust="0"/>
  </p:normalViewPr>
  <p:slideViewPr>
    <p:cSldViewPr snapToGrid="0">
      <p:cViewPr varScale="1">
        <p:scale>
          <a:sx n="88" d="100"/>
          <a:sy n="88" d="100"/>
        </p:scale>
        <p:origin x="1306" y="8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6.fntdata"/><Relationship Id="rId68" Type="http://schemas.openxmlformats.org/officeDocument/2006/relationships/font" Target="fonts/font11.fntdata"/><Relationship Id="rId84" Type="http://schemas.openxmlformats.org/officeDocument/2006/relationships/font" Target="fonts/font27.fntdata"/><Relationship Id="rId89" Type="http://schemas.openxmlformats.org/officeDocument/2006/relationships/theme" Target="theme/theme1.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font" Target="fonts/font1.fntdata"/><Relationship Id="rId74" Type="http://schemas.openxmlformats.org/officeDocument/2006/relationships/font" Target="fonts/font17.fntdata"/><Relationship Id="rId79" Type="http://schemas.openxmlformats.org/officeDocument/2006/relationships/font" Target="fonts/font22.fntdata"/><Relationship Id="rId5" Type="http://schemas.openxmlformats.org/officeDocument/2006/relationships/slide" Target="slides/slide3.xml"/><Relationship Id="rId90" Type="http://schemas.openxmlformats.org/officeDocument/2006/relationships/tableStyles" Target="tableStyles.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7.fntdata"/><Relationship Id="rId69" Type="http://schemas.openxmlformats.org/officeDocument/2006/relationships/font" Target="fonts/font12.fntdata"/><Relationship Id="rId77" Type="http://schemas.openxmlformats.org/officeDocument/2006/relationships/font" Target="fonts/font20.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5.fntdata"/><Relationship Id="rId80" Type="http://schemas.openxmlformats.org/officeDocument/2006/relationships/font" Target="fonts/font23.fntdata"/><Relationship Id="rId85" Type="http://schemas.openxmlformats.org/officeDocument/2006/relationships/font" Target="fonts/font28.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2.fntdata"/><Relationship Id="rId67" Type="http://schemas.openxmlformats.org/officeDocument/2006/relationships/font" Target="fonts/font10.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5.fntdata"/><Relationship Id="rId70" Type="http://schemas.openxmlformats.org/officeDocument/2006/relationships/font" Target="fonts/font13.fntdata"/><Relationship Id="rId75" Type="http://schemas.openxmlformats.org/officeDocument/2006/relationships/font" Target="fonts/font18.fntdata"/><Relationship Id="rId83" Type="http://schemas.openxmlformats.org/officeDocument/2006/relationships/font" Target="fonts/font26.fntdata"/><Relationship Id="rId88"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notesMaster" Target="notesMasters/notesMaster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3.fntdata"/><Relationship Id="rId65" Type="http://schemas.openxmlformats.org/officeDocument/2006/relationships/font" Target="fonts/font8.fntdata"/><Relationship Id="rId73" Type="http://schemas.openxmlformats.org/officeDocument/2006/relationships/font" Target="fonts/font16.fntdata"/><Relationship Id="rId78" Type="http://schemas.openxmlformats.org/officeDocument/2006/relationships/font" Target="fonts/font21.fntdata"/><Relationship Id="rId81" Type="http://schemas.openxmlformats.org/officeDocument/2006/relationships/font" Target="fonts/font24.fntdata"/><Relationship Id="rId86" Type="http://schemas.openxmlformats.org/officeDocument/2006/relationships/font" Target="fonts/font29.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9.fntdata"/><Relationship Id="rId7" Type="http://schemas.openxmlformats.org/officeDocument/2006/relationships/slide" Target="slides/slide5.xml"/><Relationship Id="rId71" Type="http://schemas.openxmlformats.org/officeDocument/2006/relationships/font" Target="fonts/font14.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9.fntdata"/><Relationship Id="rId87" Type="http://schemas.openxmlformats.org/officeDocument/2006/relationships/presProps" Target="presProps.xml"/><Relationship Id="rId61" Type="http://schemas.openxmlformats.org/officeDocument/2006/relationships/font" Target="fonts/font4.fntdata"/><Relationship Id="rId82" Type="http://schemas.openxmlformats.org/officeDocument/2006/relationships/font" Target="fonts/font25.fntdata"/><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93661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3413981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587006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2980343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3127406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4394081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7823159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5630615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7780479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0776135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99807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1" r:id="rId19"/>
    <p:sldLayoutId id="2147483672" r:id="rId20"/>
    <p:sldLayoutId id="2147483673" r:id="rId21"/>
    <p:sldLayoutId id="2147483676" r:id="rId22"/>
    <p:sldLayoutId id="2147483677"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2.xml"/><Relationship Id="rId5" Type="http://schemas.openxmlformats.org/officeDocument/2006/relationships/image" Target="../media/image9.png"/><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11.png"/></Relationships>
</file>

<file path=ppt/slides/_rels/slide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0.xml"/></Relationships>
</file>

<file path=ppt/slides/_rels/slide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1.xml"/><Relationship Id="rId1" Type="http://schemas.openxmlformats.org/officeDocument/2006/relationships/slideLayout" Target="../slideLayouts/slideLayout4.xml"/><Relationship Id="rId4" Type="http://schemas.openxmlformats.org/officeDocument/2006/relationships/image" Target="../media/image15.png"/></Relationships>
</file>

<file path=ppt/slides/_rels/slide22.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16.png"/><Relationship Id="rId7" Type="http://schemas.openxmlformats.org/officeDocument/2006/relationships/image" Target="../media/image20.png"/><Relationship Id="rId2" Type="http://schemas.openxmlformats.org/officeDocument/2006/relationships/notesSlide" Target="../notesSlides/notesSlide22.xml"/><Relationship Id="rId1" Type="http://schemas.openxmlformats.org/officeDocument/2006/relationships/slideLayout" Target="../slideLayouts/slideLayout21.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7.png"/><Relationship Id="rId9" Type="http://schemas.openxmlformats.org/officeDocument/2006/relationships/image" Target="../media/image22.pn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1.xml"/></Relationships>
</file>

<file path=ppt/slides/_rels/slide24.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24.xml"/><Relationship Id="rId1" Type="http://schemas.openxmlformats.org/officeDocument/2006/relationships/slideLayout" Target="../slideLayouts/slideLayout16.xml"/><Relationship Id="rId4" Type="http://schemas.openxmlformats.org/officeDocument/2006/relationships/image" Target="../media/image24.png"/></Relationships>
</file>

<file path=ppt/slides/_rels/slide25.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25.xml"/><Relationship Id="rId1" Type="http://schemas.openxmlformats.org/officeDocument/2006/relationships/slideLayout" Target="../slideLayouts/slideLayout19.xml"/><Relationship Id="rId5" Type="http://schemas.openxmlformats.org/officeDocument/2006/relationships/image" Target="../media/image27.jpg"/><Relationship Id="rId4" Type="http://schemas.openxmlformats.org/officeDocument/2006/relationships/image" Target="../media/image26.jp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4.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1.xml"/><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4.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4.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7827132" cy="717983"/>
          </a:xfrm>
          <a:prstGeom prst="rect">
            <a:avLst/>
          </a:prstGeom>
        </p:spPr>
        <p:txBody>
          <a:bodyPr spcFirstLastPara="1" wrap="square" lIns="91425" tIns="91425" rIns="91425" bIns="91425" anchor="t" anchorCtr="0">
            <a:noAutofit/>
          </a:bodyPr>
          <a:lstStyle/>
          <a:p>
            <a:pPr marL="0" lvl="0" indent="0"/>
            <a:r>
              <a:rPr lang="ru-RU" sz="2800" dirty="0" smtClean="0">
                <a:latin typeface="+mn-lt"/>
              </a:rPr>
              <a:t>Завершение формирования слоя </a:t>
            </a:r>
            <a:r>
              <a:rPr lang="en-US" sz="2800" dirty="0">
                <a:latin typeface="+mn-lt"/>
              </a:rPr>
              <a:t>Technology</a:t>
            </a:r>
            <a:endParaRPr sz="2800" dirty="0">
              <a:latin typeface="+mn-lt"/>
            </a:endParaRPr>
          </a:p>
        </p:txBody>
      </p:sp>
      <p:sp>
        <p:nvSpPr>
          <p:cNvPr id="1421" name="Google Shape;1421;p34"/>
          <p:cNvSpPr txBox="1">
            <a:spLocks noGrp="1"/>
          </p:cNvSpPr>
          <p:nvPr>
            <p:ph type="ctrTitle"/>
          </p:nvPr>
        </p:nvSpPr>
        <p:spPr>
          <a:xfrm>
            <a:off x="529600" y="3105583"/>
            <a:ext cx="6974700" cy="1092054"/>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9 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 name="Google Shape;12302;p79"/>
          <p:cNvGrpSpPr>
            <a:grpSpLocks noChangeAspect="1"/>
          </p:cNvGrpSpPr>
          <p:nvPr/>
        </p:nvGrpSpPr>
        <p:grpSpPr>
          <a:xfrm>
            <a:off x="8240760" y="4544582"/>
            <a:ext cx="647498" cy="650942"/>
            <a:chOff x="3095745" y="3805393"/>
            <a:chExt cx="352840" cy="354717"/>
          </a:xfrm>
          <a:solidFill>
            <a:schemeClr val="tx2"/>
          </a:solidFill>
        </p:grpSpPr>
        <p:sp>
          <p:nvSpPr>
            <p:cNvPr id="35"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grpSp>
        <p:nvGrpSpPr>
          <p:cNvPr id="5" name="Группа 4"/>
          <p:cNvGrpSpPr/>
          <p:nvPr/>
        </p:nvGrpSpPr>
        <p:grpSpPr>
          <a:xfrm>
            <a:off x="94081" y="1633987"/>
            <a:ext cx="1573206" cy="3943422"/>
            <a:chOff x="124046" y="1633987"/>
            <a:chExt cx="1573206" cy="3943422"/>
          </a:xfrm>
        </p:grpSpPr>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Группа 3"/>
          <p:cNvGrpSpPr/>
          <p:nvPr/>
        </p:nvGrpSpPr>
        <p:grpSpPr>
          <a:xfrm>
            <a:off x="1537856" y="1633987"/>
            <a:ext cx="1573217" cy="3943422"/>
            <a:chOff x="1567821" y="1633987"/>
            <a:chExt cx="1573217" cy="3943422"/>
          </a:xfrm>
        </p:grpSpPr>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Ивличев </a:t>
              </a:r>
              <a:r>
                <a:rPr lang="ru-RU" sz="1800" dirty="0" smtClean="0">
                  <a:solidFill>
                    <a:schemeClr val="dk1"/>
                  </a:solidFill>
                  <a:latin typeface="Arial" panose="020B0604020202020204" pitchFamily="34" charset="0"/>
                  <a:ea typeface="Poppins"/>
                  <a:cs typeface="Arial" panose="020B0604020202020204" pitchFamily="34" charset="0"/>
                  <a:sym typeface="Poppins"/>
                </a:rPr>
                <a:t>Дмитрий</a:t>
              </a: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 name="Группа 5"/>
          <p:cNvGrpSpPr/>
          <p:nvPr/>
        </p:nvGrpSpPr>
        <p:grpSpPr>
          <a:xfrm>
            <a:off x="4418505" y="1632609"/>
            <a:ext cx="1573246" cy="3943422"/>
            <a:chOff x="5983959" y="1633987"/>
            <a:chExt cx="1573246" cy="3943422"/>
          </a:xfrm>
        </p:grpSpPr>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 name="Группа 2"/>
          <p:cNvGrpSpPr/>
          <p:nvPr/>
        </p:nvGrpSpPr>
        <p:grpSpPr>
          <a:xfrm>
            <a:off x="2915010" y="1632583"/>
            <a:ext cx="1573234" cy="3943422"/>
            <a:chOff x="2995487" y="1633987"/>
            <a:chExt cx="1573234" cy="3943422"/>
          </a:xfrm>
        </p:grpSpPr>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lvl="0"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 Федор</a:t>
              </a: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Группа 6"/>
          <p:cNvGrpSpPr/>
          <p:nvPr/>
        </p:nvGrpSpPr>
        <p:grpSpPr>
          <a:xfrm>
            <a:off x="5953432" y="1632583"/>
            <a:ext cx="1573246" cy="3943422"/>
            <a:chOff x="7539069" y="1633987"/>
            <a:chExt cx="1573246" cy="3943422"/>
          </a:xfrm>
        </p:grpSpPr>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Группа 1"/>
          <p:cNvGrpSpPr/>
          <p:nvPr/>
        </p:nvGrpSpPr>
        <p:grpSpPr>
          <a:xfrm>
            <a:off x="7404692" y="1632583"/>
            <a:ext cx="1739308" cy="3943422"/>
            <a:chOff x="4384523" y="1646619"/>
            <a:chExt cx="1739308" cy="3943422"/>
          </a:xfrm>
        </p:grpSpPr>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6</a:t>
              </a:r>
              <a:endParaRPr sz="3000" b="1" dirty="0">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спринта</a:t>
            </a:r>
            <a:endParaRPr dirty="0"/>
          </a:p>
        </p:txBody>
      </p:sp>
      <p:sp>
        <p:nvSpPr>
          <p:cNvPr id="1457" name="Google Shape;1457;p36"/>
          <p:cNvSpPr txBox="1">
            <a:spLocks noGrp="1"/>
          </p:cNvSpPr>
          <p:nvPr>
            <p:ph type="subTitle" idx="8"/>
          </p:nvPr>
        </p:nvSpPr>
        <p:spPr>
          <a:xfrm>
            <a:off x="603728" y="1793698"/>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603727" y="2110795"/>
            <a:ext cx="3548824" cy="1404192"/>
          </a:xfrm>
          <a:prstGeom prst="rect">
            <a:avLst/>
          </a:prstGeom>
        </p:spPr>
        <p:txBody>
          <a:bodyPr spcFirstLastPara="1" wrap="square" lIns="91425" tIns="91425" rIns="91425" bIns="91425" anchor="t" anchorCtr="0">
            <a:noAutofit/>
          </a:bodyPr>
          <a:lstStyle/>
          <a:p>
            <a:pPr marL="0" lvl="0" indent="0"/>
            <a:r>
              <a:rPr lang="ru-RU" sz="1800" smtClean="0">
                <a:latin typeface="Arial" panose="020B0604020202020204" pitchFamily="34" charset="0"/>
                <a:cs typeface="Arial" panose="020B0604020202020204" pitchFamily="34" charset="0"/>
              </a:rPr>
              <a:t>Завершить </a:t>
            </a:r>
            <a:r>
              <a:rPr lang="ru-RU" sz="1800" dirty="0">
                <a:latin typeface="Arial" panose="020B0604020202020204" pitchFamily="34" charset="0"/>
                <a:cs typeface="Arial" panose="020B0604020202020204" pitchFamily="34" charset="0"/>
              </a:rPr>
              <a:t>формирование слоя </a:t>
            </a:r>
            <a:r>
              <a:rPr lang="en-US" sz="1800" dirty="0" smtClean="0">
                <a:latin typeface="Arial" panose="020B0604020202020204" pitchFamily="34" charset="0"/>
                <a:cs typeface="Arial" panose="020B0604020202020204" pitchFamily="34" charset="0"/>
              </a:rPr>
              <a:t>Technology</a:t>
            </a:r>
            <a:r>
              <a:rPr lang="ru-RU" sz="1800" dirty="0" smtClean="0">
                <a:latin typeface="Arial" panose="020B0604020202020204" pitchFamily="34" charset="0"/>
                <a:cs typeface="Arial" panose="020B0604020202020204" pitchFamily="34" charset="0"/>
              </a:rPr>
              <a:t> в </a:t>
            </a:r>
            <a:r>
              <a:rPr lang="en-US" sz="1800" dirty="0" err="1" smtClean="0">
                <a:latin typeface="Arial" panose="020B0604020202020204" pitchFamily="34" charset="0"/>
                <a:cs typeface="Arial" panose="020B0604020202020204" pitchFamily="34" charset="0"/>
              </a:rPr>
              <a:t>Archimate</a:t>
            </a:r>
            <a:endParaRPr lang="ru-RU"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603731" y="1219802"/>
            <a:ext cx="607098"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4759649" y="1134599"/>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4759649" y="1708495"/>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Задачи спринта</a:t>
            </a:r>
            <a:endParaRPr sz="2400" dirty="0"/>
          </a:p>
        </p:txBody>
      </p:sp>
      <p:sp>
        <p:nvSpPr>
          <p:cNvPr id="10" name="Google Shape;14251;p83"/>
          <p:cNvSpPr/>
          <p:nvPr/>
        </p:nvSpPr>
        <p:spPr>
          <a:xfrm>
            <a:off x="1210829" y="1218337"/>
            <a:ext cx="414433" cy="442099"/>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5438360" y="1180547"/>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Google Shape;1458;p36"/>
          <p:cNvSpPr txBox="1">
            <a:spLocks/>
          </p:cNvSpPr>
          <p:nvPr/>
        </p:nvSpPr>
        <p:spPr>
          <a:xfrm>
            <a:off x="4745447" y="2059773"/>
            <a:ext cx="4036769" cy="36704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2000" dirty="0">
                <a:latin typeface="Arial" panose="020B0604020202020204" pitchFamily="34" charset="0"/>
                <a:cs typeface="Arial" panose="020B0604020202020204" pitchFamily="34" charset="0"/>
              </a:rPr>
              <a:t>Проработать </a:t>
            </a:r>
            <a:r>
              <a:rPr lang="ru-RU" sz="2000" dirty="0" smtClean="0">
                <a:latin typeface="Arial" panose="020B0604020202020204" pitchFamily="34" charset="0"/>
                <a:cs typeface="Arial" panose="020B0604020202020204" pitchFamily="34" charset="0"/>
              </a:rPr>
              <a:t>диаграммы в </a:t>
            </a:r>
            <a:r>
              <a:rPr lang="ru-RU" sz="2000" dirty="0" err="1" smtClean="0">
                <a:latin typeface="Arial" panose="020B0604020202020204" pitchFamily="34" charset="0"/>
                <a:cs typeface="Arial" panose="020B0604020202020204" pitchFamily="34" charset="0"/>
              </a:rPr>
              <a:t>Archimate</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Подготовить диаграмму </a:t>
            </a:r>
            <a:r>
              <a:rPr lang="en-US" sz="2000" dirty="0" smtClean="0">
                <a:latin typeface="Arial" panose="020B0604020202020204" pitchFamily="34" charset="0"/>
                <a:cs typeface="Arial" panose="020B0604020202020204" pitchFamily="34" charset="0"/>
              </a:rPr>
              <a:t>C4</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Провести предварительную аналитику прошедших </a:t>
            </a:r>
            <a:r>
              <a:rPr lang="ru-RU" sz="2000" dirty="0" smtClean="0">
                <a:latin typeface="Arial" panose="020B0604020202020204" pitchFamily="34" charset="0"/>
                <a:cs typeface="Arial" panose="020B0604020202020204" pitchFamily="34" charset="0"/>
              </a:rPr>
              <a:t>спринтов</a:t>
            </a:r>
          </a:p>
          <a:p>
            <a:pPr marL="342900" indent="-342900">
              <a:spcAft>
                <a:spcPts val="600"/>
              </a:spcAft>
              <a:buAutoNum type="arabicPeriod"/>
            </a:pPr>
            <a:r>
              <a:rPr lang="ru-RU" sz="2000" dirty="0" smtClean="0">
                <a:latin typeface="Arial" panose="020B0604020202020204" pitchFamily="34" charset="0"/>
                <a:cs typeface="Arial" panose="020B0604020202020204" pitchFamily="34" charset="0"/>
              </a:rPr>
              <a:t>Подготовить </a:t>
            </a:r>
            <a:r>
              <a:rPr lang="ru-RU" sz="2000" dirty="0">
                <a:latin typeface="Arial" panose="020B0604020202020204" pitchFamily="34" charset="0"/>
                <a:cs typeface="Arial" panose="020B0604020202020204" pitchFamily="34" charset="0"/>
              </a:rPr>
              <a:t>презентацию по итогам </a:t>
            </a:r>
            <a:r>
              <a:rPr lang="ru-RU" sz="2000" dirty="0" smtClean="0">
                <a:latin typeface="Arial" panose="020B0604020202020204" pitchFamily="34" charset="0"/>
                <a:cs typeface="Arial" panose="020B0604020202020204" pitchFamily="34" charset="0"/>
              </a:rPr>
              <a:t>#9 спринта</a:t>
            </a: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60240" y="923441"/>
            <a:ext cx="7301737" cy="5893921"/>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Диаграмм</a:t>
            </a:r>
            <a:r>
              <a:rPr lang="ru-RU" sz="1600" dirty="0">
                <a:latin typeface="Arial" panose="020B0604020202020204" pitchFamily="34" charset="0"/>
                <a:cs typeface="Arial" panose="020B0604020202020204" pitchFamily="34" charset="0"/>
              </a:rPr>
              <a:t>а</a:t>
            </a:r>
            <a:r>
              <a:rPr lang="ru-RU" sz="1600" dirty="0" smtClean="0">
                <a:latin typeface="Arial" panose="020B0604020202020204" pitchFamily="34" charset="0"/>
                <a:cs typeface="Arial" panose="020B0604020202020204" pitchFamily="34" charset="0"/>
              </a:rPr>
              <a:t> </a:t>
            </a:r>
            <a:r>
              <a:rPr lang="ru-RU" sz="1600" dirty="0">
                <a:latin typeface="Arial" panose="020B0604020202020204" pitchFamily="34" charset="0"/>
                <a:cs typeface="Arial" panose="020B0604020202020204" pitchFamily="34" charset="0"/>
              </a:rPr>
              <a:t>контекста (уровень 1)</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28447" y="4716018"/>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49212" y="-868330"/>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smtClean="0"/>
              <a:t> </a:t>
            </a:r>
            <a:r>
              <a:rPr lang="ru-RU" sz="3600" smtClean="0"/>
              <a:t>С4</a:t>
            </a:r>
            <a:endParaRPr sz="3600" dirty="0"/>
          </a:p>
        </p:txBody>
      </p:sp>
    </p:spTree>
    <p:extLst>
      <p:ext uri="{BB962C8B-B14F-4D97-AF65-F5344CB8AC3E}">
        <p14:creationId xmlns:p14="http://schemas.microsoft.com/office/powerpoint/2010/main" val="1304351152"/>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2872034"/>
            <a:ext cx="9144000" cy="1114661"/>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Диаграмма </a:t>
            </a:r>
            <a:r>
              <a:rPr lang="ru-RU" sz="1600" dirty="0">
                <a:latin typeface="Arial" panose="020B0604020202020204" pitchFamily="34" charset="0"/>
                <a:cs typeface="Arial" panose="020B0604020202020204" pitchFamily="34" charset="0"/>
              </a:rPr>
              <a:t>контейнеров (уровень 2)</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28447" y="4716018"/>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344709" y="-1735363"/>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smtClean="0"/>
              <a:t> </a:t>
            </a:r>
            <a:r>
              <a:rPr lang="ru-RU" sz="3600" smtClean="0"/>
              <a:t>С4</a:t>
            </a:r>
            <a:endParaRPr sz="3600" dirty="0"/>
          </a:p>
        </p:txBody>
      </p:sp>
    </p:spTree>
    <p:extLst>
      <p:ext uri="{BB962C8B-B14F-4D97-AF65-F5344CB8AC3E}">
        <p14:creationId xmlns:p14="http://schemas.microsoft.com/office/powerpoint/2010/main" val="3074254042"/>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4" name="Рисунок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80" y="1458236"/>
            <a:ext cx="9144000" cy="4521341"/>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Диаграмма </a:t>
            </a:r>
            <a:r>
              <a:rPr lang="ru-RU" sz="1600" dirty="0">
                <a:latin typeface="Arial" panose="020B0604020202020204" pitchFamily="34" charset="0"/>
                <a:cs typeface="Arial" panose="020B0604020202020204" pitchFamily="34" charset="0"/>
              </a:rPr>
              <a:t>компонентов (уровень 3)</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28447" y="4716018"/>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542243" y="-1802668"/>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smtClean="0"/>
              <a:t> </a:t>
            </a:r>
            <a:r>
              <a:rPr lang="ru-RU" sz="3600" smtClean="0"/>
              <a:t>С4</a:t>
            </a:r>
            <a:endParaRPr sz="3600" dirty="0"/>
          </a:p>
        </p:txBody>
      </p:sp>
    </p:spTree>
    <p:extLst>
      <p:ext uri="{BB962C8B-B14F-4D97-AF65-F5344CB8AC3E}">
        <p14:creationId xmlns:p14="http://schemas.microsoft.com/office/powerpoint/2010/main" val="2270203200"/>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571038"/>
            <a:ext cx="9144000" cy="3856917"/>
          </a:xfrm>
          <a:prstGeom prst="rect">
            <a:avLst/>
          </a:prstGeom>
        </p:spPr>
      </p:pic>
      <p:sp>
        <p:nvSpPr>
          <p:cNvPr id="1475" name="Google Shape;1475;p37"/>
          <p:cNvSpPr txBox="1">
            <a:spLocks noGrp="1"/>
          </p:cNvSpPr>
          <p:nvPr>
            <p:ph type="subTitle" idx="1"/>
          </p:nvPr>
        </p:nvSpPr>
        <p:spPr>
          <a:xfrm>
            <a:off x="475129" y="590578"/>
            <a:ext cx="592567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Диаграмма </a:t>
            </a:r>
            <a:r>
              <a:rPr lang="ru-RU" sz="1600" dirty="0">
                <a:latin typeface="Arial" panose="020B0604020202020204" pitchFamily="34" charset="0"/>
                <a:cs typeface="Arial" panose="020B0604020202020204" pitchFamily="34" charset="0"/>
              </a:rPr>
              <a:t>кода (уровень 4) </a:t>
            </a:r>
            <a:r>
              <a:rPr lang="ru-RU" sz="1600" dirty="0" smtClean="0">
                <a:latin typeface="Arial" panose="020B0604020202020204" pitchFamily="34" charset="0"/>
                <a:cs typeface="Arial" panose="020B0604020202020204" pitchFamily="34" charset="0"/>
              </a:rPr>
              <a:t>– Диаграмма </a:t>
            </a:r>
            <a:r>
              <a:rPr lang="ru-RU" sz="1600" smtClean="0">
                <a:latin typeface="Arial" panose="020B0604020202020204" pitchFamily="34" charset="0"/>
                <a:cs typeface="Arial" panose="020B0604020202020204" pitchFamily="34" charset="0"/>
              </a:rPr>
              <a:t>классов </a:t>
            </a:r>
            <a:r>
              <a:rPr lang="en-US" sz="1600" smtClean="0">
                <a:latin typeface="Arial" panose="020B0604020202020204" pitchFamily="34" charset="0"/>
                <a:cs typeface="Arial" panose="020B0604020202020204" pitchFamily="34" charset="0"/>
              </a:rPr>
              <a:t>UML</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28447" y="4716018"/>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87505" y="-146712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smtClean="0"/>
              <a:t> </a:t>
            </a:r>
            <a:r>
              <a:rPr lang="ru-RU" sz="3600" smtClean="0"/>
              <a:t>С4</a:t>
            </a:r>
            <a:endParaRPr sz="3600" dirty="0"/>
          </a:p>
        </p:txBody>
      </p:sp>
    </p:spTree>
    <p:extLst>
      <p:ext uri="{BB962C8B-B14F-4D97-AF65-F5344CB8AC3E}">
        <p14:creationId xmlns:p14="http://schemas.microsoft.com/office/powerpoint/2010/main" val="3351929570"/>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alphaModFix/>
            <a:extLst>
              <a:ext uri="{28A0092B-C50C-407E-A947-70E740481C1C}">
                <a14:useLocalDpi xmlns:a14="http://schemas.microsoft.com/office/drawing/2010/main" val="0"/>
              </a:ext>
            </a:extLst>
          </a:blip>
          <a:stretch>
            <a:fillRect/>
          </a:stretch>
        </p:blipFill>
        <p:spPr>
          <a:xfrm>
            <a:off x="145217" y="1499606"/>
            <a:ext cx="8028627" cy="4784737"/>
          </a:xfrm>
          <a:prstGeom prst="snip1Rect">
            <a:avLst>
              <a:gd name="adj" fmla="val 46262"/>
            </a:avLst>
          </a:prstGeom>
        </p:spPr>
      </p:pic>
      <p:sp>
        <p:nvSpPr>
          <p:cNvPr id="1475" name="Google Shape;1475;p37"/>
          <p:cNvSpPr txBox="1">
            <a:spLocks noGrp="1"/>
          </p:cNvSpPr>
          <p:nvPr>
            <p:ph type="subTitle" idx="1"/>
          </p:nvPr>
        </p:nvSpPr>
        <p:spPr>
          <a:xfrm>
            <a:off x="475129" y="590578"/>
            <a:ext cx="5925671" cy="457800"/>
          </a:xfrm>
          <a:prstGeom prst="rect">
            <a:avLst/>
          </a:prstGeom>
        </p:spPr>
        <p:txBody>
          <a:bodyPr spcFirstLastPara="1" wrap="square" lIns="91425" tIns="91425" rIns="91425" bIns="91425" anchor="t" anchorCtr="0">
            <a:noAutofit/>
          </a:bodyPr>
          <a:lstStyle/>
          <a:p>
            <a:pPr marL="0" indent="0"/>
            <a:r>
              <a:rPr lang="ru-RU" sz="1600" dirty="0">
                <a:latin typeface="Arial" panose="020B0604020202020204" pitchFamily="34" charset="0"/>
                <a:cs typeface="Arial" panose="020B0604020202020204" pitchFamily="34" charset="0"/>
              </a:rPr>
              <a:t>Динамика выполнения задач по спринтам</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50486" y="5219539"/>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87505" y="-146712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Аналитика спринтов</a:t>
            </a:r>
            <a:endParaRPr sz="3600" dirty="0"/>
          </a:p>
        </p:txBody>
      </p:sp>
      <p:graphicFrame>
        <p:nvGraphicFramePr>
          <p:cNvPr id="4" name="Таблица 3"/>
          <p:cNvGraphicFramePr>
            <a:graphicFrameLocks noGrp="1"/>
          </p:cNvGraphicFramePr>
          <p:nvPr>
            <p:extLst>
              <p:ext uri="{D42A27DB-BD31-4B8C-83A1-F6EECF244321}">
                <p14:modId xmlns:p14="http://schemas.microsoft.com/office/powerpoint/2010/main" val="3581887394"/>
              </p:ext>
            </p:extLst>
          </p:nvPr>
        </p:nvGraphicFramePr>
        <p:xfrm>
          <a:off x="5847145" y="1107595"/>
          <a:ext cx="3070151" cy="2169585"/>
        </p:xfrm>
        <a:graphic>
          <a:graphicData uri="http://schemas.openxmlformats.org/drawingml/2006/table">
            <a:tbl>
              <a:tblPr>
                <a:noFill/>
                <a:tableStyleId>{B9B832DE-76B6-4B34-B3CA-37E8069A2435}</a:tableStyleId>
              </a:tblPr>
              <a:tblGrid>
                <a:gridCol w="2028820">
                  <a:extLst>
                    <a:ext uri="{9D8B030D-6E8A-4147-A177-3AD203B41FA5}">
                      <a16:colId xmlns:a16="http://schemas.microsoft.com/office/drawing/2014/main" val="2015349836"/>
                    </a:ext>
                  </a:extLst>
                </a:gridCol>
                <a:gridCol w="1041331">
                  <a:extLst>
                    <a:ext uri="{9D8B030D-6E8A-4147-A177-3AD203B41FA5}">
                      <a16:colId xmlns:a16="http://schemas.microsoft.com/office/drawing/2014/main" val="502121267"/>
                    </a:ext>
                  </a:extLst>
                </a:gridCol>
              </a:tblGrid>
              <a:tr h="445644">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Метрика</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Значение</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386646768"/>
                  </a:ext>
                </a:extLst>
              </a:tr>
              <a:tr h="609829">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Всего запланировано задач</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43</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205410108"/>
                  </a:ext>
                </a:extLst>
              </a:tr>
              <a:tr h="5277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Выполнено задач в срок</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40 (~93%)</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93975512"/>
                  </a:ext>
                </a:extLst>
              </a:tr>
              <a:tr h="586375">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Перенесено на следующий спринт</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3</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155511495"/>
                  </a:ext>
                </a:extLst>
              </a:tr>
            </a:tbl>
          </a:graphicData>
        </a:graphic>
      </p:graphicFrame>
    </p:spTree>
    <p:extLst>
      <p:ext uri="{BB962C8B-B14F-4D97-AF65-F5344CB8AC3E}">
        <p14:creationId xmlns:p14="http://schemas.microsoft.com/office/powerpoint/2010/main" val="2023746805"/>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925671" cy="457800"/>
          </a:xfrm>
          <a:prstGeom prst="rect">
            <a:avLst/>
          </a:prstGeom>
        </p:spPr>
        <p:txBody>
          <a:bodyPr spcFirstLastPara="1" wrap="square" lIns="91425" tIns="91425" rIns="91425" bIns="91425" anchor="t" anchorCtr="0">
            <a:noAutofit/>
          </a:bodyPr>
          <a:lstStyle/>
          <a:p>
            <a:pPr marL="0" indent="0"/>
            <a:r>
              <a:rPr lang="ru-RU" sz="1600" dirty="0">
                <a:latin typeface="Arial" panose="020B0604020202020204" pitchFamily="34" charset="0"/>
                <a:cs typeface="Arial" panose="020B0604020202020204" pitchFamily="34" charset="0"/>
              </a:rPr>
              <a:t>Активность команды и распределение </a:t>
            </a:r>
            <a:r>
              <a:rPr lang="ru-RU" sz="1600" dirty="0" err="1">
                <a:latin typeface="Arial" panose="020B0604020202020204" pitchFamily="34" charset="0"/>
                <a:cs typeface="Arial" panose="020B0604020202020204" pitchFamily="34" charset="0"/>
              </a:rPr>
              <a:t>коммитов</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50486" y="5219539"/>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87505" y="-146712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Аналитика спринтов</a:t>
            </a:r>
            <a:endParaRPr sz="3600" dirty="0"/>
          </a:p>
        </p:txBody>
      </p:sp>
      <p:pic>
        <p:nvPicPr>
          <p:cNvPr id="2" name="Рисунок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7" y="1056268"/>
            <a:ext cx="5889728" cy="3510041"/>
          </a:xfrm>
          <a:prstGeom prst="rect">
            <a:avLst/>
          </a:prstGeom>
        </p:spPr>
      </p:pic>
      <p:pic>
        <p:nvPicPr>
          <p:cNvPr id="5" name="Рисунок 4"/>
          <p:cNvPicPr>
            <a:picLocks noChangeAspect="1"/>
          </p:cNvPicPr>
          <p:nvPr/>
        </p:nvPicPr>
        <p:blipFill rotWithShape="1">
          <a:blip r:embed="rId5">
            <a:extLst>
              <a:ext uri="{28A0092B-C50C-407E-A947-70E740481C1C}">
                <a14:useLocalDpi xmlns:a14="http://schemas.microsoft.com/office/drawing/2010/main" val="0"/>
              </a:ext>
            </a:extLst>
          </a:blip>
          <a:srcRect l="9043" r="8523" b="4434"/>
          <a:stretch/>
        </p:blipFill>
        <p:spPr>
          <a:xfrm>
            <a:off x="5636189" y="2580845"/>
            <a:ext cx="3507811" cy="4294927"/>
          </a:xfrm>
          <a:prstGeom prst="rect">
            <a:avLst/>
          </a:prstGeom>
        </p:spPr>
      </p:pic>
      <p:sp>
        <p:nvSpPr>
          <p:cNvPr id="48" name="Google Shape;2335;p63"/>
          <p:cNvSpPr txBox="1">
            <a:spLocks/>
          </p:cNvSpPr>
          <p:nvPr/>
        </p:nvSpPr>
        <p:spPr>
          <a:xfrm>
            <a:off x="475129" y="4692372"/>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Всего </a:t>
            </a:r>
            <a:r>
              <a:rPr lang="ru-RU" sz="2000" dirty="0" err="1" smtClean="0"/>
              <a:t>коммитов</a:t>
            </a:r>
            <a:r>
              <a:rPr lang="en-US" sz="2000" dirty="0" smtClean="0"/>
              <a:t>: </a:t>
            </a:r>
            <a:r>
              <a:rPr lang="ru-RU" sz="2000" dirty="0" smtClean="0"/>
              <a:t>136</a:t>
            </a:r>
            <a:endParaRPr lang="ru-RU" sz="2000" dirty="0"/>
          </a:p>
        </p:txBody>
      </p:sp>
    </p:spTree>
    <p:extLst>
      <p:ext uri="{BB962C8B-B14F-4D97-AF65-F5344CB8AC3E}">
        <p14:creationId xmlns:p14="http://schemas.microsoft.com/office/powerpoint/2010/main" val="1342465683"/>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0319" y="1033724"/>
            <a:ext cx="8852707" cy="4873962"/>
          </a:xfrm>
          <a:prstGeom prst="rect">
            <a:avLst/>
          </a:prstGeom>
        </p:spPr>
      </p:pic>
      <p:sp>
        <p:nvSpPr>
          <p:cNvPr id="1475" name="Google Shape;1475;p37"/>
          <p:cNvSpPr txBox="1">
            <a:spLocks noGrp="1"/>
          </p:cNvSpPr>
          <p:nvPr>
            <p:ph type="subTitle" idx="1"/>
          </p:nvPr>
        </p:nvSpPr>
        <p:spPr>
          <a:xfrm>
            <a:off x="475129" y="590578"/>
            <a:ext cx="5925671" cy="457800"/>
          </a:xfrm>
          <a:prstGeom prst="rect">
            <a:avLst/>
          </a:prstGeom>
        </p:spPr>
        <p:txBody>
          <a:bodyPr spcFirstLastPara="1" wrap="square" lIns="91425" tIns="91425" rIns="91425" bIns="91425" anchor="t" anchorCtr="0">
            <a:noAutofit/>
          </a:bodyPr>
          <a:lstStyle/>
          <a:p>
            <a:pPr marL="0" indent="0"/>
            <a:r>
              <a:rPr lang="ru-RU" sz="1600" dirty="0">
                <a:latin typeface="Arial" panose="020B0604020202020204" pitchFamily="34" charset="0"/>
                <a:cs typeface="Arial" panose="020B0604020202020204" pitchFamily="34" charset="0"/>
              </a:rPr>
              <a:t>Архитектурное моделирование и документация</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50486" y="5219539"/>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87505" y="-146712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Аналитика спринтов</a:t>
            </a:r>
            <a:endParaRPr sz="3600" dirty="0"/>
          </a:p>
        </p:txBody>
      </p:sp>
      <p:sp>
        <p:nvSpPr>
          <p:cNvPr id="49" name="Google Shape;2335;p63"/>
          <p:cNvSpPr txBox="1">
            <a:spLocks/>
          </p:cNvSpPr>
          <p:nvPr/>
        </p:nvSpPr>
        <p:spPr>
          <a:xfrm>
            <a:off x="763808" y="5882592"/>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Всего диаграмм</a:t>
            </a:r>
            <a:r>
              <a:rPr lang="en-US" sz="2000" dirty="0" smtClean="0"/>
              <a:t>: 30</a:t>
            </a:r>
            <a:endParaRPr lang="ru-RU" sz="2000" dirty="0"/>
          </a:p>
        </p:txBody>
      </p:sp>
    </p:spTree>
    <p:extLst>
      <p:ext uri="{BB962C8B-B14F-4D97-AF65-F5344CB8AC3E}">
        <p14:creationId xmlns:p14="http://schemas.microsoft.com/office/powerpoint/2010/main" val="2139019230"/>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925671" cy="457800"/>
          </a:xfrm>
          <a:prstGeom prst="rect">
            <a:avLst/>
          </a:prstGeom>
        </p:spPr>
        <p:txBody>
          <a:bodyPr spcFirstLastPara="1" wrap="square" lIns="91425" tIns="91425" rIns="91425" bIns="91425" anchor="t" anchorCtr="0">
            <a:noAutofit/>
          </a:bodyPr>
          <a:lstStyle/>
          <a:p>
            <a:pPr marL="0" indent="0"/>
            <a:r>
              <a:rPr lang="ru-RU" sz="1600" dirty="0">
                <a:latin typeface="Arial" panose="020B0604020202020204" pitchFamily="34" charset="0"/>
                <a:cs typeface="Arial" panose="020B0604020202020204" pitchFamily="34" charset="0"/>
              </a:rPr>
              <a:t>Архитектурное моделирование и документация</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50486" y="5219539"/>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87505" y="-146712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Аналитика спринтов</a:t>
            </a:r>
            <a:endParaRPr sz="3600" dirty="0"/>
          </a:p>
        </p:txBody>
      </p:sp>
      <p:sp>
        <p:nvSpPr>
          <p:cNvPr id="49" name="Google Shape;2335;p63"/>
          <p:cNvSpPr txBox="1">
            <a:spLocks/>
          </p:cNvSpPr>
          <p:nvPr/>
        </p:nvSpPr>
        <p:spPr>
          <a:xfrm>
            <a:off x="1472104" y="5801440"/>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Всего </a:t>
            </a:r>
            <a:r>
              <a:rPr lang="ru-RU" sz="2000" dirty="0" smtClean="0"/>
              <a:t>документов</a:t>
            </a:r>
            <a:r>
              <a:rPr lang="en-US" sz="2000" dirty="0" smtClean="0"/>
              <a:t>: </a:t>
            </a:r>
            <a:r>
              <a:rPr lang="ru-RU" sz="2000" dirty="0" smtClean="0"/>
              <a:t>8</a:t>
            </a:r>
            <a:endParaRPr lang="ru-RU" sz="2000" dirty="0"/>
          </a:p>
        </p:txBody>
      </p:sp>
      <p:pic>
        <p:nvPicPr>
          <p:cNvPr id="2" name="Рисунок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2579" y="995978"/>
            <a:ext cx="8717439" cy="4799489"/>
          </a:xfrm>
          <a:prstGeom prst="rect">
            <a:avLst/>
          </a:prstGeom>
        </p:spPr>
      </p:pic>
    </p:spTree>
    <p:extLst>
      <p:ext uri="{BB962C8B-B14F-4D97-AF65-F5344CB8AC3E}">
        <p14:creationId xmlns:p14="http://schemas.microsoft.com/office/powerpoint/2010/main" val="40315761"/>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925671" cy="457800"/>
          </a:xfrm>
          <a:prstGeom prst="rect">
            <a:avLst/>
          </a:prstGeom>
        </p:spPr>
        <p:txBody>
          <a:bodyPr spcFirstLastPara="1" wrap="square" lIns="91425" tIns="91425" rIns="91425" bIns="91425" anchor="t" anchorCtr="0">
            <a:noAutofit/>
          </a:bodyPr>
          <a:lstStyle/>
          <a:p>
            <a:pPr marL="0" indent="0"/>
            <a:r>
              <a:rPr lang="ru-RU" sz="1600" dirty="0">
                <a:latin typeface="Arial" panose="020B0604020202020204" pitchFamily="34" charset="0"/>
                <a:cs typeface="Arial" panose="020B0604020202020204" pitchFamily="34" charset="0"/>
              </a:rPr>
              <a:t>Архитектурное моделирование и документация</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50486" y="5219539"/>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87505" y="-146712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Аналитика спринтов</a:t>
            </a:r>
            <a:endParaRPr sz="3600" dirty="0"/>
          </a:p>
        </p:txBody>
      </p:sp>
      <p:sp>
        <p:nvSpPr>
          <p:cNvPr id="46" name="Google Shape;1466;p36"/>
          <p:cNvSpPr txBox="1">
            <a:spLocks/>
          </p:cNvSpPr>
          <p:nvPr/>
        </p:nvSpPr>
        <p:spPr>
          <a:xfrm>
            <a:off x="479092" y="1432378"/>
            <a:ext cx="3166697" cy="442832"/>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400" dirty="0" smtClean="0"/>
              <a:t>Прочие результаты</a:t>
            </a:r>
            <a:endParaRPr lang="ru-RU" sz="2400" dirty="0"/>
          </a:p>
        </p:txBody>
      </p:sp>
      <p:sp>
        <p:nvSpPr>
          <p:cNvPr id="47" name="Google Shape;1458;p36"/>
          <p:cNvSpPr txBox="1">
            <a:spLocks/>
          </p:cNvSpPr>
          <p:nvPr/>
        </p:nvSpPr>
        <p:spPr>
          <a:xfrm>
            <a:off x="504657" y="1875577"/>
            <a:ext cx="7729652" cy="35521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Font typeface="Arial" panose="020B0604020202020204" pitchFamily="34" charset="0"/>
              <a:buChar char="•"/>
            </a:pPr>
            <a:r>
              <a:rPr lang="ru-RU" sz="2000" dirty="0" smtClean="0">
                <a:latin typeface="Arial" panose="020B0604020202020204" pitchFamily="34" charset="0"/>
                <a:cs typeface="Arial" panose="020B0604020202020204" pitchFamily="34" charset="0"/>
              </a:rPr>
              <a:t>Организован </a:t>
            </a:r>
            <a:r>
              <a:rPr lang="ru-RU" sz="2000" dirty="0" err="1">
                <a:latin typeface="Arial" panose="020B0604020202020204" pitchFamily="34" charset="0"/>
                <a:cs typeface="Arial" panose="020B0604020202020204" pitchFamily="34" charset="0"/>
              </a:rPr>
              <a:t>Git-репозиторий</a:t>
            </a:r>
            <a:r>
              <a:rPr lang="ru-RU" sz="2000" dirty="0">
                <a:latin typeface="Arial" panose="020B0604020202020204" pitchFamily="34" charset="0"/>
                <a:cs typeface="Arial" panose="020B0604020202020204" pitchFamily="34" charset="0"/>
              </a:rPr>
              <a:t> и </a:t>
            </a:r>
            <a:r>
              <a:rPr lang="ru-RU" sz="2000" dirty="0" err="1">
                <a:latin typeface="Arial" panose="020B0604020202020204" pitchFamily="34" charset="0"/>
                <a:cs typeface="Arial" panose="020B0604020202020204" pitchFamily="34" charset="0"/>
              </a:rPr>
              <a:t>Kanban</a:t>
            </a:r>
            <a:r>
              <a:rPr lang="ru-RU" sz="2000" dirty="0">
                <a:latin typeface="Arial" panose="020B0604020202020204" pitchFamily="34" charset="0"/>
                <a:cs typeface="Arial" panose="020B0604020202020204" pitchFamily="34" charset="0"/>
              </a:rPr>
              <a:t>-доска  </a:t>
            </a:r>
          </a:p>
          <a:p>
            <a:pPr marL="342900" indent="-342900">
              <a:spcAft>
                <a:spcPts val="600"/>
              </a:spcAft>
              <a:buFont typeface="Arial" panose="020B0604020202020204" pitchFamily="34" charset="0"/>
              <a:buChar char="•"/>
            </a:pPr>
            <a:r>
              <a:rPr lang="ru-RU" sz="2000" dirty="0" smtClean="0">
                <a:latin typeface="Arial" panose="020B0604020202020204" pitchFamily="34" charset="0"/>
                <a:cs typeface="Arial" panose="020B0604020202020204" pitchFamily="34" charset="0"/>
              </a:rPr>
              <a:t>Определены </a:t>
            </a:r>
            <a:r>
              <a:rPr lang="ru-RU" sz="2000" dirty="0">
                <a:latin typeface="Arial" panose="020B0604020202020204" pitchFamily="34" charset="0"/>
                <a:cs typeface="Arial" panose="020B0604020202020204" pitchFamily="34" charset="0"/>
              </a:rPr>
              <a:t>роли проекта  </a:t>
            </a:r>
          </a:p>
          <a:p>
            <a:pPr marL="342900" indent="-342900">
              <a:spcAft>
                <a:spcPts val="600"/>
              </a:spcAft>
              <a:buFont typeface="Arial" panose="020B0604020202020204" pitchFamily="34" charset="0"/>
              <a:buChar char="•"/>
            </a:pPr>
            <a:r>
              <a:rPr lang="ru-RU" sz="2000" dirty="0" smtClean="0">
                <a:latin typeface="Arial" panose="020B0604020202020204" pitchFamily="34" charset="0"/>
                <a:cs typeface="Arial" panose="020B0604020202020204" pitchFamily="34" charset="0"/>
              </a:rPr>
              <a:t>Согласован </a:t>
            </a:r>
            <a:r>
              <a:rPr lang="ru-RU" sz="2000" dirty="0">
                <a:latin typeface="Arial" panose="020B0604020202020204" pitchFamily="34" charset="0"/>
                <a:cs typeface="Arial" panose="020B0604020202020204" pitchFamily="34" charset="0"/>
              </a:rPr>
              <a:t>и зафиксирован технологический стек  </a:t>
            </a:r>
          </a:p>
          <a:p>
            <a:pPr marL="342900" indent="-342900">
              <a:spcAft>
                <a:spcPts val="600"/>
              </a:spcAft>
              <a:buFont typeface="Arial" panose="020B0604020202020204" pitchFamily="34" charset="0"/>
              <a:buChar char="•"/>
            </a:pPr>
            <a:r>
              <a:rPr lang="ru-RU" sz="2000" dirty="0" smtClean="0">
                <a:latin typeface="Arial" panose="020B0604020202020204" pitchFamily="34" charset="0"/>
                <a:cs typeface="Arial" panose="020B0604020202020204" pitchFamily="34" charset="0"/>
              </a:rPr>
              <a:t>Выполнено </a:t>
            </a:r>
            <a:r>
              <a:rPr lang="ru-RU" sz="2000" dirty="0">
                <a:latin typeface="Arial" panose="020B0604020202020204" pitchFamily="34" charset="0"/>
                <a:cs typeface="Arial" panose="020B0604020202020204" pitchFamily="34" charset="0"/>
              </a:rPr>
              <a:t>задание на нормализацию таблиц БД  </a:t>
            </a:r>
          </a:p>
          <a:p>
            <a:pPr marL="342900" indent="-342900">
              <a:spcAft>
                <a:spcPts val="600"/>
              </a:spcAft>
              <a:buFont typeface="Arial" panose="020B0604020202020204" pitchFamily="34" charset="0"/>
              <a:buChar char="•"/>
            </a:pPr>
            <a:r>
              <a:rPr lang="ru-RU" sz="2000" dirty="0" smtClean="0">
                <a:latin typeface="Arial" panose="020B0604020202020204" pitchFamily="34" charset="0"/>
                <a:cs typeface="Arial" panose="020B0604020202020204" pitchFamily="34" charset="0"/>
              </a:rPr>
              <a:t>Подготовлены </a:t>
            </a:r>
            <a:r>
              <a:rPr lang="ru-RU" sz="2000" dirty="0">
                <a:latin typeface="Arial" panose="020B0604020202020204" pitchFamily="34" charset="0"/>
                <a:cs typeface="Arial" panose="020B0604020202020204" pitchFamily="34" charset="0"/>
              </a:rPr>
              <a:t>2 интерактивных макета интерфейса (UI/UX)  </a:t>
            </a:r>
          </a:p>
          <a:p>
            <a:pPr marL="342900" indent="-342900">
              <a:spcAft>
                <a:spcPts val="600"/>
              </a:spcAft>
              <a:buFont typeface="Arial" panose="020B0604020202020204" pitchFamily="34" charset="0"/>
              <a:buChar char="•"/>
            </a:pPr>
            <a:r>
              <a:rPr lang="ru-RU" sz="2000" dirty="0" smtClean="0">
                <a:latin typeface="Arial" panose="020B0604020202020204" pitchFamily="34" charset="0"/>
                <a:cs typeface="Arial" panose="020B0604020202020204" pitchFamily="34" charset="0"/>
              </a:rPr>
              <a:t>Развёрнута </a:t>
            </a:r>
            <a:r>
              <a:rPr lang="ru-RU" sz="2000" dirty="0">
                <a:latin typeface="Arial" panose="020B0604020202020204" pitchFamily="34" charset="0"/>
                <a:cs typeface="Arial" panose="020B0604020202020204" pitchFamily="34" charset="0"/>
              </a:rPr>
              <a:t>тестовая БД в </a:t>
            </a:r>
            <a:r>
              <a:rPr lang="ru-RU" sz="2000" dirty="0" err="1">
                <a:latin typeface="Arial" panose="020B0604020202020204" pitchFamily="34" charset="0"/>
                <a:cs typeface="Arial" panose="020B0604020202020204" pitchFamily="34" charset="0"/>
              </a:rPr>
              <a:t>Docker</a:t>
            </a:r>
            <a:r>
              <a:rPr lang="ru-RU" sz="2000" dirty="0">
                <a:latin typeface="Arial" panose="020B0604020202020204" pitchFamily="34" charset="0"/>
                <a:cs typeface="Arial" panose="020B0604020202020204" pitchFamily="34" charset="0"/>
              </a:rPr>
              <a:t>-контейнере  </a:t>
            </a:r>
          </a:p>
          <a:p>
            <a:pPr marL="342900" indent="-342900">
              <a:spcAft>
                <a:spcPts val="600"/>
              </a:spcAft>
              <a:buFont typeface="Arial" panose="020B0604020202020204" pitchFamily="34" charset="0"/>
              <a:buChar char="•"/>
            </a:pPr>
            <a:r>
              <a:rPr lang="ru-RU" sz="2000" dirty="0" smtClean="0">
                <a:latin typeface="Arial" panose="020B0604020202020204" pitchFamily="34" charset="0"/>
                <a:cs typeface="Arial" panose="020B0604020202020204" pitchFamily="34" charset="0"/>
              </a:rPr>
              <a:t>Сформирован </a:t>
            </a:r>
            <a:r>
              <a:rPr lang="ru-RU" sz="2000" dirty="0">
                <a:latin typeface="Arial" panose="020B0604020202020204" pitchFamily="34" charset="0"/>
                <a:cs typeface="Arial" panose="020B0604020202020204" pitchFamily="34" charset="0"/>
              </a:rPr>
              <a:t>и ведётся словарь проекта </a:t>
            </a:r>
            <a:endParaRPr lang="ru-RU" sz="2000" dirty="0" smtClean="0">
              <a:latin typeface="Arial" panose="020B0604020202020204" pitchFamily="34" charset="0"/>
              <a:cs typeface="Arial" panose="020B0604020202020204" pitchFamily="34" charset="0"/>
            </a:endParaRPr>
          </a:p>
          <a:p>
            <a:pPr marL="342900" indent="-342900">
              <a:spcAft>
                <a:spcPts val="600"/>
              </a:spcAft>
              <a:buFont typeface="Arial" panose="020B0604020202020204" pitchFamily="34" charset="0"/>
              <a:buChar char="•"/>
            </a:pPr>
            <a:r>
              <a:rPr lang="ru-RU" sz="2000" dirty="0" smtClean="0">
                <a:latin typeface="Arial" panose="020B0604020202020204" pitchFamily="34" charset="0"/>
                <a:cs typeface="Arial" panose="020B0604020202020204" pitchFamily="34" charset="0"/>
              </a:rPr>
              <a:t>Проведено встреч с преподавателем</a:t>
            </a:r>
            <a:endParaRPr lang="ru-RU" sz="2000" dirty="0" smtClean="0">
              <a:latin typeface="Arial" panose="020B0604020202020204" pitchFamily="34" charset="0"/>
              <a:cs typeface="Arial" panose="020B0604020202020204" pitchFamily="34" charset="0"/>
            </a:endParaRPr>
          </a:p>
        </p:txBody>
      </p:sp>
      <p:grpSp>
        <p:nvGrpSpPr>
          <p:cNvPr id="48" name="Google Shape;11434;p78"/>
          <p:cNvGrpSpPr>
            <a:grpSpLocks noChangeAspect="1"/>
          </p:cNvGrpSpPr>
          <p:nvPr/>
        </p:nvGrpSpPr>
        <p:grpSpPr>
          <a:xfrm>
            <a:off x="3463250" y="1432377"/>
            <a:ext cx="467623" cy="405355"/>
            <a:chOff x="852385" y="1510916"/>
            <a:chExt cx="353145" cy="351998"/>
          </a:xfrm>
          <a:solidFill>
            <a:schemeClr val="tx2"/>
          </a:solidFill>
        </p:grpSpPr>
        <p:sp>
          <p:nvSpPr>
            <p:cNvPr id="50"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062292015"/>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651278"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651278" y="2071735"/>
            <a:ext cx="3757694" cy="367472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Проработаны диаграммы </a:t>
            </a:r>
            <a:r>
              <a:rPr lang="ru-RU" sz="1800" dirty="0">
                <a:latin typeface="Arial" panose="020B0604020202020204" pitchFamily="34" charset="0"/>
                <a:cs typeface="Arial" panose="020B0604020202020204" pitchFamily="34" charset="0"/>
              </a:rPr>
              <a:t>в </a:t>
            </a:r>
            <a:r>
              <a:rPr lang="ru-RU" sz="1800" dirty="0" err="1">
                <a:latin typeface="Arial" panose="020B0604020202020204" pitchFamily="34" charset="0"/>
                <a:cs typeface="Arial" panose="020B0604020202020204" pitchFamily="34" charset="0"/>
              </a:rPr>
              <a:t>Archimate</a:t>
            </a:r>
            <a:endParaRPr lang="ru-RU" sz="1800" dirty="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диаграмма </a:t>
            </a:r>
            <a:r>
              <a:rPr lang="en-US" sz="1800" smtClean="0">
                <a:latin typeface="Arial" panose="020B0604020202020204" pitchFamily="34" charset="0"/>
                <a:cs typeface="Arial" panose="020B0604020202020204" pitchFamily="34" charset="0"/>
              </a:rPr>
              <a:t>C4</a:t>
            </a:r>
            <a:endParaRPr lang="ru-RU" sz="180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Проведена предварительная аналитика </a:t>
            </a:r>
            <a:r>
              <a:rPr lang="ru-RU" sz="1800" dirty="0">
                <a:latin typeface="Arial" panose="020B0604020202020204" pitchFamily="34" charset="0"/>
                <a:cs typeface="Arial" panose="020B0604020202020204" pitchFamily="34" charset="0"/>
              </a:rPr>
              <a:t>прошедших </a:t>
            </a:r>
            <a:r>
              <a:rPr lang="ru-RU" sz="1800" dirty="0" smtClean="0">
                <a:latin typeface="Arial" panose="020B0604020202020204" pitchFamily="34" charset="0"/>
                <a:cs typeface="Arial" panose="020B0604020202020204" pitchFamily="34" charset="0"/>
              </a:rPr>
              <a:t>спринтов</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презентация </a:t>
            </a:r>
            <a:r>
              <a:rPr lang="ru-RU" sz="1800" dirty="0">
                <a:latin typeface="Arial" panose="020B0604020202020204" pitchFamily="34" charset="0"/>
                <a:cs typeface="Arial" panose="020B0604020202020204" pitchFamily="34" charset="0"/>
              </a:rPr>
              <a:t>по </a:t>
            </a:r>
            <a:r>
              <a:rPr lang="ru-RU" sz="1800" dirty="0" smtClean="0">
                <a:latin typeface="Arial" panose="020B0604020202020204" pitchFamily="34" charset="0"/>
                <a:cs typeface="Arial" panose="020B0604020202020204" pitchFamily="34" charset="0"/>
              </a:rPr>
              <a:t>итогам </a:t>
            </a:r>
            <a:r>
              <a:rPr lang="ru-RU" sz="1800" dirty="0">
                <a:latin typeface="Arial" panose="020B0604020202020204" pitchFamily="34" charset="0"/>
                <a:cs typeface="Arial" panose="020B0604020202020204" pitchFamily="34" charset="0"/>
              </a:rPr>
              <a:t>спринта</a:t>
            </a:r>
          </a:p>
        </p:txBody>
      </p:sp>
      <p:sp>
        <p:nvSpPr>
          <p:cNvPr id="25" name="Google Shape;1462;p36"/>
          <p:cNvSpPr txBox="1">
            <a:spLocks/>
          </p:cNvSpPr>
          <p:nvPr/>
        </p:nvSpPr>
        <p:spPr>
          <a:xfrm>
            <a:off x="651278" y="1111697"/>
            <a:ext cx="700778"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16" name="Google Shape;1457;p36"/>
          <p:cNvSpPr txBox="1">
            <a:spLocks/>
          </p:cNvSpPr>
          <p:nvPr/>
        </p:nvSpPr>
        <p:spPr>
          <a:xfrm>
            <a:off x="4696170"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17" name="Google Shape;1458;p36"/>
          <p:cNvSpPr txBox="1">
            <a:spLocks/>
          </p:cNvSpPr>
          <p:nvPr/>
        </p:nvSpPr>
        <p:spPr>
          <a:xfrm>
            <a:off x="4696169" y="2071735"/>
            <a:ext cx="4036769" cy="191303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a:t>
            </a:r>
          </a:p>
        </p:txBody>
      </p:sp>
      <p:sp>
        <p:nvSpPr>
          <p:cNvPr id="18" name="Google Shape;1462;p36"/>
          <p:cNvSpPr txBox="1">
            <a:spLocks/>
          </p:cNvSpPr>
          <p:nvPr/>
        </p:nvSpPr>
        <p:spPr>
          <a:xfrm>
            <a:off x="4696170" y="1111697"/>
            <a:ext cx="695906"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a:t>
            </a:r>
            <a:r>
              <a:rPr lang="ru-RU" sz="3200" dirty="0" smtClean="0"/>
              <a:t>2</a:t>
            </a:r>
            <a:endParaRPr lang="en" sz="3200" dirty="0"/>
          </a:p>
        </p:txBody>
      </p:sp>
      <p:grpSp>
        <p:nvGrpSpPr>
          <p:cNvPr id="19" name="Google Shape;11157;p78"/>
          <p:cNvGrpSpPr/>
          <p:nvPr/>
        </p:nvGrpSpPr>
        <p:grpSpPr>
          <a:xfrm>
            <a:off x="5456934" y="1251365"/>
            <a:ext cx="198775" cy="348972"/>
            <a:chOff x="2487439" y="4280740"/>
            <a:chExt cx="198775" cy="348972"/>
          </a:xfrm>
          <a:solidFill>
            <a:schemeClr val="tx2"/>
          </a:solidFill>
        </p:grpSpPr>
        <p:sp>
          <p:nvSpPr>
            <p:cNvPr id="20"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0994;p77"/>
          <p:cNvGrpSpPr/>
          <p:nvPr/>
        </p:nvGrpSpPr>
        <p:grpSpPr>
          <a:xfrm>
            <a:off x="1356008" y="1273520"/>
            <a:ext cx="361289" cy="269429"/>
            <a:chOff x="5216456" y="3725484"/>
            <a:chExt cx="356196" cy="265631"/>
          </a:xfrm>
          <a:solidFill>
            <a:schemeClr val="tx2"/>
          </a:solidFill>
        </p:grpSpPr>
        <p:sp>
          <p:nvSpPr>
            <p:cNvPr id="31"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7" y="153772"/>
            <a:ext cx="5226044"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Выполнены все запланированные задачи</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Проведено собрание с преподавателем для обсуждения работы</a:t>
            </a:r>
            <a:endParaRPr lang="en-US" sz="1300" dirty="0" smtClean="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Провести большое общее собрание команды</a:t>
            </a: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77061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Не удалось провести общее собрание команды с целью обсуждения итоговой архитектуры проекта</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4907399"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solidFill>
                  <a:schemeClr val="tx1"/>
                </a:solidFill>
              </a:rPr>
              <a:t>Спасибо</a:t>
            </a:r>
            <a:r>
              <a:rPr lang="ru-RU" dirty="0" smtClean="0"/>
              <a:t>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361975" y="3628499"/>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grpSp>
        <p:nvGrpSpPr>
          <p:cNvPr id="109" name="Google Shape;15163;p86"/>
          <p:cNvGrpSpPr>
            <a:grpSpLocks noChangeAspect="1"/>
          </p:cNvGrpSpPr>
          <p:nvPr/>
        </p:nvGrpSpPr>
        <p:grpSpPr>
          <a:xfrm>
            <a:off x="3693773" y="4061468"/>
            <a:ext cx="339500" cy="361250"/>
            <a:chOff x="2510400" y="4141325"/>
            <a:chExt cx="339500" cy="361250"/>
          </a:xfrm>
          <a:solidFill>
            <a:schemeClr val="tx2"/>
          </a:solidFill>
        </p:grpSpPr>
        <p:sp>
          <p:nvSpPr>
            <p:cNvPr id="110"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 name="Google Shape;15165;p86"/>
            <p:cNvGrpSpPr/>
            <p:nvPr/>
          </p:nvGrpSpPr>
          <p:grpSpPr>
            <a:xfrm>
              <a:off x="2548975" y="4180400"/>
              <a:ext cx="260800" cy="179300"/>
              <a:chOff x="2548975" y="4180400"/>
              <a:chExt cx="260800" cy="179300"/>
            </a:xfrm>
            <a:grpFill/>
          </p:grpSpPr>
          <p:sp>
            <p:nvSpPr>
              <p:cNvPr id="113"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Можно закончить презентацию</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476719" y="151086"/>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Архитектура</a:t>
            </a:r>
            <a:endParaRPr dirty="0"/>
          </a:p>
        </p:txBody>
      </p:sp>
      <p:sp>
        <p:nvSpPr>
          <p:cNvPr id="1522" name="Google Shape;1522;p38"/>
          <p:cNvSpPr txBox="1">
            <a:spLocks noGrp="1"/>
          </p:cNvSpPr>
          <p:nvPr>
            <p:ph type="subTitle" idx="2"/>
          </p:nvPr>
        </p:nvSpPr>
        <p:spPr>
          <a:xfrm>
            <a:off x="476719" y="827290"/>
            <a:ext cx="8065200" cy="1642345"/>
          </a:xfrm>
          <a:prstGeom prst="rect">
            <a:avLst/>
          </a:prstGeom>
        </p:spPr>
        <p:txBody>
          <a:bodyPr spcFirstLastPara="1" wrap="square" lIns="91425" tIns="91425" rIns="91425" bIns="91425" anchor="t" anchorCtr="0">
            <a:noAutofit/>
          </a:bodyPr>
          <a:lstStyle/>
          <a:p>
            <a:pPr marL="0" lvl="0" indent="0"/>
            <a:r>
              <a:rPr lang="ru-RU" sz="2800" b="1" dirty="0">
                <a:latin typeface="+mn-lt"/>
              </a:rPr>
              <a:t>Клиент-серверная</a:t>
            </a:r>
            <a:r>
              <a:rPr lang="ru-RU" sz="2800" dirty="0">
                <a:latin typeface="+mn-lt"/>
              </a:rPr>
              <a:t> </a:t>
            </a:r>
            <a:r>
              <a:rPr lang="ru-RU" sz="2800" dirty="0" smtClean="0">
                <a:latin typeface="+mn-lt"/>
              </a:rPr>
              <a:t>архитектура </a:t>
            </a:r>
            <a:r>
              <a:rPr lang="ru-RU" sz="2800" dirty="0">
                <a:latin typeface="+mn-lt"/>
              </a:rPr>
              <a:t>с </a:t>
            </a:r>
            <a:r>
              <a:rPr lang="ru-RU" sz="2800" b="1" dirty="0" smtClean="0">
                <a:latin typeface="+mn-lt"/>
              </a:rPr>
              <a:t>компонентной</a:t>
            </a:r>
            <a:r>
              <a:rPr lang="ru-RU" sz="2800" dirty="0" smtClean="0">
                <a:latin typeface="+mn-lt"/>
              </a:rPr>
              <a:t> </a:t>
            </a:r>
            <a:r>
              <a:rPr lang="ru-RU" sz="2800" dirty="0">
                <a:latin typeface="+mn-lt"/>
              </a:rPr>
              <a:t>организацией серверного </a:t>
            </a:r>
            <a:r>
              <a:rPr lang="ru-RU" sz="2800" dirty="0" smtClean="0">
                <a:latin typeface="+mn-lt"/>
              </a:rPr>
              <a:t>приложения</a:t>
            </a:r>
            <a:endParaRPr sz="2800" dirty="0">
              <a:latin typeface="+mn-lt"/>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 name="Google Shape;1656;p41"/>
          <p:cNvSpPr txBox="1">
            <a:spLocks noGrp="1"/>
          </p:cNvSpPr>
          <p:nvPr>
            <p:ph type="subTitle" idx="4294967295"/>
          </p:nvPr>
        </p:nvSpPr>
        <p:spPr>
          <a:xfrm>
            <a:off x="6030838" y="3575536"/>
            <a:ext cx="1981800" cy="402300"/>
          </a:xfrm>
          <a:prstGeom prst="rect">
            <a:avLst/>
          </a:prstGeom>
        </p:spPr>
        <p:txBody>
          <a:bodyPr spcFirstLastPara="1" wrap="square" lIns="91425" tIns="91425" rIns="91425" bIns="91425" anchor="b" anchorCtr="0">
            <a:noAutofit/>
          </a:bodyPr>
          <a:lstStyle/>
          <a:p>
            <a:pPr marL="139700" lvl="0" indent="0">
              <a:buNone/>
            </a:pPr>
            <a:r>
              <a:rPr lang="ru-RU" sz="1600" b="1" dirty="0" smtClean="0">
                <a:latin typeface="+mn-lt"/>
              </a:rPr>
              <a:t>Компонентная</a:t>
            </a:r>
            <a:endParaRPr sz="1600" b="1" dirty="0">
              <a:latin typeface="+mn-lt"/>
            </a:endParaRPr>
          </a:p>
        </p:txBody>
      </p:sp>
      <p:sp>
        <p:nvSpPr>
          <p:cNvPr id="13" name="Google Shape;1657;p41"/>
          <p:cNvSpPr txBox="1">
            <a:spLocks noGrp="1"/>
          </p:cNvSpPr>
          <p:nvPr>
            <p:ph type="subTitle" idx="1"/>
          </p:nvPr>
        </p:nvSpPr>
        <p:spPr>
          <a:xfrm>
            <a:off x="476719" y="3897912"/>
            <a:ext cx="2327431" cy="1477524"/>
          </a:xfrm>
          <a:prstGeom prst="rect">
            <a:avLst/>
          </a:prstGeom>
        </p:spPr>
        <p:txBody>
          <a:bodyPr spcFirstLastPara="1" wrap="square" lIns="91425" tIns="91425" rIns="91425" bIns="91425" anchor="t" anchorCtr="0">
            <a:noAutofit/>
          </a:bodyPr>
          <a:lstStyle/>
          <a:p>
            <a:pPr marL="0" lvl="0" indent="0"/>
            <a:r>
              <a:rPr lang="ru-RU" sz="1600" dirty="0" smtClean="0">
                <a:latin typeface="+mn-lt"/>
              </a:rPr>
              <a:t>Браузер </a:t>
            </a:r>
            <a:r>
              <a:rPr lang="ru-RU" sz="1600" dirty="0">
                <a:latin typeface="+mn-lt"/>
              </a:rPr>
              <a:t>(клиент) инициирует запросы, </a:t>
            </a:r>
            <a:r>
              <a:rPr lang="ru-RU" sz="1600" dirty="0" err="1">
                <a:latin typeface="+mn-lt"/>
              </a:rPr>
              <a:t>бэкенд</a:t>
            </a:r>
            <a:r>
              <a:rPr lang="ru-RU" sz="1600" dirty="0">
                <a:latin typeface="+mn-lt"/>
              </a:rPr>
              <a:t> (сервер) отвечает</a:t>
            </a:r>
            <a:endParaRPr sz="1600" dirty="0">
              <a:latin typeface="+mn-lt"/>
            </a:endParaRPr>
          </a:p>
        </p:txBody>
      </p:sp>
      <p:sp>
        <p:nvSpPr>
          <p:cNvPr id="14" name="Google Shape;1658;p41"/>
          <p:cNvSpPr txBox="1">
            <a:spLocks/>
          </p:cNvSpPr>
          <p:nvPr/>
        </p:nvSpPr>
        <p:spPr>
          <a:xfrm>
            <a:off x="3116624" y="3897910"/>
            <a:ext cx="2648532" cy="1497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285750" indent="-285750">
              <a:buFont typeface="Arial" panose="020B0604020202020204" pitchFamily="34" charset="0"/>
              <a:buChar char="•"/>
            </a:pPr>
            <a:r>
              <a:rPr lang="en-US" sz="1600" dirty="0" smtClean="0">
                <a:latin typeface="+mn-lt"/>
              </a:rPr>
              <a:t>Presentation </a:t>
            </a:r>
            <a:r>
              <a:rPr lang="en-US" sz="1600" dirty="0">
                <a:latin typeface="+mn-lt"/>
              </a:rPr>
              <a:t>(</a:t>
            </a:r>
            <a:r>
              <a:rPr lang="ru-RU" sz="1600" dirty="0">
                <a:latin typeface="+mn-lt"/>
              </a:rPr>
              <a:t>браузер, </a:t>
            </a:r>
            <a:r>
              <a:rPr lang="ru-RU" sz="1600" dirty="0" err="1">
                <a:latin typeface="+mn-lt"/>
              </a:rPr>
              <a:t>фронтенд</a:t>
            </a:r>
            <a:r>
              <a:rPr lang="ru-RU" sz="1600" dirty="0">
                <a:latin typeface="+mn-lt"/>
              </a:rPr>
              <a:t>)</a:t>
            </a:r>
          </a:p>
          <a:p>
            <a:pPr marL="285750" indent="-285750">
              <a:buFont typeface="Arial" panose="020B0604020202020204" pitchFamily="34" charset="0"/>
              <a:buChar char="•"/>
            </a:pPr>
            <a:r>
              <a:rPr lang="en-US" sz="1600" dirty="0">
                <a:latin typeface="+mn-lt"/>
              </a:rPr>
              <a:t>Application (</a:t>
            </a:r>
            <a:r>
              <a:rPr lang="ru-RU" sz="1600" dirty="0" err="1">
                <a:latin typeface="+mn-lt"/>
              </a:rPr>
              <a:t>бэкенд</a:t>
            </a:r>
            <a:r>
              <a:rPr lang="ru-RU" sz="1600" dirty="0">
                <a:latin typeface="+mn-lt"/>
              </a:rPr>
              <a:t> с бизнес-логикой)</a:t>
            </a:r>
          </a:p>
          <a:p>
            <a:pPr marL="285750" indent="-285750">
              <a:buFont typeface="Arial" panose="020B0604020202020204" pitchFamily="34" charset="0"/>
              <a:buChar char="•"/>
            </a:pPr>
            <a:r>
              <a:rPr lang="en-US" sz="1600" dirty="0">
                <a:latin typeface="+mn-lt"/>
              </a:rPr>
              <a:t>Data (</a:t>
            </a:r>
            <a:r>
              <a:rPr lang="ru-RU" sz="1600" dirty="0">
                <a:latin typeface="+mn-lt"/>
              </a:rPr>
              <a:t>СУБД)</a:t>
            </a:r>
            <a:endParaRPr lang="en-US" sz="1600" dirty="0">
              <a:latin typeface="+mn-lt"/>
            </a:endParaRPr>
          </a:p>
        </p:txBody>
      </p:sp>
      <p:sp>
        <p:nvSpPr>
          <p:cNvPr id="15" name="Google Shape;1659;p41"/>
          <p:cNvSpPr txBox="1">
            <a:spLocks/>
          </p:cNvSpPr>
          <p:nvPr/>
        </p:nvSpPr>
        <p:spPr>
          <a:xfrm>
            <a:off x="6205694" y="3897911"/>
            <a:ext cx="2602745" cy="149716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dirty="0">
                <a:latin typeface="+mn-lt"/>
              </a:rPr>
              <a:t>Код </a:t>
            </a:r>
            <a:r>
              <a:rPr lang="ru-RU" sz="1600" dirty="0" err="1">
                <a:latin typeface="+mn-lt"/>
              </a:rPr>
              <a:t>backend</a:t>
            </a:r>
            <a:r>
              <a:rPr lang="ru-RU" sz="1600" dirty="0">
                <a:latin typeface="+mn-lt"/>
              </a:rPr>
              <a:t> разделён на компоненты с чёткими интерфейсами и ограниченной зоной ответственности.</a:t>
            </a:r>
            <a:endParaRPr lang="en-US" sz="1600" dirty="0">
              <a:latin typeface="+mn-lt"/>
            </a:endParaRPr>
          </a:p>
        </p:txBody>
      </p:sp>
      <p:sp>
        <p:nvSpPr>
          <p:cNvPr id="16" name="Google Shape;1660;p41"/>
          <p:cNvSpPr txBox="1">
            <a:spLocks/>
          </p:cNvSpPr>
          <p:nvPr/>
        </p:nvSpPr>
        <p:spPr>
          <a:xfrm>
            <a:off x="476720" y="3571812"/>
            <a:ext cx="2199368" cy="4023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b="1" dirty="0" smtClean="0">
                <a:latin typeface="+mn-lt"/>
              </a:rPr>
              <a:t>Клиент-серверная</a:t>
            </a:r>
            <a:endParaRPr lang="en-US" sz="1600" b="1" dirty="0">
              <a:latin typeface="+mn-lt"/>
            </a:endParaRPr>
          </a:p>
        </p:txBody>
      </p:sp>
      <p:sp>
        <p:nvSpPr>
          <p:cNvPr id="17" name="Google Shape;1661;p41"/>
          <p:cNvSpPr txBox="1">
            <a:spLocks/>
          </p:cNvSpPr>
          <p:nvPr/>
        </p:nvSpPr>
        <p:spPr>
          <a:xfrm>
            <a:off x="3116623" y="3571812"/>
            <a:ext cx="1981800" cy="4023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b="1" dirty="0" smtClean="0">
                <a:latin typeface="+mn-lt"/>
              </a:rPr>
              <a:t>Трёхзвенная</a:t>
            </a:r>
            <a:endParaRPr lang="en-US" sz="1600" b="1" dirty="0">
              <a:latin typeface="+mn-lt"/>
            </a:endParaRPr>
          </a:p>
        </p:txBody>
      </p:sp>
      <p:grpSp>
        <p:nvGrpSpPr>
          <p:cNvPr id="73" name="Google Shape;14166;p83"/>
          <p:cNvGrpSpPr>
            <a:grpSpLocks noChangeAspect="1"/>
          </p:cNvGrpSpPr>
          <p:nvPr/>
        </p:nvGrpSpPr>
        <p:grpSpPr>
          <a:xfrm>
            <a:off x="539399" y="3030246"/>
            <a:ext cx="450445" cy="531333"/>
            <a:chOff x="859265" y="3348175"/>
            <a:chExt cx="312316" cy="368400"/>
          </a:xfrm>
          <a:solidFill>
            <a:schemeClr val="tx2"/>
          </a:solidFill>
        </p:grpSpPr>
        <p:sp>
          <p:nvSpPr>
            <p:cNvPr id="74"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 name="Google Shape;14472;p83"/>
          <p:cNvSpPr>
            <a:spLocks noChangeAspect="1"/>
          </p:cNvSpPr>
          <p:nvPr/>
        </p:nvSpPr>
        <p:spPr>
          <a:xfrm>
            <a:off x="6304130" y="3102159"/>
            <a:ext cx="469611" cy="469653"/>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 name="Google Shape;13648;p81"/>
          <p:cNvGrpSpPr>
            <a:grpSpLocks noChangeAspect="1"/>
          </p:cNvGrpSpPr>
          <p:nvPr/>
        </p:nvGrpSpPr>
        <p:grpSpPr>
          <a:xfrm>
            <a:off x="3185900" y="3030246"/>
            <a:ext cx="475008" cy="544203"/>
            <a:chOff x="859262" y="3353920"/>
            <a:chExt cx="306759" cy="351445"/>
          </a:xfrm>
          <a:solidFill>
            <a:schemeClr val="tx2"/>
          </a:solidFill>
        </p:grpSpPr>
        <p:sp>
          <p:nvSpPr>
            <p:cNvPr id="81"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Роли пользователей</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122836804"/>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Только чтение, не может менять данные и не имеет места в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Работает только с вызванным клиентом. Видит очередь и информацию о текущем клиенте, фиксирует результат обслуживания.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 Робот</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текущим состоянием существующей очереди, не обязательно обслуживает. Может вызывать, перемещать и удалять любого клиента в очереди.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конфигурацией очереди. Инициализирует новую очередь, настраивает её поведение, закрывает сессию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8" name="Google Shape;1628;p40"/>
          <p:cNvSpPr txBox="1">
            <a:spLocks noGrp="1"/>
          </p:cNvSpPr>
          <p:nvPr>
            <p:ph type="title"/>
          </p:nvPr>
        </p:nvSpPr>
        <p:spPr>
          <a:xfrm>
            <a:off x="332367" y="6627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Словарь</a:t>
            </a:r>
            <a:endParaRPr dirty="0"/>
          </a:p>
        </p:txBody>
      </p:sp>
      <p:pic>
        <p:nvPicPr>
          <p:cNvPr id="2" name="Рисунок 1"/>
          <p:cNvPicPr>
            <a:picLocks noChangeAspect="1"/>
          </p:cNvPicPr>
          <p:nvPr/>
        </p:nvPicPr>
        <p:blipFill>
          <a:blip r:embed="rId3"/>
          <a:stretch>
            <a:fillRect/>
          </a:stretch>
        </p:blipFill>
        <p:spPr>
          <a:xfrm>
            <a:off x="0" y="1640457"/>
            <a:ext cx="9144000" cy="3320566"/>
          </a:xfrm>
          <a:prstGeom prst="rect">
            <a:avLst/>
          </a:prstGeom>
        </p:spPr>
      </p:pic>
    </p:spTree>
    <p:extLst>
      <p:ext uri="{BB962C8B-B14F-4D97-AF65-F5344CB8AC3E}">
        <p14:creationId xmlns:p14="http://schemas.microsoft.com/office/powerpoint/2010/main" val="248783800"/>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001087" y="1679447"/>
            <a:ext cx="1591404" cy="572700"/>
          </a:xfrm>
          <a:prstGeom prst="rect">
            <a:avLst/>
          </a:prstGeom>
        </p:spPr>
        <p:txBody>
          <a:bodyPr spcFirstLastPara="1" wrap="square" lIns="91425" tIns="91425" rIns="91425" bIns="91425" anchor="t" anchorCtr="0">
            <a:noAutofit/>
          </a:bodyPr>
          <a:lstStyle/>
          <a:p>
            <a:pPr marL="0" lvl="0" indent="0"/>
            <a:r>
              <a:rPr lang="en-US" dirty="0"/>
              <a:t>Frontend</a:t>
            </a:r>
            <a:endParaRPr dirty="0"/>
          </a:p>
        </p:txBody>
      </p:sp>
      <p:sp>
        <p:nvSpPr>
          <p:cNvPr id="1750" name="Google Shape;1750;p44"/>
          <p:cNvSpPr txBox="1">
            <a:spLocks noGrp="1"/>
          </p:cNvSpPr>
          <p:nvPr>
            <p:ph type="subTitle" idx="2"/>
          </p:nvPr>
        </p:nvSpPr>
        <p:spPr>
          <a:xfrm>
            <a:off x="4579703" y="3464340"/>
            <a:ext cx="1515903" cy="572700"/>
          </a:xfrm>
          <a:prstGeom prst="rect">
            <a:avLst/>
          </a:prstGeom>
        </p:spPr>
        <p:txBody>
          <a:bodyPr spcFirstLastPara="1" wrap="square" lIns="91425" tIns="91425" rIns="91425" bIns="91425" anchor="t" anchorCtr="0">
            <a:noAutofit/>
          </a:bodyPr>
          <a:lstStyle/>
          <a:p>
            <a:pPr marL="0" lvl="0" indent="0"/>
            <a:r>
              <a:rPr lang="en-US" dirty="0"/>
              <a:t>D</a:t>
            </a:r>
            <a:r>
              <a:rPr lang="en-US" dirty="0" smtClean="0"/>
              <a:t>atabase</a:t>
            </a:r>
            <a:endParaRPr dirty="0"/>
          </a:p>
        </p:txBody>
      </p:sp>
      <p:sp>
        <p:nvSpPr>
          <p:cNvPr id="1751" name="Google Shape;1751;p44"/>
          <p:cNvSpPr txBox="1">
            <a:spLocks noGrp="1"/>
          </p:cNvSpPr>
          <p:nvPr>
            <p:ph type="subTitle" idx="8"/>
          </p:nvPr>
        </p:nvSpPr>
        <p:spPr>
          <a:xfrm>
            <a:off x="4579704" y="3138231"/>
            <a:ext cx="1725627" cy="402300"/>
          </a:xfrm>
          <a:prstGeom prst="rect">
            <a:avLst/>
          </a:prstGeom>
        </p:spPr>
        <p:txBody>
          <a:bodyPr spcFirstLastPara="1" wrap="square" lIns="91425" tIns="91425" rIns="91425" bIns="91425" anchor="b" anchorCtr="0">
            <a:noAutofit/>
          </a:bodyPr>
          <a:lstStyle/>
          <a:p>
            <a:pPr marL="0" lvl="0" indent="0"/>
            <a:r>
              <a:rPr lang="en-US" dirty="0"/>
              <a:t>PostgreSQL</a:t>
            </a:r>
            <a:endParaRPr dirty="0"/>
          </a:p>
        </p:txBody>
      </p:sp>
      <p:sp>
        <p:nvSpPr>
          <p:cNvPr id="1752" name="Google Shape;1752;p44"/>
          <p:cNvSpPr txBox="1">
            <a:spLocks noGrp="1"/>
          </p:cNvSpPr>
          <p:nvPr>
            <p:ph type="title"/>
          </p:nvPr>
        </p:nvSpPr>
        <p:spPr>
          <a:xfrm>
            <a:off x="354843" y="252828"/>
            <a:ext cx="8065200" cy="572700"/>
          </a:xfrm>
          <a:prstGeom prst="rect">
            <a:avLst/>
          </a:prstGeom>
        </p:spPr>
        <p:txBody>
          <a:bodyPr spcFirstLastPara="1" wrap="square" lIns="91425" tIns="91425" rIns="91425" bIns="91425" anchor="t" anchorCtr="0">
            <a:noAutofit/>
          </a:bodyPr>
          <a:lstStyle/>
          <a:p>
            <a:pPr lvl="0"/>
            <a:r>
              <a:rPr lang="ru-RU" dirty="0" smtClean="0"/>
              <a:t>Выбор технологического стека</a:t>
            </a:r>
            <a:endParaRPr dirty="0"/>
          </a:p>
        </p:txBody>
      </p:sp>
      <p:sp>
        <p:nvSpPr>
          <p:cNvPr id="1753" name="Google Shape;1753;p44"/>
          <p:cNvSpPr txBox="1">
            <a:spLocks noGrp="1"/>
          </p:cNvSpPr>
          <p:nvPr>
            <p:ph type="subTitle" idx="3"/>
          </p:nvPr>
        </p:nvSpPr>
        <p:spPr>
          <a:xfrm>
            <a:off x="4464758" y="1985590"/>
            <a:ext cx="1273311" cy="572700"/>
          </a:xfrm>
          <a:prstGeom prst="rect">
            <a:avLst/>
          </a:prstGeom>
        </p:spPr>
        <p:txBody>
          <a:bodyPr spcFirstLastPara="1" wrap="square" lIns="91425" tIns="91425" rIns="91425" bIns="91425" anchor="t" anchorCtr="0">
            <a:noAutofit/>
          </a:bodyPr>
          <a:lstStyle/>
          <a:p>
            <a:pPr marL="0" lvl="0" indent="0"/>
            <a:r>
              <a:rPr lang="en-US" dirty="0"/>
              <a:t>Backend</a:t>
            </a:r>
            <a:endParaRPr dirty="0"/>
          </a:p>
        </p:txBody>
      </p:sp>
      <p:sp>
        <p:nvSpPr>
          <p:cNvPr id="1754" name="Google Shape;1754;p44"/>
          <p:cNvSpPr txBox="1">
            <a:spLocks noGrp="1"/>
          </p:cNvSpPr>
          <p:nvPr>
            <p:ph type="subTitle" idx="4"/>
          </p:nvPr>
        </p:nvSpPr>
        <p:spPr>
          <a:xfrm>
            <a:off x="810471" y="5244346"/>
            <a:ext cx="1273311" cy="572700"/>
          </a:xfrm>
          <a:prstGeom prst="rect">
            <a:avLst/>
          </a:prstGeom>
        </p:spPr>
        <p:txBody>
          <a:bodyPr spcFirstLastPara="1" wrap="square" lIns="91425" tIns="91425" rIns="91425" bIns="91425" anchor="t" anchorCtr="0">
            <a:noAutofit/>
          </a:bodyPr>
          <a:lstStyle/>
          <a:p>
            <a:pPr marL="0" lvl="0" indent="0"/>
            <a:r>
              <a:rPr lang="en-US" dirty="0"/>
              <a:t>Web Server</a:t>
            </a:r>
            <a:endParaRPr dirty="0"/>
          </a:p>
        </p:txBody>
      </p:sp>
      <p:sp>
        <p:nvSpPr>
          <p:cNvPr id="1755" name="Google Shape;1755;p44"/>
          <p:cNvSpPr txBox="1">
            <a:spLocks noGrp="1"/>
          </p:cNvSpPr>
          <p:nvPr>
            <p:ph type="subTitle" idx="5"/>
          </p:nvPr>
        </p:nvSpPr>
        <p:spPr>
          <a:xfrm>
            <a:off x="4579703" y="5264139"/>
            <a:ext cx="1720667" cy="572700"/>
          </a:xfrm>
          <a:prstGeom prst="rect">
            <a:avLst/>
          </a:prstGeom>
        </p:spPr>
        <p:txBody>
          <a:bodyPr spcFirstLastPara="1" wrap="square" lIns="91425" tIns="91425" rIns="91425" bIns="91425" anchor="t" anchorCtr="0">
            <a:noAutofit/>
          </a:bodyPr>
          <a:lstStyle/>
          <a:p>
            <a:pPr marL="0" lvl="0" indent="0"/>
            <a:r>
              <a:rPr lang="en-US" dirty="0"/>
              <a:t>Containerization</a:t>
            </a:r>
            <a:endParaRPr dirty="0"/>
          </a:p>
        </p:txBody>
      </p:sp>
      <p:sp>
        <p:nvSpPr>
          <p:cNvPr id="1757" name="Google Shape;1757;p44"/>
          <p:cNvSpPr txBox="1">
            <a:spLocks noGrp="1"/>
          </p:cNvSpPr>
          <p:nvPr>
            <p:ph type="subTitle" idx="7"/>
          </p:nvPr>
        </p:nvSpPr>
        <p:spPr>
          <a:xfrm>
            <a:off x="1001087" y="1353338"/>
            <a:ext cx="1591404" cy="402300"/>
          </a:xfrm>
          <a:prstGeom prst="rect">
            <a:avLst/>
          </a:prstGeom>
        </p:spPr>
        <p:txBody>
          <a:bodyPr spcFirstLastPara="1" wrap="square" lIns="91425" tIns="91425" rIns="91425" bIns="91425" anchor="b" anchorCtr="0">
            <a:noAutofit/>
          </a:bodyPr>
          <a:lstStyle/>
          <a:p>
            <a:pPr marL="0" lvl="0" indent="0"/>
            <a:r>
              <a:rPr lang="en-US" dirty="0" smtClean="0"/>
              <a:t>Vue.js</a:t>
            </a:r>
            <a:endParaRPr dirty="0"/>
          </a:p>
        </p:txBody>
      </p:sp>
      <p:sp>
        <p:nvSpPr>
          <p:cNvPr id="1758" name="Google Shape;1758;p44"/>
          <p:cNvSpPr txBox="1">
            <a:spLocks noGrp="1"/>
          </p:cNvSpPr>
          <p:nvPr>
            <p:ph type="subTitle" idx="9"/>
          </p:nvPr>
        </p:nvSpPr>
        <p:spPr>
          <a:xfrm>
            <a:off x="4464758" y="1229876"/>
            <a:ext cx="1515903" cy="831915"/>
          </a:xfrm>
          <a:prstGeom prst="rect">
            <a:avLst/>
          </a:prstGeom>
        </p:spPr>
        <p:txBody>
          <a:bodyPr spcFirstLastPara="1" wrap="square" lIns="91425" tIns="91425" rIns="91425" bIns="91425" anchor="b" anchorCtr="0">
            <a:noAutofit/>
          </a:bodyPr>
          <a:lstStyle/>
          <a:p>
            <a:pPr marL="0" lvl="0" indent="0"/>
            <a:r>
              <a:rPr lang="en-US" dirty="0"/>
              <a:t>Python + </a:t>
            </a:r>
            <a:r>
              <a:rPr lang="en-US" dirty="0" err="1"/>
              <a:t>FastAPI</a:t>
            </a:r>
            <a:endParaRPr dirty="0"/>
          </a:p>
        </p:txBody>
      </p:sp>
      <p:sp>
        <p:nvSpPr>
          <p:cNvPr id="1759" name="Google Shape;1759;p44"/>
          <p:cNvSpPr txBox="1">
            <a:spLocks noGrp="1"/>
          </p:cNvSpPr>
          <p:nvPr>
            <p:ph type="subTitle" idx="13"/>
          </p:nvPr>
        </p:nvSpPr>
        <p:spPr>
          <a:xfrm>
            <a:off x="810469" y="4918247"/>
            <a:ext cx="1273313" cy="402300"/>
          </a:xfrm>
          <a:prstGeom prst="rect">
            <a:avLst/>
          </a:prstGeom>
        </p:spPr>
        <p:txBody>
          <a:bodyPr spcFirstLastPara="1" wrap="square" lIns="91425" tIns="91425" rIns="91425" bIns="91425" anchor="b" anchorCtr="0">
            <a:noAutofit/>
          </a:bodyPr>
          <a:lstStyle/>
          <a:p>
            <a:pPr marL="0" lvl="0" indent="0"/>
            <a:r>
              <a:rPr lang="en-US" dirty="0"/>
              <a:t>Nginx</a:t>
            </a:r>
            <a:endParaRPr dirty="0"/>
          </a:p>
        </p:txBody>
      </p:sp>
      <p:sp>
        <p:nvSpPr>
          <p:cNvPr id="1760" name="Google Shape;1760;p44"/>
          <p:cNvSpPr txBox="1">
            <a:spLocks noGrp="1"/>
          </p:cNvSpPr>
          <p:nvPr>
            <p:ph type="subTitle" idx="14"/>
          </p:nvPr>
        </p:nvSpPr>
        <p:spPr>
          <a:xfrm>
            <a:off x="4579704" y="4938030"/>
            <a:ext cx="1259271" cy="402300"/>
          </a:xfrm>
          <a:prstGeom prst="rect">
            <a:avLst/>
          </a:prstGeom>
        </p:spPr>
        <p:txBody>
          <a:bodyPr spcFirstLastPara="1" wrap="square" lIns="91425" tIns="91425" rIns="91425" bIns="91425" anchor="b" anchorCtr="0">
            <a:noAutofit/>
          </a:bodyPr>
          <a:lstStyle/>
          <a:p>
            <a:pPr marL="0" lvl="0" indent="0"/>
            <a:r>
              <a:rPr lang="en-US" dirty="0"/>
              <a:t>Docker</a:t>
            </a:r>
            <a:endParaRPr dirty="0"/>
          </a:p>
        </p:txBody>
      </p:sp>
      <p:pic>
        <p:nvPicPr>
          <p:cNvPr id="1030" name="Picture 6" descr="https://yastatic.net/naydex/yandex-search/J1A2S9p03/f639e3UdtrG/sjYTftRHnGPnmsMLafqNF5enpGVMN_V6q_djc-v4yH3N708ics2X2VK5LPP4Dhs-HSHd3j_NjhhMTMWy06MXzP27W3LfX9OoqoMOzu--X9fEZ6QhGeWwuvd5w"/>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8070" y="1953833"/>
            <a:ext cx="2038225" cy="37707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https://yastatic.net/naydex/yandex-search/J1A2S2p91/f639e3UdtrG/sjYTftRHnGPnmsMLafqNF5enpGVMN_V6q_djc-v4yH3N708ics2X2VP4LvK4jhs9HeGeHn7PTJrMTMWy06MXzP27W3LfX9OoqoMOzWo4DVDCN6GlED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3137" y="1356850"/>
            <a:ext cx="744455" cy="64519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https://yastatic.net/naydex/yandex-search/J1A2S0p87/f639e3UdtrG/sjYTftRHnGPnmsMLafqNF5enpGVMN_V6q_djc-v4yH3N708ics2X2VD7LPE-zt18HKCdH75PC8KKFAQgyurVS3o7nPGcHlboqM8FCKt6ykIAoWrv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9035" y="1315018"/>
            <a:ext cx="518473" cy="518473"/>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https://yastatic.net/naydex/yandex-search/J1A1S8p83/f639e3UdtrG/sjYTftRHnGPnmsMLafqNF5enpGVMN_V6q_djc-v4yH3N708ics2X2ZC7bLK-z509HaAcnn8KlNvLlBYriGrSy3r82Pba3dVpZQkGyis9n9UBa-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8243" y="3045937"/>
            <a:ext cx="811120" cy="836806"/>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https://yastatic.net/naydex/yandex-search/J1A2S2p91/f639e3UdtrG/sjYTftRHnGPnmsMLafqNF5enpGVMN_V6q_djc-v4yH3N708ics2X2VO5LvF5zts9HeGeHr6NTVgMTMWy06MXzP27W3LfX9OoqoMOzWo4DVDCN6GlED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3782" y="5037444"/>
            <a:ext cx="1785102" cy="377847"/>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6479" y="4937287"/>
            <a:ext cx="2598868" cy="593409"/>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https://yastatic.net/naydex/yandex-search/J1A2S9p03/f639e3UdtrG/sjYTftRHnGPnmsMLafqNF5enpGVMN_V6q_djc-v4yH3N708ics2X2VM57bL5zts9HeGd3z8NThhMTMWy06MXzP27W3LfX9OoqoMOzu--X9fEZ6QhGeWwuvd5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4029" y="3118438"/>
            <a:ext cx="952442" cy="760366"/>
          </a:xfrm>
          <a:prstGeom prst="rect">
            <a:avLst/>
          </a:prstGeom>
          <a:noFill/>
          <a:extLst>
            <a:ext uri="{909E8E84-426E-40DD-AFC4-6F175D3DCCD1}">
              <a14:hiddenFill xmlns:a14="http://schemas.microsoft.com/office/drawing/2010/main">
                <a:solidFill>
                  <a:srgbClr val="FFFFFF"/>
                </a:solidFill>
              </a14:hiddenFill>
            </a:ext>
          </a:extLst>
        </p:spPr>
      </p:pic>
      <p:sp>
        <p:nvSpPr>
          <p:cNvPr id="27" name="Google Shape;1754;p44"/>
          <p:cNvSpPr txBox="1">
            <a:spLocks noGrp="1"/>
          </p:cNvSpPr>
          <p:nvPr>
            <p:ph type="subTitle" idx="4"/>
          </p:nvPr>
        </p:nvSpPr>
        <p:spPr>
          <a:xfrm>
            <a:off x="1001087" y="3463133"/>
            <a:ext cx="1273311" cy="572700"/>
          </a:xfrm>
          <a:prstGeom prst="rect">
            <a:avLst/>
          </a:prstGeom>
        </p:spPr>
        <p:txBody>
          <a:bodyPr spcFirstLastPara="1" wrap="square" lIns="91425" tIns="91425" rIns="91425" bIns="91425" anchor="t" anchorCtr="0">
            <a:noAutofit/>
          </a:bodyPr>
          <a:lstStyle/>
          <a:p>
            <a:pPr marL="0" lvl="0" indent="0"/>
            <a:r>
              <a:rPr lang="en-US" dirty="0"/>
              <a:t>Styles</a:t>
            </a:r>
            <a:endParaRPr dirty="0"/>
          </a:p>
        </p:txBody>
      </p:sp>
      <p:sp>
        <p:nvSpPr>
          <p:cNvPr id="28" name="Google Shape;1759;p44"/>
          <p:cNvSpPr txBox="1">
            <a:spLocks noGrp="1"/>
          </p:cNvSpPr>
          <p:nvPr>
            <p:ph type="subTitle" idx="13"/>
          </p:nvPr>
        </p:nvSpPr>
        <p:spPr>
          <a:xfrm>
            <a:off x="1001085" y="3137034"/>
            <a:ext cx="1592944" cy="402300"/>
          </a:xfrm>
          <a:prstGeom prst="rect">
            <a:avLst/>
          </a:prstGeom>
        </p:spPr>
        <p:txBody>
          <a:bodyPr spcFirstLastPara="1" wrap="square" lIns="91425" tIns="91425" rIns="91425" bIns="91425" anchor="b" anchorCtr="0">
            <a:noAutofit/>
          </a:bodyPr>
          <a:lstStyle/>
          <a:p>
            <a:pPr marL="0" lvl="0" indent="0"/>
            <a:r>
              <a:rPr lang="en-US" dirty="0"/>
              <a:t>Bootstrap</a:t>
            </a:r>
            <a:endParaRPr dirty="0"/>
          </a:p>
        </p:txBody>
      </p:sp>
      <p:grpSp>
        <p:nvGrpSpPr>
          <p:cNvPr id="29" name="Google Shape;1512;p37"/>
          <p:cNvGrpSpPr/>
          <p:nvPr/>
        </p:nvGrpSpPr>
        <p:grpSpPr>
          <a:xfrm>
            <a:off x="434426" y="813359"/>
            <a:ext cx="4558967" cy="134100"/>
            <a:chOff x="796100" y="3019701"/>
            <a:chExt cx="4558967" cy="134100"/>
          </a:xfrm>
        </p:grpSpPr>
        <p:sp>
          <p:nvSpPr>
            <p:cNvPr id="30"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2"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0852710"/>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Mars</a:t>
            </a:r>
            <a:endParaRPr dirty="0"/>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13243" y="-78378"/>
            <a:ext cx="6635899" cy="82234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Прототип интерфейса клиента</a:t>
            </a:r>
            <a:endParaRPr dirty="0"/>
          </a:p>
        </p:txBody>
      </p:sp>
      <p:sp>
        <p:nvSpPr>
          <p:cNvPr id="2315" name="Google Shape;2315;p62"/>
          <p:cNvSpPr txBox="1">
            <a:spLocks noGrp="1"/>
          </p:cNvSpPr>
          <p:nvPr>
            <p:ph type="subTitle" idx="1"/>
          </p:nvPr>
        </p:nvSpPr>
        <p:spPr>
          <a:xfrm>
            <a:off x="156267" y="743968"/>
            <a:ext cx="7045722" cy="875582"/>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latin typeface="+mn-lt"/>
              </a:rPr>
              <a:t>Видит информацию о своём местоположении в очереди, число клиентов и среднее время ожидания. Может сдвигаться в сторону конца очереди на </a:t>
            </a:r>
            <a:r>
              <a:rPr lang="en-US" smtClean="0">
                <a:latin typeface="+mn-lt"/>
              </a:rPr>
              <a:t>N </a:t>
            </a:r>
            <a:r>
              <a:rPr lang="ru-RU" smtClean="0">
                <a:latin typeface="+mn-lt"/>
              </a:rPr>
              <a:t>шагов</a:t>
            </a:r>
            <a:endParaRPr dirty="0">
              <a:latin typeface="+mn-lt"/>
            </a:endParaRPr>
          </a:p>
        </p:txBody>
      </p:sp>
      <p:grpSp>
        <p:nvGrpSpPr>
          <p:cNvPr id="2316" name="Google Shape;2316;p62"/>
          <p:cNvGrpSpPr>
            <a:grpSpLocks noChangeAspect="1"/>
          </p:cNvGrpSpPr>
          <p:nvPr/>
        </p:nvGrpSpPr>
        <p:grpSpPr>
          <a:xfrm>
            <a:off x="2173536" y="1667879"/>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1804618" y="6363969"/>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Рисунок 1"/>
          <p:cNvPicPr>
            <a:picLocks noChangeAspect="1"/>
          </p:cNvPicPr>
          <p:nvPr/>
        </p:nvPicPr>
        <p:blipFill rotWithShape="1">
          <a:blip r:embed="rId4">
            <a:extLst>
              <a:ext uri="{28A0092B-C50C-407E-A947-70E740481C1C}">
                <a14:useLocalDpi xmlns:a14="http://schemas.microsoft.com/office/drawing/2010/main" val="0"/>
              </a:ext>
            </a:extLst>
          </a:blip>
          <a:srcRect l="5388" r="5795"/>
          <a:stretch/>
        </p:blipFill>
        <p:spPr>
          <a:xfrm>
            <a:off x="2319772" y="1752860"/>
            <a:ext cx="6122127" cy="3855965"/>
          </a:xfrm>
          <a:prstGeom prst="rect">
            <a:avLst/>
          </a:prstGeom>
        </p:spPr>
      </p:pic>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90420"/>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dirty="0">
                  <a:solidFill>
                    <a:srgbClr val="FFFFFF"/>
                  </a:solidFill>
                </a:rPr>
                <a:t>Task 1</a:t>
              </a:r>
              <a:endParaRPr sz="500" dirty="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dirty="0" smtClean="0">
                <a:solidFill>
                  <a:srgbClr val="213B55"/>
                </a:solidFill>
              </a:rPr>
              <a:t>75%</a:t>
            </a:r>
            <a:endParaRPr sz="3000" b="1" dirty="0">
              <a:solidFill>
                <a:srgbClr val="213B55"/>
              </a:solidFill>
            </a:endParaRPr>
          </a:p>
        </p:txBody>
      </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2065</TotalTime>
  <Words>1490</Words>
  <Application>Microsoft Office PowerPoint</Application>
  <PresentationFormat>Экран (4:3)</PresentationFormat>
  <Paragraphs>345</Paragraphs>
  <Slides>54</Slides>
  <Notes>54</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54</vt:i4>
      </vt:variant>
    </vt:vector>
  </HeadingPairs>
  <TitlesOfParts>
    <vt:vector size="68" baseType="lpstr">
      <vt:lpstr>Calibri</vt:lpstr>
      <vt:lpstr>Wingdings</vt:lpstr>
      <vt:lpstr>Roboto Condensed Light</vt:lpstr>
      <vt:lpstr>Arial</vt:lpstr>
      <vt:lpstr>Proxima Nova</vt:lpstr>
      <vt:lpstr>Roboto Medium</vt:lpstr>
      <vt:lpstr>Poppins</vt:lpstr>
      <vt:lpstr>IBM Plex Mono</vt:lpstr>
      <vt:lpstr>Open Sans</vt:lpstr>
      <vt:lpstr>Proxima Nova Semibold</vt:lpstr>
      <vt:lpstr>Source Code Pro</vt:lpstr>
      <vt:lpstr>Amatic SC</vt:lpstr>
      <vt:lpstr>Introduction to Coding Workshop by Slidesgo</vt:lpstr>
      <vt:lpstr>Slidesgo Final Pages</vt:lpstr>
      <vt:lpstr>Итоги 9 спринта</vt:lpstr>
      <vt:lpstr>Наша команда</vt:lpstr>
      <vt:lpstr>Задачи спринта</vt:lpstr>
      <vt:lpstr>Диаграмма С4</vt:lpstr>
      <vt:lpstr>Диаграмма С4</vt:lpstr>
      <vt:lpstr>Диаграмма С4</vt:lpstr>
      <vt:lpstr>Диаграмма С4</vt:lpstr>
      <vt:lpstr>Аналитика спринтов</vt:lpstr>
      <vt:lpstr>Аналитика спринтов</vt:lpstr>
      <vt:lpstr>Аналитика спринтов</vt:lpstr>
      <vt:lpstr>Аналитика спринтов</vt:lpstr>
      <vt:lpstr>Аналитика спринтов</vt:lpstr>
      <vt:lpstr>Обзор спринта</vt:lpstr>
      <vt:lpstr>Ретроспектива</vt:lpstr>
      <vt:lpstr>Спасибо за внимание!</vt:lpstr>
      <vt:lpstr>Дальше идут шаблоны и заготовки</vt:lpstr>
      <vt:lpstr>Архитектура</vt:lpstr>
      <vt:lpstr>Роли пользователей</vt:lpstr>
      <vt:lpstr>Словарь</vt:lpstr>
      <vt:lpstr>Тема проекта</vt:lpstr>
      <vt:lpstr>Организация работы</vt:lpstr>
      <vt:lpstr>Выбор технологического стека</vt:lpstr>
      <vt:lpstr>Задачи 2 спринта</vt:lpstr>
      <vt:lpstr>Прототип интерфейса клиента</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128</cp:revision>
  <dcterms:modified xsi:type="dcterms:W3CDTF">2026-04-28T07:05:04Z</dcterms:modified>
</cp:coreProperties>
</file>