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60"/>
  </p:notesMasterIdLst>
  <p:sldIdLst>
    <p:sldId id="256" r:id="rId3"/>
    <p:sldId id="314" r:id="rId4"/>
    <p:sldId id="258" r:id="rId5"/>
    <p:sldId id="317" r:id="rId6"/>
    <p:sldId id="345" r:id="rId7"/>
    <p:sldId id="346" r:id="rId8"/>
    <p:sldId id="347" r:id="rId9"/>
    <p:sldId id="353" r:id="rId10"/>
    <p:sldId id="354" r:id="rId11"/>
    <p:sldId id="355" r:id="rId12"/>
    <p:sldId id="352" r:id="rId13"/>
    <p:sldId id="356" r:id="rId14"/>
    <p:sldId id="357" r:id="rId15"/>
    <p:sldId id="358" r:id="rId16"/>
    <p:sldId id="359" r:id="rId17"/>
    <p:sldId id="264" r:id="rId18"/>
    <p:sldId id="315" r:id="rId19"/>
    <p:sldId id="270" r:id="rId20"/>
    <p:sldId id="268" r:id="rId21"/>
    <p:sldId id="260" r:id="rId22"/>
    <p:sldId id="257" r:id="rId23"/>
    <p:sldId id="327" r:id="rId24"/>
    <p:sldId id="267" r:id="rId25"/>
    <p:sldId id="262" r:id="rId26"/>
    <p:sldId id="316" r:id="rId27"/>
    <p:sldId id="266" r:id="rId28"/>
    <p:sldId id="284" r:id="rId29"/>
    <p:sldId id="265" r:id="rId30"/>
    <p:sldId id="273" r:id="rId31"/>
    <p:sldId id="275" r:id="rId32"/>
    <p:sldId id="277" r:id="rId33"/>
    <p:sldId id="278" r:id="rId34"/>
    <p:sldId id="279" r:id="rId35"/>
    <p:sldId id="280" r:id="rId36"/>
    <p:sldId id="281" r:id="rId37"/>
    <p:sldId id="286" r:id="rId38"/>
    <p:sldId id="287"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Lst>
  <p:sldSz cx="9144000" cy="6858000" type="screen4x3"/>
  <p:notesSz cx="6858000" cy="9144000"/>
  <p:embeddedFontLst>
    <p:embeddedFont>
      <p:font typeface="IBM Plex Mono" panose="020B0604020202020204" charset="-52"/>
      <p:regular r:id="rId61"/>
      <p:bold r:id="rId62"/>
      <p:italic r:id="rId63"/>
      <p:boldItalic r:id="rId64"/>
    </p:embeddedFont>
    <p:embeddedFont>
      <p:font typeface="Poppins" panose="020B0604020202020204" charset="0"/>
      <p:regular r:id="rId65"/>
      <p:bold r:id="rId66"/>
      <p:italic r:id="rId67"/>
      <p:boldItalic r:id="rId68"/>
    </p:embeddedFont>
    <p:embeddedFont>
      <p:font typeface="Calibri" panose="020F0502020204030204" pitchFamily="34" charset="0"/>
      <p:regular r:id="rId69"/>
      <p:bold r:id="rId70"/>
      <p:italic r:id="rId71"/>
      <p:boldItalic r:id="rId72"/>
    </p:embeddedFont>
    <p:embeddedFont>
      <p:font typeface="Roboto Medium" panose="020B0604020202020204" charset="0"/>
      <p:regular r:id="rId73"/>
      <p:bold r:id="rId74"/>
      <p:italic r:id="rId75"/>
      <p:boldItalic r:id="rId76"/>
    </p:embeddedFont>
    <p:embeddedFont>
      <p:font typeface="Proxima Nova" panose="020B0604020202020204" charset="0"/>
      <p:regular r:id="rId77"/>
      <p:bold r:id="rId78"/>
      <p:italic r:id="rId79"/>
      <p:boldItalic r:id="rId80"/>
    </p:embeddedFont>
    <p:embeddedFont>
      <p:font typeface="Source Code Pro" panose="020B0604020202020204" charset="0"/>
      <p:regular r:id="rId81"/>
      <p:bold r:id="rId82"/>
      <p:italic r:id="rId83"/>
      <p:boldItalic r:id="rId84"/>
    </p:embeddedFont>
    <p:embeddedFont>
      <p:font typeface="Amatic SC" panose="020B0604020202020204" charset="-79"/>
      <p:regular r:id="rId85"/>
      <p:bold r:id="rId86"/>
    </p:embeddedFont>
    <p:embeddedFont>
      <p:font typeface="Proxima Nova Semibold" panose="020B0604020202020204" charset="0"/>
      <p:regular r:id="rId87"/>
      <p:bold r:id="rId88"/>
      <p:boldItalic r:id="rId8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91" d="100"/>
          <a:sy n="91" d="100"/>
        </p:scale>
        <p:origin x="61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3.fntdata"/><Relationship Id="rId68" Type="http://schemas.openxmlformats.org/officeDocument/2006/relationships/font" Target="fonts/font8.fntdata"/><Relationship Id="rId84" Type="http://schemas.openxmlformats.org/officeDocument/2006/relationships/font" Target="fonts/font24.fntdata"/><Relationship Id="rId89" Type="http://schemas.openxmlformats.org/officeDocument/2006/relationships/font" Target="fonts/font29.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4.fntdata"/><Relationship Id="rId79" Type="http://schemas.openxmlformats.org/officeDocument/2006/relationships/font" Target="fonts/font19.fntdata"/><Relationship Id="rId5" Type="http://schemas.openxmlformats.org/officeDocument/2006/relationships/slide" Target="slides/slide3.xml"/><Relationship Id="rId90" Type="http://schemas.openxmlformats.org/officeDocument/2006/relationships/presProps" Target="pres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4.fntdata"/><Relationship Id="rId69" Type="http://schemas.openxmlformats.org/officeDocument/2006/relationships/font" Target="fonts/font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2.fntdata"/><Relationship Id="rId80" Type="http://schemas.openxmlformats.org/officeDocument/2006/relationships/font" Target="fonts/font20.fntdata"/><Relationship Id="rId85" Type="http://schemas.openxmlformats.org/officeDocument/2006/relationships/font" Target="fonts/font25.fntdata"/><Relationship Id="rId93"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2.fntdata"/><Relationship Id="rId70" Type="http://schemas.openxmlformats.org/officeDocument/2006/relationships/font" Target="fonts/font10.fntdata"/><Relationship Id="rId75" Type="http://schemas.openxmlformats.org/officeDocument/2006/relationships/font" Target="fonts/font15.fntdata"/><Relationship Id="rId83" Type="http://schemas.openxmlformats.org/officeDocument/2006/relationships/font" Target="fonts/font23.fntdata"/><Relationship Id="rId88" Type="http://schemas.openxmlformats.org/officeDocument/2006/relationships/font" Target="fonts/font28.fntdata"/><Relationship Id="rId9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notesMaster" Target="notesMasters/notesMaster1.xml"/><Relationship Id="rId65" Type="http://schemas.openxmlformats.org/officeDocument/2006/relationships/font" Target="fonts/font5.fntdata"/><Relationship Id="rId73" Type="http://schemas.openxmlformats.org/officeDocument/2006/relationships/font" Target="fonts/font13.fntdata"/><Relationship Id="rId78" Type="http://schemas.openxmlformats.org/officeDocument/2006/relationships/font" Target="fonts/font18.fntdata"/><Relationship Id="rId81" Type="http://schemas.openxmlformats.org/officeDocument/2006/relationships/font" Target="fonts/font21.fntdata"/><Relationship Id="rId86" Type="http://schemas.openxmlformats.org/officeDocument/2006/relationships/font" Target="fonts/font26.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6.fntdata"/><Relationship Id="rId7" Type="http://schemas.openxmlformats.org/officeDocument/2006/relationships/slide" Target="slides/slide5.xml"/><Relationship Id="rId71" Type="http://schemas.openxmlformats.org/officeDocument/2006/relationships/font" Target="fonts/font11.fntdata"/><Relationship Id="rId92"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6.fntdata"/><Relationship Id="rId87" Type="http://schemas.openxmlformats.org/officeDocument/2006/relationships/font" Target="fonts/font27.fntdata"/><Relationship Id="rId61" Type="http://schemas.openxmlformats.org/officeDocument/2006/relationships/font" Target="fonts/font1.fntdata"/><Relationship Id="rId82" Type="http://schemas.openxmlformats.org/officeDocument/2006/relationships/font" Target="fonts/font2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341398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8700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98034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213754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1640525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553201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780479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43906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690194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2058822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85994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1" r:id="rId19"/>
    <p:sldLayoutId id="2147483672" r:id="rId20"/>
    <p:sldLayoutId id="2147483673" r:id="rId21"/>
    <p:sldLayoutId id="2147483676" r:id="rId22"/>
    <p:sldLayoutId id="2147483677"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2.png"/></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24.xml"/><Relationship Id="rId1" Type="http://schemas.openxmlformats.org/officeDocument/2006/relationships/slideLayout" Target="../slideLayouts/slideLayout4.xml"/><Relationship Id="rId4" Type="http://schemas.openxmlformats.org/officeDocument/2006/relationships/image" Target="../media/image19.png"/></Relationships>
</file>

<file path=ppt/slides/_rels/slide25.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20.png"/><Relationship Id="rId7" Type="http://schemas.openxmlformats.org/officeDocument/2006/relationships/image" Target="../media/image24.png"/><Relationship Id="rId2" Type="http://schemas.openxmlformats.org/officeDocument/2006/relationships/notesSlide" Target="../notesSlides/notesSlide25.xml"/><Relationship Id="rId1" Type="http://schemas.openxmlformats.org/officeDocument/2006/relationships/slideLayout" Target="../slideLayouts/slideLayout2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 Id="rId9" Type="http://schemas.openxmlformats.org/officeDocument/2006/relationships/image" Target="../media/image26.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27.xml"/><Relationship Id="rId1" Type="http://schemas.openxmlformats.org/officeDocument/2006/relationships/slideLayout" Target="../slideLayouts/slideLayout16.xml"/><Relationship Id="rId4" Type="http://schemas.openxmlformats.org/officeDocument/2006/relationships/image" Target="../media/image28.png"/></Relationships>
</file>

<file path=ppt/slides/_rels/slide28.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28.xml"/><Relationship Id="rId1" Type="http://schemas.openxmlformats.org/officeDocument/2006/relationships/slideLayout" Target="../slideLayouts/slideLayout19.xml"/><Relationship Id="rId5" Type="http://schemas.openxmlformats.org/officeDocument/2006/relationships/image" Target="../media/image31.jpg"/><Relationship Id="rId4" Type="http://schemas.openxmlformats.org/officeDocument/2006/relationships/image" Target="../media/image30.jp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7827132" cy="717983"/>
          </a:xfrm>
          <a:prstGeom prst="rect">
            <a:avLst/>
          </a:prstGeom>
        </p:spPr>
        <p:txBody>
          <a:bodyPr spcFirstLastPara="1" wrap="square" lIns="91425" tIns="91425" rIns="91425" bIns="91425" anchor="t" anchorCtr="0">
            <a:noAutofit/>
          </a:bodyPr>
          <a:lstStyle/>
          <a:p>
            <a:pPr marL="0" lvl="0" indent="0"/>
            <a:r>
              <a:rPr lang="ru-RU" sz="2800" dirty="0" smtClean="0">
                <a:latin typeface="+mn-lt"/>
              </a:rPr>
              <a:t>Подготовка документации</a:t>
            </a:r>
            <a:endParaRPr sz="2800" dirty="0">
              <a:latin typeface="+mn-lt"/>
            </a:endParaRPr>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10 </a:t>
            </a:r>
            <a:r>
              <a:rPr lang="ru-RU" dirty="0" smtClean="0"/>
              <a:t>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11320;p78"/>
          <p:cNvGrpSpPr>
            <a:grpSpLocks noChangeAspect="1"/>
          </p:cNvGrpSpPr>
          <p:nvPr/>
        </p:nvGrpSpPr>
        <p:grpSpPr>
          <a:xfrm>
            <a:off x="5105577" y="4562497"/>
            <a:ext cx="468951" cy="615112"/>
            <a:chOff x="1805901" y="1960358"/>
            <a:chExt cx="284847" cy="373627"/>
          </a:xfrm>
          <a:solidFill>
            <a:schemeClr val="tx2"/>
          </a:solidFill>
        </p:grpSpPr>
        <p:sp>
          <p:nvSpPr>
            <p:cNvPr id="33"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Подготовить механизмы формирования документации для дальнейшей работы с кодом</a:t>
            </a:r>
            <a:endParaRPr lang="ru-RU"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6704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Исправить диаграмму </a:t>
            </a:r>
            <a:r>
              <a:rPr lang="en-US" sz="2000" dirty="0" smtClean="0">
                <a:latin typeface="Arial" panose="020B0604020202020204" pitchFamily="34" charset="0"/>
                <a:cs typeface="Arial" panose="020B0604020202020204" pitchFamily="34" charset="0"/>
              </a:rPr>
              <a:t>C4</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Исследовать методологии написания </a:t>
            </a:r>
            <a:r>
              <a:rPr lang="ru-RU" sz="2000" dirty="0" smtClean="0">
                <a:latin typeface="Arial" panose="020B0604020202020204" pitchFamily="34" charset="0"/>
                <a:cs typeface="Arial" panose="020B0604020202020204" pitchFamily="34" charset="0"/>
              </a:rPr>
              <a:t>документации</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Реализовать методологии написания </a:t>
            </a:r>
            <a:r>
              <a:rPr lang="ru-RU" sz="2000" dirty="0" smtClean="0">
                <a:latin typeface="Arial" panose="020B0604020202020204" pitchFamily="34" charset="0"/>
                <a:cs typeface="Arial" panose="020B0604020202020204" pitchFamily="34" charset="0"/>
              </a:rPr>
              <a:t>документации</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Сформировать текстовое описание архитектуры</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#10 </a:t>
            </a:r>
            <a:r>
              <a:rPr lang="ru-RU" sz="2000" dirty="0" smtClean="0">
                <a:latin typeface="Arial" panose="020B0604020202020204" pitchFamily="34" charset="0"/>
                <a:cs typeface="Arial" panose="020B0604020202020204" pitchFamily="34" charset="0"/>
              </a:rPr>
              <a:t>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0423" y="954534"/>
            <a:ext cx="7836232" cy="5911678"/>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a:t>
            </a:r>
            <a:r>
              <a:rPr lang="ru-RU" sz="1600" dirty="0">
                <a:latin typeface="Arial" panose="020B0604020202020204" pitchFamily="34" charset="0"/>
                <a:cs typeface="Arial" panose="020B0604020202020204" pitchFamily="34" charset="0"/>
              </a:rPr>
              <a:t>а</a:t>
            </a:r>
            <a:r>
              <a:rPr lang="ru-RU" sz="1600" dirty="0" smtClean="0">
                <a:latin typeface="Arial" panose="020B0604020202020204" pitchFamily="34" charset="0"/>
                <a:cs typeface="Arial" panose="020B0604020202020204" pitchFamily="34" charset="0"/>
              </a:rPr>
              <a:t> </a:t>
            </a:r>
            <a:r>
              <a:rPr lang="ru-RU" sz="1600" dirty="0">
                <a:latin typeface="Arial" panose="020B0604020202020204" pitchFamily="34" charset="0"/>
                <a:cs typeface="Arial" panose="020B0604020202020204" pitchFamily="34" charset="0"/>
              </a:rPr>
              <a:t>контекста (уровень 1)</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49212" y="-868330"/>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54" y="1135868"/>
            <a:ext cx="9144000" cy="5166011"/>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контейнеров (уровень 2)</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213782" y="5352117"/>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594303" y="-1482814"/>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307425404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6622" y="969442"/>
            <a:ext cx="8679395" cy="5881655"/>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компонентов (уровень 3)</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45247" y="5198620"/>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594303" y="-3448746"/>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2270203200"/>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571038"/>
            <a:ext cx="9144000" cy="3856917"/>
          </a:xfrm>
          <a:prstGeom prst="rect">
            <a:avLst/>
          </a:prstGeom>
        </p:spPr>
      </p:pic>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кода (уровень 4</a:t>
            </a:r>
            <a:r>
              <a:rPr lang="ru-RU" sz="1600" dirty="0" smtClean="0">
                <a:latin typeface="Arial" panose="020B0604020202020204" pitchFamily="34" charset="0"/>
                <a:cs typeface="Arial" panose="020B0604020202020204" pitchFamily="34" charset="0"/>
              </a:rPr>
              <a:t>)</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335192957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1026" name="Picture 2" descr="https://psv4.userapi.com/s/v1/d2/GXzZGA6r1Q1fTWArwGs8BudfTgxn4bbmE8MNG0sickrzhbMz2UeokCdwWe5Hr_h0fGWhGTb8vNF9kt01zmz7Rnun3OxybP-TqTVxSk2HtnIyovrFPOCPo-eCwiOuwbzhtpKJ4nOXNdZM/02_admin_queue_setup.png"/>
          <p:cNvPicPr>
            <a:picLocks noChangeAspect="1" noChangeArrowheads="1"/>
          </p:cNvPicPr>
          <p:nvPr/>
        </p:nvPicPr>
        <p:blipFill rotWithShape="1">
          <a:blip r:embed="rId3">
            <a:extLst>
              <a:ext uri="{28A0092B-C50C-407E-A947-70E740481C1C}">
                <a14:useLocalDpi xmlns:a14="http://schemas.microsoft.com/office/drawing/2010/main" val="0"/>
              </a:ext>
            </a:extLst>
          </a:blip>
          <a:srcRect l="2523" t="6505" r="1479" b="4478"/>
          <a:stretch/>
        </p:blipFill>
        <p:spPr bwMode="auto">
          <a:xfrm>
            <a:off x="396135" y="953599"/>
            <a:ext cx="8499929" cy="5911314"/>
          </a:xfrm>
          <a:prstGeom prst="rect">
            <a:avLst/>
          </a:prstGeom>
          <a:noFill/>
          <a:extLst>
            <a:ext uri="{909E8E84-426E-40DD-AFC4-6F175D3DCCD1}">
              <a14:hiddenFill xmlns:a14="http://schemas.microsoft.com/office/drawing/2010/main">
                <a:solidFill>
                  <a:srgbClr val="FFFFFF"/>
                </a:solidFill>
              </a14:hiddenFill>
            </a:ext>
          </a:extLst>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Процесс настройки очереди (</a:t>
            </a:r>
            <a:r>
              <a:rPr lang="ru-RU" sz="1600" dirty="0" smtClean="0">
                <a:latin typeface="Arial" panose="020B0604020202020204" pitchFamily="34" charset="0"/>
                <a:cs typeface="Arial" panose="020B0604020202020204" pitchFamily="34" charset="0"/>
              </a:rPr>
              <a:t>Администратор</a:t>
            </a:r>
            <a:r>
              <a:rPr lang="ru-RU" sz="1600" dirty="0" smtClean="0">
                <a:latin typeface="Arial" panose="020B0604020202020204" pitchFamily="34" charset="0"/>
                <a:cs typeface="Arial" panose="020B0604020202020204" pitchFamily="34" charset="0"/>
              </a:rPr>
              <a:t>)</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936749" y="4895274"/>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9064" y="32256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3164914846"/>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074" name="Picture 2" descr="https://psv4.userapi.com/s/v1/d2/Hcp25nmBXxZ1ZEAjSlUVLUg_OsuLzgpHjOJ24QGm-AggjzrkOc31gLSPx6cezSSsBL4YGqnRR118A3k8OpKAanFvjdv1bMuKzk8km8SN5VFAYr2Y1vhKkKzmNO1DCBVViwuWWR-FzXbN/03_admin_staff_roles.png"/>
          <p:cNvPicPr>
            <a:picLocks noChangeAspect="1" noChangeArrowheads="1"/>
          </p:cNvPicPr>
          <p:nvPr/>
        </p:nvPicPr>
        <p:blipFill rotWithShape="1">
          <a:blip r:embed="rId3">
            <a:extLst>
              <a:ext uri="{28A0092B-C50C-407E-A947-70E740481C1C}">
                <a14:useLocalDpi xmlns:a14="http://schemas.microsoft.com/office/drawing/2010/main" val="0"/>
              </a:ext>
            </a:extLst>
          </a:blip>
          <a:srcRect l="762" t="11137" r="2492" b="971"/>
          <a:stretch/>
        </p:blipFill>
        <p:spPr bwMode="auto">
          <a:xfrm>
            <a:off x="278202" y="953599"/>
            <a:ext cx="8682825" cy="5916192"/>
          </a:xfrm>
          <a:prstGeom prst="rect">
            <a:avLst/>
          </a:prstGeom>
          <a:noFill/>
          <a:extLst>
            <a:ext uri="{909E8E84-426E-40DD-AFC4-6F175D3DCCD1}">
              <a14:hiddenFill xmlns:a14="http://schemas.microsoft.com/office/drawing/2010/main">
                <a:solidFill>
                  <a:srgbClr val="FFFFFF"/>
                </a:solidFill>
              </a14:hiddenFill>
            </a:ext>
          </a:extLst>
        </p:spPr>
      </p:pic>
      <p:sp>
        <p:nvSpPr>
          <p:cNvPr id="1475" name="Google Shape;1475;p37"/>
          <p:cNvSpPr txBox="1">
            <a:spLocks noGrp="1"/>
          </p:cNvSpPr>
          <p:nvPr>
            <p:ph type="subTitle" idx="1"/>
          </p:nvPr>
        </p:nvSpPr>
        <p:spPr>
          <a:xfrm>
            <a:off x="475129" y="590578"/>
            <a:ext cx="7031660"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Процесс управления операторами и исполнителями (</a:t>
            </a:r>
            <a:r>
              <a:rPr lang="ru-RU" sz="1600" dirty="0" smtClean="0">
                <a:latin typeface="Arial" panose="020B0604020202020204" pitchFamily="34" charset="0"/>
                <a:cs typeface="Arial" panose="020B0604020202020204" pitchFamily="34" charset="0"/>
              </a:rPr>
              <a:t>Администратор</a:t>
            </a:r>
            <a:r>
              <a:rPr lang="ru-RU" sz="1600" dirty="0" smtClean="0">
                <a:latin typeface="Arial" panose="020B0604020202020204" pitchFamily="34" charset="0"/>
                <a:cs typeface="Arial" panose="020B0604020202020204" pitchFamily="34" charset="0"/>
              </a:rPr>
              <a:t>)</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936749" y="4895274"/>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9064" y="32256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30218692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052" name="Picture 4" descr="https://psv4.userapi.com/s/v1/d2/hFKjHkoHFjRNYn3FgbybIuJcTDO-I9usU7_mhnHjdCPCiLAeoHMnBS3zQhcE40HmnOAxf3ygpaal5mnlVdjPCZiFij7o2DBkouQxAK0RdTUKmlXr9xU2CFTzMdOAtI_FvUOXWMU6Rj9m/01_admin_queue_lifecycle.png"/>
          <p:cNvPicPr>
            <a:picLocks noChangeAspect="1" noChangeArrowheads="1"/>
          </p:cNvPicPr>
          <p:nvPr/>
        </p:nvPicPr>
        <p:blipFill rotWithShape="1">
          <a:blip r:embed="rId3">
            <a:extLst>
              <a:ext uri="{28A0092B-C50C-407E-A947-70E740481C1C}">
                <a14:useLocalDpi xmlns:a14="http://schemas.microsoft.com/office/drawing/2010/main" val="0"/>
              </a:ext>
            </a:extLst>
          </a:blip>
          <a:srcRect l="2283" t="10403" r="1591" b="1584"/>
          <a:stretch/>
        </p:blipFill>
        <p:spPr bwMode="auto">
          <a:xfrm>
            <a:off x="278282" y="953374"/>
            <a:ext cx="8592830" cy="5900742"/>
          </a:xfrm>
          <a:prstGeom prst="rect">
            <a:avLst/>
          </a:prstGeom>
          <a:noFill/>
          <a:extLst>
            <a:ext uri="{909E8E84-426E-40DD-AFC4-6F175D3DCCD1}">
              <a14:hiddenFill xmlns:a14="http://schemas.microsoft.com/office/drawing/2010/main">
                <a:solidFill>
                  <a:srgbClr val="FFFFFF"/>
                </a:solidFill>
              </a14:hiddenFill>
            </a:ext>
          </a:extLst>
        </p:spPr>
      </p:pic>
      <p:sp>
        <p:nvSpPr>
          <p:cNvPr id="1475" name="Google Shape;1475;p37"/>
          <p:cNvSpPr txBox="1">
            <a:spLocks noGrp="1"/>
          </p:cNvSpPr>
          <p:nvPr>
            <p:ph type="subTitle" idx="1"/>
          </p:nvPr>
        </p:nvSpPr>
        <p:spPr>
          <a:xfrm>
            <a:off x="475129" y="590578"/>
            <a:ext cx="7273935"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Процесс управления жизненным циклом очереди (</a:t>
            </a:r>
            <a:r>
              <a:rPr lang="ru-RU" sz="1600" dirty="0" smtClean="0">
                <a:latin typeface="Arial" panose="020B0604020202020204" pitchFamily="34" charset="0"/>
                <a:cs typeface="Arial" panose="020B0604020202020204" pitchFamily="34" charset="0"/>
              </a:rPr>
              <a:t>Администратор</a:t>
            </a:r>
            <a:r>
              <a:rPr lang="ru-RU" sz="1600" dirty="0" smtClean="0">
                <a:latin typeface="Arial" panose="020B0604020202020204" pitchFamily="34" charset="0"/>
                <a:cs typeface="Arial" panose="020B0604020202020204" pitchFamily="34" charset="0"/>
              </a:rPr>
              <a:t>)</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936749" y="4895274"/>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9064" y="32256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4095191277"/>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100" name="Picture 4" descr="Picture backgroun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5201" y="3358523"/>
            <a:ext cx="5942002" cy="3342376"/>
          </a:xfrm>
          <a:prstGeom prst="rect">
            <a:avLst/>
          </a:prstGeom>
          <a:noFill/>
          <a:extLst>
            <a:ext uri="{909E8E84-426E-40DD-AFC4-6F175D3DCCD1}">
              <a14:hiddenFill xmlns:a14="http://schemas.microsoft.com/office/drawing/2010/main">
                <a:solidFill>
                  <a:srgbClr val="FFFFFF"/>
                </a:solidFill>
              </a14:hiddenFill>
            </a:ext>
          </a:extLst>
        </p:spPr>
      </p:pic>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Организация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014051" y="471678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77905" y="-107628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Документация</a:t>
            </a:r>
            <a:endParaRPr sz="3600" dirty="0"/>
          </a:p>
        </p:txBody>
      </p:sp>
      <p:sp>
        <p:nvSpPr>
          <p:cNvPr id="46" name="Google Shape;1466;p36"/>
          <p:cNvSpPr txBox="1">
            <a:spLocks/>
          </p:cNvSpPr>
          <p:nvPr/>
        </p:nvSpPr>
        <p:spPr>
          <a:xfrm>
            <a:off x="431486" y="1110019"/>
            <a:ext cx="3382868" cy="442832"/>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400" b="1" dirty="0"/>
              <a:t>Фреймворк </a:t>
            </a:r>
            <a:r>
              <a:rPr lang="en-US" sz="2400" b="1" dirty="0" err="1"/>
              <a:t>Diátaxis</a:t>
            </a:r>
            <a:endParaRPr lang="ru-RU" sz="2400" b="1" dirty="0"/>
          </a:p>
        </p:txBody>
      </p:sp>
      <p:sp>
        <p:nvSpPr>
          <p:cNvPr id="47" name="Google Shape;1458;p36"/>
          <p:cNvSpPr txBox="1">
            <a:spLocks/>
          </p:cNvSpPr>
          <p:nvPr/>
        </p:nvSpPr>
        <p:spPr>
          <a:xfrm>
            <a:off x="448952" y="1456589"/>
            <a:ext cx="7729652" cy="226020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smtClean="0">
                <a:latin typeface="Arial" panose="020B0604020202020204" pitchFamily="34" charset="0"/>
                <a:cs typeface="Arial" panose="020B0604020202020204" pitchFamily="34" charset="0"/>
              </a:rPr>
              <a:t>Подход </a:t>
            </a:r>
            <a:r>
              <a:rPr lang="ru-RU" sz="2000" dirty="0">
                <a:latin typeface="Arial" panose="020B0604020202020204" pitchFamily="34" charset="0"/>
                <a:cs typeface="Arial" panose="020B0604020202020204" pitchFamily="34" charset="0"/>
              </a:rPr>
              <a:t>к структурированию технической документации, разработанный для удовлетворения потребностей пользователей и повышения качества информации. Он помогает организовать контент в чёткие категории, упростить навигацию и обеспечить соответствие информации целям пользователя.</a:t>
            </a:r>
            <a:endParaRPr lang="ru-RU" sz="2000" dirty="0" smtClean="0">
              <a:latin typeface="Arial" panose="020B0604020202020204" pitchFamily="34" charset="0"/>
              <a:cs typeface="Arial" panose="020B0604020202020204" pitchFamily="34" charset="0"/>
            </a:endParaRPr>
          </a:p>
        </p:txBody>
      </p:sp>
      <p:grpSp>
        <p:nvGrpSpPr>
          <p:cNvPr id="53" name="Google Shape;12151;p79"/>
          <p:cNvGrpSpPr>
            <a:grpSpLocks noChangeAspect="1"/>
          </p:cNvGrpSpPr>
          <p:nvPr/>
        </p:nvGrpSpPr>
        <p:grpSpPr>
          <a:xfrm>
            <a:off x="3630751" y="1069463"/>
            <a:ext cx="481815" cy="413710"/>
            <a:chOff x="848978" y="4297637"/>
            <a:chExt cx="377824" cy="324418"/>
          </a:xfrm>
          <a:solidFill>
            <a:schemeClr val="tx2"/>
          </a:solidFill>
        </p:grpSpPr>
        <p:sp>
          <p:nvSpPr>
            <p:cNvPr id="54"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62292015"/>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1815225"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Хранение</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014051" y="471678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77905" y="-107628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4488053" cy="841800"/>
          </a:xfrm>
          <a:prstGeom prst="rect">
            <a:avLst/>
          </a:prstGeom>
        </p:spPr>
        <p:txBody>
          <a:bodyPr spcFirstLastPara="1" wrap="square" lIns="91425" tIns="91425" rIns="91425" bIns="91425" anchor="ctr" anchorCtr="0">
            <a:noAutofit/>
          </a:bodyPr>
          <a:lstStyle/>
          <a:p>
            <a:pPr lvl="0"/>
            <a:r>
              <a:rPr lang="ru-RU" sz="3600" dirty="0" smtClean="0"/>
              <a:t>Документация</a:t>
            </a:r>
            <a:endParaRPr sz="3600" dirty="0"/>
          </a:p>
        </p:txBody>
      </p:sp>
      <p:sp>
        <p:nvSpPr>
          <p:cNvPr id="46" name="Google Shape;1466;p36"/>
          <p:cNvSpPr txBox="1">
            <a:spLocks/>
          </p:cNvSpPr>
          <p:nvPr/>
        </p:nvSpPr>
        <p:spPr>
          <a:xfrm>
            <a:off x="431486" y="1110019"/>
            <a:ext cx="3166697" cy="442832"/>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400" b="1" dirty="0"/>
              <a:t>Docs as Code</a:t>
            </a:r>
            <a:endParaRPr lang="ru-RU" sz="2400" b="1" dirty="0"/>
          </a:p>
        </p:txBody>
      </p:sp>
      <p:sp>
        <p:nvSpPr>
          <p:cNvPr id="47" name="Google Shape;1458;p36"/>
          <p:cNvSpPr txBox="1">
            <a:spLocks/>
          </p:cNvSpPr>
          <p:nvPr/>
        </p:nvSpPr>
        <p:spPr>
          <a:xfrm>
            <a:off x="448952" y="1456588"/>
            <a:ext cx="7729652" cy="273483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a:latin typeface="Arial" panose="020B0604020202020204" pitchFamily="34" charset="0"/>
                <a:cs typeface="Arial" panose="020B0604020202020204" pitchFamily="34" charset="0"/>
              </a:rPr>
              <a:t>П</a:t>
            </a:r>
            <a:r>
              <a:rPr lang="ru-RU" sz="2000" dirty="0" smtClean="0">
                <a:latin typeface="Arial" panose="020B0604020202020204" pitchFamily="34" charset="0"/>
                <a:cs typeface="Arial" panose="020B0604020202020204" pitchFamily="34" charset="0"/>
              </a:rPr>
              <a:t>одход </a:t>
            </a:r>
            <a:r>
              <a:rPr lang="ru-RU" sz="2000" dirty="0">
                <a:latin typeface="Arial" panose="020B0604020202020204" pitchFamily="34" charset="0"/>
                <a:cs typeface="Arial" panose="020B0604020202020204" pitchFamily="34" charset="0"/>
              </a:rPr>
              <a:t>к созданию и поддержке технической документации, при котором документация разрабатывается и управляется так же, как программный </a:t>
            </a:r>
            <a:r>
              <a:rPr lang="ru-RU" sz="2000" dirty="0" smtClean="0">
                <a:latin typeface="Arial" panose="020B0604020202020204" pitchFamily="34" charset="0"/>
                <a:cs typeface="Arial" panose="020B0604020202020204" pitchFamily="34" charset="0"/>
              </a:rPr>
              <a:t>код.</a:t>
            </a:r>
          </a:p>
          <a:p>
            <a:pPr marL="0" indent="0">
              <a:spcAft>
                <a:spcPts val="600"/>
              </a:spcAft>
            </a:pPr>
            <a:r>
              <a:rPr lang="ru-RU" sz="2000" dirty="0">
                <a:latin typeface="Arial" panose="020B0604020202020204" pitchFamily="34" charset="0"/>
                <a:cs typeface="Arial" panose="020B0604020202020204" pitchFamily="34" charset="0"/>
              </a:rPr>
              <a:t>Документация хранится в системе контроля версий (например, </a:t>
            </a:r>
            <a:r>
              <a:rPr lang="ru-RU" sz="2000" dirty="0" err="1">
                <a:latin typeface="Arial" panose="020B0604020202020204" pitchFamily="34" charset="0"/>
                <a:cs typeface="Arial" panose="020B0604020202020204" pitchFamily="34" charset="0"/>
              </a:rPr>
              <a:t>Git</a:t>
            </a:r>
            <a:r>
              <a:rPr lang="ru-RU" sz="2000" dirty="0">
                <a:latin typeface="Arial" panose="020B0604020202020204" pitchFamily="34" charset="0"/>
                <a:cs typeface="Arial" panose="020B0604020202020204" pitchFamily="34" charset="0"/>
              </a:rPr>
              <a:t>) в </a:t>
            </a:r>
            <a:r>
              <a:rPr lang="ru-RU" sz="2000" dirty="0" smtClean="0">
                <a:latin typeface="Arial" panose="020B0604020202020204" pitchFamily="34" charset="0"/>
                <a:cs typeface="Arial" panose="020B0604020202020204" pitchFamily="34" charset="0"/>
              </a:rPr>
              <a:t>простых форматах вместе </a:t>
            </a:r>
            <a:r>
              <a:rPr lang="ru-RU" sz="2000" dirty="0">
                <a:latin typeface="Arial" panose="020B0604020202020204" pitchFamily="34" charset="0"/>
                <a:cs typeface="Arial" panose="020B0604020202020204" pitchFamily="34" charset="0"/>
              </a:rPr>
              <a:t>с кодом проекта. Это позволяет отслеживать изменения, сотрудничать в команде и при необходимости возвращаться к предыдущим версиям.</a:t>
            </a:r>
            <a:endParaRPr lang="ru-RU" sz="2000" dirty="0" smtClean="0">
              <a:latin typeface="Arial" panose="020B0604020202020204" pitchFamily="34" charset="0"/>
              <a:cs typeface="Arial" panose="020B0604020202020204" pitchFamily="34" charset="0"/>
            </a:endParaRPr>
          </a:p>
        </p:txBody>
      </p:sp>
      <p:grpSp>
        <p:nvGrpSpPr>
          <p:cNvPr id="50" name="Google Shape;2462;p64"/>
          <p:cNvGrpSpPr>
            <a:grpSpLocks noChangeAspect="1"/>
          </p:cNvGrpSpPr>
          <p:nvPr/>
        </p:nvGrpSpPr>
        <p:grpSpPr>
          <a:xfrm>
            <a:off x="2672162" y="1098915"/>
            <a:ext cx="498119" cy="430896"/>
            <a:chOff x="4749208" y="3762250"/>
            <a:chExt cx="476669" cy="412340"/>
          </a:xfrm>
        </p:grpSpPr>
        <p:sp>
          <p:nvSpPr>
            <p:cNvPr id="51"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122" name="Picture 2" descr="Файл:Markdown-mark.sv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3153" y="4592952"/>
            <a:ext cx="2381250" cy="14668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4476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1815225"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Автоматизация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014051" y="471678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77905" y="-107628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4488053" cy="841800"/>
          </a:xfrm>
          <a:prstGeom prst="rect">
            <a:avLst/>
          </a:prstGeom>
        </p:spPr>
        <p:txBody>
          <a:bodyPr spcFirstLastPara="1" wrap="square" lIns="91425" tIns="91425" rIns="91425" bIns="91425" anchor="ctr" anchorCtr="0">
            <a:noAutofit/>
          </a:bodyPr>
          <a:lstStyle/>
          <a:p>
            <a:pPr lvl="0"/>
            <a:r>
              <a:rPr lang="ru-RU" sz="3600" dirty="0" smtClean="0"/>
              <a:t>Документация</a:t>
            </a:r>
            <a:endParaRPr sz="3600" dirty="0"/>
          </a:p>
        </p:txBody>
      </p:sp>
      <p:sp>
        <p:nvSpPr>
          <p:cNvPr id="47" name="Google Shape;1458;p36"/>
          <p:cNvSpPr txBox="1">
            <a:spLocks/>
          </p:cNvSpPr>
          <p:nvPr/>
        </p:nvSpPr>
        <p:spPr>
          <a:xfrm>
            <a:off x="365575" y="2195680"/>
            <a:ext cx="7244737" cy="126644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smtClean="0">
                <a:latin typeface="Arial" panose="020B0604020202020204" pitchFamily="34" charset="0"/>
                <a:cs typeface="Arial" panose="020B0604020202020204" pitchFamily="34" charset="0"/>
              </a:rPr>
              <a:t>Спецификация </a:t>
            </a:r>
            <a:r>
              <a:rPr lang="ru-RU" sz="2000" dirty="0">
                <a:latin typeface="Arial" panose="020B0604020202020204" pitchFamily="34" charset="0"/>
                <a:cs typeface="Arial" panose="020B0604020202020204" pitchFamily="34" charset="0"/>
              </a:rPr>
              <a:t>и экосистема инструментов, которая предоставляет интерфейс описания HTTP API. </a:t>
            </a:r>
            <a:r>
              <a:rPr lang="ru-RU" sz="2000" dirty="0" smtClean="0">
                <a:latin typeface="Arial" panose="020B0604020202020204" pitchFamily="34" charset="0"/>
                <a:cs typeface="Arial" panose="020B0604020202020204" pitchFamily="34" charset="0"/>
              </a:rPr>
              <a:t>Позволяет </a:t>
            </a:r>
            <a:r>
              <a:rPr lang="ru-RU" sz="2000" dirty="0">
                <a:latin typeface="Arial" panose="020B0604020202020204" pitchFamily="34" charset="0"/>
                <a:cs typeface="Arial" panose="020B0604020202020204" pitchFamily="34" charset="0"/>
              </a:rPr>
              <a:t>автоматически</a:t>
            </a:r>
            <a:r>
              <a:rPr lang="ru-RU" sz="2000" dirty="0" smtClean="0">
                <a:latin typeface="Arial" panose="020B0604020202020204" pitchFamily="34" charset="0"/>
                <a:cs typeface="Arial" panose="020B0604020202020204" pitchFamily="34" charset="0"/>
              </a:rPr>
              <a:t> </a:t>
            </a:r>
            <a:r>
              <a:rPr lang="ru-RU" sz="2000" dirty="0">
                <a:latin typeface="Arial" panose="020B0604020202020204" pitchFamily="34" charset="0"/>
                <a:cs typeface="Arial" panose="020B0604020202020204" pitchFamily="34" charset="0"/>
              </a:rPr>
              <a:t>генерировать </a:t>
            </a:r>
            <a:r>
              <a:rPr lang="ru-RU" sz="2000" dirty="0" smtClean="0">
                <a:latin typeface="Arial" panose="020B0604020202020204" pitchFamily="34" charset="0"/>
                <a:cs typeface="Arial" panose="020B0604020202020204" pitchFamily="34" charset="0"/>
              </a:rPr>
              <a:t>текстовую </a:t>
            </a:r>
            <a:r>
              <a:rPr lang="ru-RU" sz="2000" dirty="0">
                <a:latin typeface="Arial" panose="020B0604020202020204" pitchFamily="34" charset="0"/>
                <a:cs typeface="Arial" panose="020B0604020202020204" pitchFamily="34" charset="0"/>
              </a:rPr>
              <a:t>документацию API</a:t>
            </a:r>
            <a:r>
              <a:rPr lang="ru-RU" sz="2000" dirty="0" smtClean="0">
                <a:latin typeface="Arial" panose="020B0604020202020204" pitchFamily="34" charset="0"/>
                <a:cs typeface="Arial" panose="020B0604020202020204" pitchFamily="34" charset="0"/>
              </a:rPr>
              <a:t>.</a:t>
            </a:r>
            <a:endParaRPr lang="ru-RU" sz="2000" dirty="0" smtClean="0">
              <a:latin typeface="Arial" panose="020B0604020202020204" pitchFamily="34" charset="0"/>
              <a:cs typeface="Arial" panose="020B0604020202020204" pitchFamily="34" charset="0"/>
            </a:endParaRPr>
          </a:p>
        </p:txBody>
      </p:sp>
      <p:pic>
        <p:nvPicPr>
          <p:cNvPr id="6146" name="Picture 2" descr="https://yastatic.net/naydex/yandex-search/it6hVn445/4d61feGVOY9L/bb0ngQX-X0TyUy9yTvJ3caPxiWxT3kxlbw4HyVHM849MrbWztkKbGdplIG6DnZ6LbqrdtrU5yZobvvOgZMgdeI8PJLIS7HwnVMAtgz6ixrUSlTkJ8F3g"/>
          <p:cNvPicPr>
            <a:picLocks noChangeAspect="1" noChangeArrowheads="1"/>
          </p:cNvPicPr>
          <p:nvPr/>
        </p:nvPicPr>
        <p:blipFill rotWithShape="1">
          <a:blip r:embed="rId4">
            <a:extLst>
              <a:ext uri="{28A0092B-C50C-407E-A947-70E740481C1C}">
                <a14:useLocalDpi xmlns:a14="http://schemas.microsoft.com/office/drawing/2010/main" val="0"/>
              </a:ext>
            </a:extLst>
          </a:blip>
          <a:srcRect t="30008" b="28521"/>
          <a:stretch/>
        </p:blipFill>
        <p:spPr bwMode="auto">
          <a:xfrm>
            <a:off x="133137" y="1493452"/>
            <a:ext cx="3083832" cy="914400"/>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Picture backgroun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38904" y="3952810"/>
            <a:ext cx="3060877" cy="783585"/>
          </a:xfrm>
          <a:prstGeom prst="rect">
            <a:avLst/>
          </a:prstGeom>
          <a:noFill/>
          <a:extLst>
            <a:ext uri="{909E8E84-426E-40DD-AFC4-6F175D3DCCD1}">
              <a14:hiddenFill xmlns:a14="http://schemas.microsoft.com/office/drawing/2010/main">
                <a:solidFill>
                  <a:srgbClr val="FFFFFF"/>
                </a:solidFill>
              </a14:hiddenFill>
            </a:ext>
          </a:extLst>
        </p:spPr>
      </p:pic>
      <p:sp>
        <p:nvSpPr>
          <p:cNvPr id="72" name="Google Shape;1458;p36"/>
          <p:cNvSpPr txBox="1">
            <a:spLocks/>
          </p:cNvSpPr>
          <p:nvPr/>
        </p:nvSpPr>
        <p:spPr>
          <a:xfrm>
            <a:off x="2211438" y="4714628"/>
            <a:ext cx="6697813" cy="158722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smtClean="0">
                <a:latin typeface="Arial" panose="020B0604020202020204" pitchFamily="34" charset="0"/>
                <a:cs typeface="Arial" panose="020B0604020202020204" pitchFamily="34" charset="0"/>
              </a:rPr>
              <a:t>Статический </a:t>
            </a:r>
            <a:r>
              <a:rPr lang="ru-RU" sz="2000" dirty="0">
                <a:latin typeface="Arial" panose="020B0604020202020204" pitchFamily="34" charset="0"/>
                <a:cs typeface="Arial" panose="020B0604020202020204" pitchFamily="34" charset="0"/>
              </a:rPr>
              <a:t>генератор сайтов, предназначенный для создания проектной документации. </a:t>
            </a:r>
            <a:r>
              <a:rPr lang="ru-RU" sz="2000" dirty="0" smtClean="0">
                <a:latin typeface="Arial" panose="020B0604020202020204" pitchFamily="34" charset="0"/>
                <a:cs typeface="Arial" panose="020B0604020202020204" pitchFamily="34" charset="0"/>
              </a:rPr>
              <a:t>Преобразует </a:t>
            </a:r>
            <a:r>
              <a:rPr lang="ru-RU" sz="2000" dirty="0">
                <a:latin typeface="Arial" panose="020B0604020202020204" pitchFamily="34" charset="0"/>
                <a:cs typeface="Arial" panose="020B0604020202020204" pitchFamily="34" charset="0"/>
              </a:rPr>
              <a:t>файлы </a:t>
            </a:r>
            <a:r>
              <a:rPr lang="ru-RU" sz="2000" dirty="0" err="1">
                <a:latin typeface="Arial" panose="020B0604020202020204" pitchFamily="34" charset="0"/>
                <a:cs typeface="Arial" panose="020B0604020202020204" pitchFamily="34" charset="0"/>
              </a:rPr>
              <a:t>Markdown</a:t>
            </a:r>
            <a:r>
              <a:rPr lang="ru-RU" sz="2000" dirty="0">
                <a:latin typeface="Arial" panose="020B0604020202020204" pitchFamily="34" charset="0"/>
                <a:cs typeface="Arial" panose="020B0604020202020204" pitchFamily="34" charset="0"/>
              </a:rPr>
              <a:t> в HTML-страницы, создавая статический веб-сайт, содержащий документацию.</a:t>
            </a:r>
            <a:endParaRPr lang="ru-RU" sz="2000" dirty="0"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5005967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1815225"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Реализация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014051" y="471678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77905" y="-107628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4488053" cy="841800"/>
          </a:xfrm>
          <a:prstGeom prst="rect">
            <a:avLst/>
          </a:prstGeom>
        </p:spPr>
        <p:txBody>
          <a:bodyPr spcFirstLastPara="1" wrap="square" lIns="91425" tIns="91425" rIns="91425" bIns="91425" anchor="ctr" anchorCtr="0">
            <a:noAutofit/>
          </a:bodyPr>
          <a:lstStyle/>
          <a:p>
            <a:pPr lvl="0"/>
            <a:r>
              <a:rPr lang="ru-RU" sz="3600" dirty="0" smtClean="0"/>
              <a:t>Документация</a:t>
            </a:r>
            <a:endParaRPr sz="3600" dirty="0"/>
          </a:p>
        </p:txBody>
      </p:sp>
      <p:sp>
        <p:nvSpPr>
          <p:cNvPr id="47" name="Google Shape;1458;p36"/>
          <p:cNvSpPr txBox="1">
            <a:spLocks/>
          </p:cNvSpPr>
          <p:nvPr/>
        </p:nvSpPr>
        <p:spPr>
          <a:xfrm>
            <a:off x="430633" y="1578512"/>
            <a:ext cx="7244737" cy="203923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smtClean="0">
                <a:latin typeface="Arial" panose="020B0604020202020204" pitchFamily="34" charset="0"/>
                <a:cs typeface="Arial" panose="020B0604020202020204" pitchFamily="34" charset="0"/>
              </a:rPr>
              <a:t>Настроен простой </a:t>
            </a:r>
            <a:r>
              <a:rPr lang="en-US" sz="2000" dirty="0" smtClean="0">
                <a:latin typeface="Arial" panose="020B0604020202020204" pitchFamily="34" charset="0"/>
                <a:cs typeface="Arial" panose="020B0604020202020204" pitchFamily="34" charset="0"/>
              </a:rPr>
              <a:t>CI/CD-</a:t>
            </a:r>
            <a:r>
              <a:rPr lang="ru-RU" sz="2000" dirty="0" err="1" smtClean="0">
                <a:latin typeface="Arial" panose="020B0604020202020204" pitchFamily="34" charset="0"/>
                <a:cs typeface="Arial" panose="020B0604020202020204" pitchFamily="34" charset="0"/>
              </a:rPr>
              <a:t>пайплайн</a:t>
            </a:r>
            <a:r>
              <a:rPr lang="ru-RU" sz="2000" dirty="0" smtClean="0">
                <a:latin typeface="Arial" panose="020B0604020202020204" pitchFamily="34" charset="0"/>
                <a:cs typeface="Arial" panose="020B0604020202020204" pitchFamily="34" charset="0"/>
              </a:rPr>
              <a:t> автоматической сборки документации.</a:t>
            </a:r>
          </a:p>
          <a:p>
            <a:pPr marL="0" indent="0">
              <a:spcAft>
                <a:spcPts val="600"/>
              </a:spcAft>
            </a:pPr>
            <a:r>
              <a:rPr lang="ru-RU" sz="2000" dirty="0" smtClean="0">
                <a:latin typeface="Arial" panose="020B0604020202020204" pitchFamily="34" charset="0"/>
                <a:cs typeface="Arial" panose="020B0604020202020204" pitchFamily="34" charset="0"/>
              </a:rPr>
              <a:t>При </a:t>
            </a:r>
            <a:r>
              <a:rPr lang="ru-RU" sz="2000" dirty="0" err="1" smtClean="0">
                <a:latin typeface="Arial" panose="020B0604020202020204" pitchFamily="34" charset="0"/>
                <a:cs typeface="Arial" panose="020B0604020202020204" pitchFamily="34" charset="0"/>
              </a:rPr>
              <a:t>коммите</a:t>
            </a:r>
            <a:r>
              <a:rPr lang="ru-RU" sz="2000" dirty="0" smtClean="0">
                <a:latin typeface="Arial" panose="020B0604020202020204" pitchFamily="34" charset="0"/>
                <a:cs typeface="Arial" panose="020B0604020202020204" pitchFamily="34" charset="0"/>
              </a:rPr>
              <a:t> изменений система сама собирает актуальную документацию </a:t>
            </a:r>
            <a:r>
              <a:rPr lang="en-US" sz="2000" dirty="0" smtClean="0">
                <a:latin typeface="Arial" panose="020B0604020202020204" pitchFamily="34" charset="0"/>
                <a:cs typeface="Arial" panose="020B0604020202020204" pitchFamily="34" charset="0"/>
              </a:rPr>
              <a:t>API </a:t>
            </a:r>
            <a:r>
              <a:rPr lang="ru-RU" sz="2000" dirty="0" smtClean="0">
                <a:latin typeface="Arial" panose="020B0604020202020204" pitchFamily="34" charset="0"/>
                <a:cs typeface="Arial" panose="020B0604020202020204" pitchFamily="34" charset="0"/>
              </a:rPr>
              <a:t>и </a:t>
            </a:r>
            <a:r>
              <a:rPr lang="en-US" sz="2000" dirty="0" smtClean="0">
                <a:latin typeface="Arial" panose="020B0604020202020204" pitchFamily="34" charset="0"/>
                <a:cs typeface="Arial" panose="020B0604020202020204" pitchFamily="34" charset="0"/>
              </a:rPr>
              <a:t>md-</a:t>
            </a:r>
            <a:r>
              <a:rPr lang="ru-RU" sz="2000" dirty="0" smtClean="0">
                <a:latin typeface="Arial" panose="020B0604020202020204" pitchFamily="34" charset="0"/>
                <a:cs typeface="Arial" panose="020B0604020202020204" pitchFamily="34" charset="0"/>
              </a:rPr>
              <a:t>файлы в одном месте и публикует на веб-страницу</a:t>
            </a:r>
            <a:endParaRPr lang="ru-RU" sz="2000" dirty="0" smtClean="0">
              <a:latin typeface="Arial" panose="020B0604020202020204" pitchFamily="34" charset="0"/>
              <a:cs typeface="Arial" panose="020B0604020202020204" pitchFamily="34" charset="0"/>
            </a:endParaRPr>
          </a:p>
        </p:txBody>
      </p:sp>
      <p:sp>
        <p:nvSpPr>
          <p:cNvPr id="48" name="Google Shape;1466;p36"/>
          <p:cNvSpPr txBox="1">
            <a:spLocks/>
          </p:cNvSpPr>
          <p:nvPr/>
        </p:nvSpPr>
        <p:spPr>
          <a:xfrm>
            <a:off x="428136" y="1290047"/>
            <a:ext cx="3166697" cy="442832"/>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400" b="1" dirty="0" err="1"/>
              <a:t>G</a:t>
            </a:r>
            <a:r>
              <a:rPr lang="en-US" sz="2400" b="1" dirty="0" err="1" smtClean="0"/>
              <a:t>ithub</a:t>
            </a:r>
            <a:r>
              <a:rPr lang="en-US" sz="2400" b="1" dirty="0" smtClean="0"/>
              <a:t> Actions</a:t>
            </a:r>
            <a:endParaRPr lang="ru-RU" sz="2400" b="1" dirty="0"/>
          </a:p>
        </p:txBody>
      </p:sp>
      <p:pic>
        <p:nvPicPr>
          <p:cNvPr id="2" name="Рисунок 1"/>
          <p:cNvPicPr>
            <a:picLocks noChangeAspect="1"/>
          </p:cNvPicPr>
          <p:nvPr/>
        </p:nvPicPr>
        <p:blipFill>
          <a:blip r:embed="rId4"/>
          <a:stretch>
            <a:fillRect/>
          </a:stretch>
        </p:blipFill>
        <p:spPr>
          <a:xfrm>
            <a:off x="1866914" y="3792987"/>
            <a:ext cx="5353797" cy="2629267"/>
          </a:xfrm>
          <a:prstGeom prst="rect">
            <a:avLst/>
          </a:prstGeom>
        </p:spPr>
      </p:pic>
    </p:spTree>
    <p:extLst>
      <p:ext uri="{BB962C8B-B14F-4D97-AF65-F5344CB8AC3E}">
        <p14:creationId xmlns:p14="http://schemas.microsoft.com/office/powerpoint/2010/main" val="273627873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stretch>
            <a:fillRect/>
          </a:stretch>
        </p:blipFill>
        <p:spPr>
          <a:xfrm>
            <a:off x="165514" y="2898625"/>
            <a:ext cx="8808268" cy="3706594"/>
          </a:xfrm>
          <a:prstGeom prst="rect">
            <a:avLst/>
          </a:prstGeom>
        </p:spPr>
      </p:pic>
      <p:sp>
        <p:nvSpPr>
          <p:cNvPr id="1475" name="Google Shape;1475;p37"/>
          <p:cNvSpPr txBox="1">
            <a:spLocks noGrp="1"/>
          </p:cNvSpPr>
          <p:nvPr>
            <p:ph type="subTitle" idx="1"/>
          </p:nvPr>
        </p:nvSpPr>
        <p:spPr>
          <a:xfrm>
            <a:off x="475129" y="590578"/>
            <a:ext cx="1815225"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Реализация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231163" y="4940684"/>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26834" y="-171637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4488053" cy="841800"/>
          </a:xfrm>
          <a:prstGeom prst="rect">
            <a:avLst/>
          </a:prstGeom>
        </p:spPr>
        <p:txBody>
          <a:bodyPr spcFirstLastPara="1" wrap="square" lIns="91425" tIns="91425" rIns="91425" bIns="91425" anchor="ctr" anchorCtr="0">
            <a:noAutofit/>
          </a:bodyPr>
          <a:lstStyle/>
          <a:p>
            <a:pPr lvl="0"/>
            <a:r>
              <a:rPr lang="ru-RU" sz="3600" dirty="0" smtClean="0"/>
              <a:t>Документация</a:t>
            </a:r>
            <a:endParaRPr sz="3600" dirty="0"/>
          </a:p>
        </p:txBody>
      </p:sp>
      <p:sp>
        <p:nvSpPr>
          <p:cNvPr id="47" name="Google Shape;1458;p36"/>
          <p:cNvSpPr txBox="1">
            <a:spLocks/>
          </p:cNvSpPr>
          <p:nvPr/>
        </p:nvSpPr>
        <p:spPr>
          <a:xfrm>
            <a:off x="430633" y="1438893"/>
            <a:ext cx="7244737" cy="123207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spcAft>
                <a:spcPts val="600"/>
              </a:spcAft>
            </a:pPr>
            <a:r>
              <a:rPr lang="ru-RU" sz="2000" dirty="0" smtClean="0">
                <a:latin typeface="Arial" panose="020B0604020202020204" pitchFamily="34" charset="0"/>
                <a:cs typeface="Arial" panose="020B0604020202020204" pitchFamily="34" charset="0"/>
              </a:rPr>
              <a:t>Полученная страница публикуется на открытой веб-странице, уже содержащей все необходимые элементы для удобной навигации</a:t>
            </a:r>
            <a:endParaRPr lang="ru-RU" sz="2000" dirty="0" smtClean="0">
              <a:latin typeface="Arial" panose="020B0604020202020204" pitchFamily="34" charset="0"/>
              <a:cs typeface="Arial" panose="020B0604020202020204" pitchFamily="34" charset="0"/>
            </a:endParaRPr>
          </a:p>
        </p:txBody>
      </p:sp>
      <p:sp>
        <p:nvSpPr>
          <p:cNvPr id="48" name="Google Shape;1466;p36"/>
          <p:cNvSpPr txBox="1">
            <a:spLocks/>
          </p:cNvSpPr>
          <p:nvPr/>
        </p:nvSpPr>
        <p:spPr>
          <a:xfrm>
            <a:off x="428136" y="1150428"/>
            <a:ext cx="3166697" cy="442832"/>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400" b="1" dirty="0" err="1"/>
              <a:t>G</a:t>
            </a:r>
            <a:r>
              <a:rPr lang="en-US" sz="2400" b="1" dirty="0" err="1" smtClean="0"/>
              <a:t>ithub</a:t>
            </a:r>
            <a:r>
              <a:rPr lang="en-US" sz="2400" b="1" dirty="0" smtClean="0"/>
              <a:t> Pages</a:t>
            </a:r>
            <a:endParaRPr lang="ru-RU" sz="2400" b="1" dirty="0"/>
          </a:p>
        </p:txBody>
      </p:sp>
    </p:spTree>
    <p:extLst>
      <p:ext uri="{BB962C8B-B14F-4D97-AF65-F5344CB8AC3E}">
        <p14:creationId xmlns:p14="http://schemas.microsoft.com/office/powerpoint/2010/main" val="307052944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367472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Исправлена </a:t>
            </a:r>
            <a:r>
              <a:rPr lang="ru-RU" sz="1800" dirty="0" smtClean="0">
                <a:latin typeface="Arial" panose="020B0604020202020204" pitchFamily="34" charset="0"/>
                <a:cs typeface="Arial" panose="020B0604020202020204" pitchFamily="34" charset="0"/>
              </a:rPr>
              <a:t>диаграмма </a:t>
            </a:r>
            <a:r>
              <a:rPr lang="en-US" sz="1800" dirty="0" smtClean="0">
                <a:latin typeface="Arial" panose="020B0604020202020204" pitchFamily="34" charset="0"/>
                <a:cs typeface="Arial" panose="020B0604020202020204" pitchFamily="34" charset="0"/>
              </a:rPr>
              <a:t>C4</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Исследованы </a:t>
            </a:r>
            <a:r>
              <a:rPr lang="ru-RU" sz="1800" dirty="0">
                <a:latin typeface="Arial" panose="020B0604020202020204" pitchFamily="34" charset="0"/>
                <a:cs typeface="Arial" panose="020B0604020202020204" pitchFamily="34" charset="0"/>
              </a:rPr>
              <a:t>методологии написания </a:t>
            </a:r>
            <a:r>
              <a:rPr lang="ru-RU" sz="1800" dirty="0" smtClean="0">
                <a:latin typeface="Arial" panose="020B0604020202020204" pitchFamily="34" charset="0"/>
                <a:cs typeface="Arial" panose="020B0604020202020204" pitchFamily="34" charset="0"/>
              </a:rPr>
              <a:t>документации</a:t>
            </a:r>
          </a:p>
          <a:p>
            <a:pPr marL="342900" indent="-342900">
              <a:spcAft>
                <a:spcPts val="600"/>
              </a:spcAft>
              <a:buFont typeface="Poppins"/>
              <a:buAutoNum type="arabicPeriod"/>
            </a:pPr>
            <a:r>
              <a:rPr lang="ru-RU" sz="1800" dirty="0" smtClean="0">
                <a:latin typeface="Arial" panose="020B0604020202020204" pitchFamily="34" charset="0"/>
                <a:cs typeface="Arial" panose="020B0604020202020204" pitchFamily="34" charset="0"/>
              </a:rPr>
              <a:t>Реализованы </a:t>
            </a:r>
            <a:r>
              <a:rPr lang="ru-RU" sz="1800" dirty="0">
                <a:latin typeface="Arial" panose="020B0604020202020204" pitchFamily="34" charset="0"/>
                <a:cs typeface="Arial" panose="020B0604020202020204" pitchFamily="34" charset="0"/>
              </a:rPr>
              <a:t>методологии написания документации</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Сформировано </a:t>
            </a:r>
            <a:r>
              <a:rPr lang="ru-RU" sz="1800" dirty="0">
                <a:latin typeface="Arial" panose="020B0604020202020204" pitchFamily="34" charset="0"/>
                <a:cs typeface="Arial" panose="020B0604020202020204" pitchFamily="34" charset="0"/>
              </a:rPr>
              <a:t>текстовое описание архитектуры</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Подготовлены дополнительные диаграммы последовательности </a:t>
            </a:r>
            <a:r>
              <a:rPr lang="en-US" sz="1800" dirty="0" smtClean="0">
                <a:latin typeface="Arial" panose="020B0604020202020204" pitchFamily="34" charset="0"/>
                <a:cs typeface="Arial" panose="020B0604020202020204" pitchFamily="34" charset="0"/>
              </a:rPr>
              <a:t>UML</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a:t>
            </a:r>
            <a:r>
              <a:rPr lang="ru-RU" sz="1800" dirty="0" smtClean="0">
                <a:latin typeface="Arial" panose="020B0604020202020204" pitchFamily="34" charset="0"/>
                <a:cs typeface="Arial" panose="020B0604020202020204" pitchFamily="34" charset="0"/>
              </a:rPr>
              <a:t>презентация </a:t>
            </a:r>
            <a:r>
              <a:rPr lang="ru-RU" sz="1800" dirty="0">
                <a:latin typeface="Arial" panose="020B0604020202020204" pitchFamily="34" charset="0"/>
                <a:cs typeface="Arial" panose="020B0604020202020204" pitchFamily="34" charset="0"/>
              </a:rPr>
              <a:t>по </a:t>
            </a:r>
            <a:r>
              <a:rPr lang="ru-RU" sz="1800" dirty="0" smtClean="0">
                <a:latin typeface="Arial" panose="020B0604020202020204" pitchFamily="34" charset="0"/>
                <a:cs typeface="Arial" panose="020B0604020202020204" pitchFamily="34" charset="0"/>
              </a:rPr>
              <a:t>итогам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запланированные </a:t>
            </a:r>
            <a:r>
              <a:rPr lang="ru-RU" sz="1300" dirty="0" smtClean="0">
                <a:latin typeface="Arial" panose="020B0604020202020204" pitchFamily="34" charset="0"/>
                <a:cs typeface="Arial" panose="020B0604020202020204" pitchFamily="34" charset="0"/>
              </a:rPr>
              <a:t>задачи</a:t>
            </a:r>
            <a:endParaRPr lang="ru-RU"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Провести </a:t>
            </a:r>
            <a:r>
              <a:rPr lang="ru-RU" sz="1300" dirty="0" smtClean="0">
                <a:latin typeface="Arial" panose="020B0604020202020204" pitchFamily="34" charset="0"/>
                <a:cs typeface="Arial" panose="020B0604020202020204" pitchFamily="34" charset="0"/>
              </a:rPr>
              <a:t>дополнительное</a:t>
            </a:r>
            <a:r>
              <a:rPr lang="ru-RU" sz="1300" dirty="0" smtClean="0">
                <a:latin typeface="Arial" panose="020B0604020202020204" pitchFamily="34" charset="0"/>
                <a:cs typeface="Arial" panose="020B0604020202020204" pitchFamily="34" charset="0"/>
              </a:rPr>
              <a:t> </a:t>
            </a:r>
            <a:r>
              <a:rPr lang="ru-RU" sz="1300" dirty="0" smtClean="0">
                <a:latin typeface="Arial" panose="020B0604020202020204" pitchFamily="34" charset="0"/>
                <a:cs typeface="Arial" panose="020B0604020202020204" pitchFamily="34" charset="0"/>
              </a:rPr>
              <a:t>общее собрание </a:t>
            </a:r>
            <a:r>
              <a:rPr lang="ru-RU" sz="1300" dirty="0" smtClean="0">
                <a:latin typeface="Arial" panose="020B0604020202020204" pitchFamily="34" charset="0"/>
                <a:cs typeface="Arial" panose="020B0604020202020204" pitchFamily="34" charset="0"/>
              </a:rPr>
              <a:t>команды</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перспективы развития архитектуры проекта</a:t>
            </a:r>
            <a:endParaRPr lang="ru-RU" sz="1300" dirty="0" smtClean="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77061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дописать</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Можно закончить презентацию</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476719" y="151086"/>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Архитектура</a:t>
            </a:r>
            <a:endParaRPr dirty="0"/>
          </a:p>
        </p:txBody>
      </p:sp>
      <p:sp>
        <p:nvSpPr>
          <p:cNvPr id="1522" name="Google Shape;1522;p38"/>
          <p:cNvSpPr txBox="1">
            <a:spLocks noGrp="1"/>
          </p:cNvSpPr>
          <p:nvPr>
            <p:ph type="subTitle" idx="2"/>
          </p:nvPr>
        </p:nvSpPr>
        <p:spPr>
          <a:xfrm>
            <a:off x="476719" y="827290"/>
            <a:ext cx="8065200" cy="1642345"/>
          </a:xfrm>
          <a:prstGeom prst="rect">
            <a:avLst/>
          </a:prstGeom>
        </p:spPr>
        <p:txBody>
          <a:bodyPr spcFirstLastPara="1" wrap="square" lIns="91425" tIns="91425" rIns="91425" bIns="91425" anchor="t" anchorCtr="0">
            <a:noAutofit/>
          </a:bodyPr>
          <a:lstStyle/>
          <a:p>
            <a:pPr marL="0" lvl="0" indent="0"/>
            <a:r>
              <a:rPr lang="ru-RU" sz="2800" b="1" dirty="0">
                <a:latin typeface="+mn-lt"/>
              </a:rPr>
              <a:t>Клиент-серверная</a:t>
            </a:r>
            <a:r>
              <a:rPr lang="ru-RU" sz="2800" dirty="0">
                <a:latin typeface="+mn-lt"/>
              </a:rPr>
              <a:t> </a:t>
            </a:r>
            <a:r>
              <a:rPr lang="ru-RU" sz="2800" dirty="0" smtClean="0">
                <a:latin typeface="+mn-lt"/>
              </a:rPr>
              <a:t>архитектура </a:t>
            </a:r>
            <a:r>
              <a:rPr lang="ru-RU" sz="2800" dirty="0">
                <a:latin typeface="+mn-lt"/>
              </a:rPr>
              <a:t>с </a:t>
            </a:r>
            <a:r>
              <a:rPr lang="ru-RU" sz="2800" b="1" dirty="0" smtClean="0">
                <a:latin typeface="+mn-lt"/>
              </a:rPr>
              <a:t>компонентной</a:t>
            </a:r>
            <a:r>
              <a:rPr lang="ru-RU" sz="2800" dirty="0" smtClean="0">
                <a:latin typeface="+mn-lt"/>
              </a:rPr>
              <a:t> </a:t>
            </a:r>
            <a:r>
              <a:rPr lang="ru-RU" sz="2800" dirty="0">
                <a:latin typeface="+mn-lt"/>
              </a:rPr>
              <a:t>организацией серверного </a:t>
            </a:r>
            <a:r>
              <a:rPr lang="ru-RU" sz="2800" dirty="0" smtClean="0">
                <a:latin typeface="+mn-lt"/>
              </a:rPr>
              <a:t>приложения</a:t>
            </a:r>
            <a:endParaRPr sz="2800" dirty="0">
              <a:latin typeface="+mn-lt"/>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 name="Google Shape;1656;p41"/>
          <p:cNvSpPr txBox="1">
            <a:spLocks noGrp="1"/>
          </p:cNvSpPr>
          <p:nvPr>
            <p:ph type="subTitle" idx="4294967295"/>
          </p:nvPr>
        </p:nvSpPr>
        <p:spPr>
          <a:xfrm>
            <a:off x="6030838" y="3575536"/>
            <a:ext cx="1981800" cy="402300"/>
          </a:xfrm>
          <a:prstGeom prst="rect">
            <a:avLst/>
          </a:prstGeom>
        </p:spPr>
        <p:txBody>
          <a:bodyPr spcFirstLastPara="1" wrap="square" lIns="91425" tIns="91425" rIns="91425" bIns="91425" anchor="b" anchorCtr="0">
            <a:noAutofit/>
          </a:bodyPr>
          <a:lstStyle/>
          <a:p>
            <a:pPr marL="139700" lvl="0" indent="0">
              <a:buNone/>
            </a:pPr>
            <a:r>
              <a:rPr lang="ru-RU" sz="1600" b="1" dirty="0" smtClean="0">
                <a:latin typeface="+mn-lt"/>
              </a:rPr>
              <a:t>Компонентная</a:t>
            </a:r>
            <a:endParaRPr sz="1600" b="1" dirty="0">
              <a:latin typeface="+mn-lt"/>
            </a:endParaRPr>
          </a:p>
        </p:txBody>
      </p:sp>
      <p:sp>
        <p:nvSpPr>
          <p:cNvPr id="13" name="Google Shape;1657;p41"/>
          <p:cNvSpPr txBox="1">
            <a:spLocks noGrp="1"/>
          </p:cNvSpPr>
          <p:nvPr>
            <p:ph type="subTitle" idx="1"/>
          </p:nvPr>
        </p:nvSpPr>
        <p:spPr>
          <a:xfrm>
            <a:off x="476719" y="3897912"/>
            <a:ext cx="2327431" cy="1477524"/>
          </a:xfrm>
          <a:prstGeom prst="rect">
            <a:avLst/>
          </a:prstGeom>
        </p:spPr>
        <p:txBody>
          <a:bodyPr spcFirstLastPara="1" wrap="square" lIns="91425" tIns="91425" rIns="91425" bIns="91425" anchor="t" anchorCtr="0">
            <a:noAutofit/>
          </a:bodyPr>
          <a:lstStyle/>
          <a:p>
            <a:pPr marL="0" lvl="0" indent="0"/>
            <a:r>
              <a:rPr lang="ru-RU" sz="1600" dirty="0" smtClean="0">
                <a:latin typeface="+mn-lt"/>
              </a:rPr>
              <a:t>Браузер </a:t>
            </a:r>
            <a:r>
              <a:rPr lang="ru-RU" sz="1600" dirty="0">
                <a:latin typeface="+mn-lt"/>
              </a:rPr>
              <a:t>(клиент) инициирует запросы, </a:t>
            </a:r>
            <a:r>
              <a:rPr lang="ru-RU" sz="1600" dirty="0" err="1">
                <a:latin typeface="+mn-lt"/>
              </a:rPr>
              <a:t>бэкенд</a:t>
            </a:r>
            <a:r>
              <a:rPr lang="ru-RU" sz="1600" dirty="0">
                <a:latin typeface="+mn-lt"/>
              </a:rPr>
              <a:t> (сервер) отвечает</a:t>
            </a:r>
            <a:endParaRPr sz="1600" dirty="0">
              <a:latin typeface="+mn-lt"/>
            </a:endParaRPr>
          </a:p>
        </p:txBody>
      </p:sp>
      <p:sp>
        <p:nvSpPr>
          <p:cNvPr id="14" name="Google Shape;1658;p41"/>
          <p:cNvSpPr txBox="1">
            <a:spLocks/>
          </p:cNvSpPr>
          <p:nvPr/>
        </p:nvSpPr>
        <p:spPr>
          <a:xfrm>
            <a:off x="3116624" y="3897910"/>
            <a:ext cx="2648532" cy="1497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285750" indent="-285750">
              <a:buFont typeface="Arial" panose="020B0604020202020204" pitchFamily="34" charset="0"/>
              <a:buChar char="•"/>
            </a:pPr>
            <a:r>
              <a:rPr lang="en-US" sz="1600" dirty="0" smtClean="0">
                <a:latin typeface="+mn-lt"/>
              </a:rPr>
              <a:t>Presentation </a:t>
            </a:r>
            <a:r>
              <a:rPr lang="en-US" sz="1600" dirty="0">
                <a:latin typeface="+mn-lt"/>
              </a:rPr>
              <a:t>(</a:t>
            </a:r>
            <a:r>
              <a:rPr lang="ru-RU" sz="1600" dirty="0">
                <a:latin typeface="+mn-lt"/>
              </a:rPr>
              <a:t>браузер, </a:t>
            </a:r>
            <a:r>
              <a:rPr lang="ru-RU" sz="1600" dirty="0" err="1">
                <a:latin typeface="+mn-lt"/>
              </a:rPr>
              <a:t>фронтенд</a:t>
            </a:r>
            <a:r>
              <a:rPr lang="ru-RU" sz="1600" dirty="0">
                <a:latin typeface="+mn-lt"/>
              </a:rPr>
              <a:t>)</a:t>
            </a:r>
          </a:p>
          <a:p>
            <a:pPr marL="285750" indent="-285750">
              <a:buFont typeface="Arial" panose="020B0604020202020204" pitchFamily="34" charset="0"/>
              <a:buChar char="•"/>
            </a:pPr>
            <a:r>
              <a:rPr lang="en-US" sz="1600" dirty="0">
                <a:latin typeface="+mn-lt"/>
              </a:rPr>
              <a:t>Application (</a:t>
            </a:r>
            <a:r>
              <a:rPr lang="ru-RU" sz="1600" dirty="0" err="1">
                <a:latin typeface="+mn-lt"/>
              </a:rPr>
              <a:t>бэкенд</a:t>
            </a:r>
            <a:r>
              <a:rPr lang="ru-RU" sz="1600" dirty="0">
                <a:latin typeface="+mn-lt"/>
              </a:rPr>
              <a:t> с бизнес-логикой)</a:t>
            </a:r>
          </a:p>
          <a:p>
            <a:pPr marL="285750" indent="-285750">
              <a:buFont typeface="Arial" panose="020B0604020202020204" pitchFamily="34" charset="0"/>
              <a:buChar char="•"/>
            </a:pPr>
            <a:r>
              <a:rPr lang="en-US" sz="1600" dirty="0">
                <a:latin typeface="+mn-lt"/>
              </a:rPr>
              <a:t>Data (</a:t>
            </a:r>
            <a:r>
              <a:rPr lang="ru-RU" sz="1600" dirty="0">
                <a:latin typeface="+mn-lt"/>
              </a:rPr>
              <a:t>СУБД)</a:t>
            </a:r>
            <a:endParaRPr lang="en-US" sz="1600" dirty="0">
              <a:latin typeface="+mn-lt"/>
            </a:endParaRPr>
          </a:p>
        </p:txBody>
      </p:sp>
      <p:sp>
        <p:nvSpPr>
          <p:cNvPr id="15" name="Google Shape;1659;p41"/>
          <p:cNvSpPr txBox="1">
            <a:spLocks/>
          </p:cNvSpPr>
          <p:nvPr/>
        </p:nvSpPr>
        <p:spPr>
          <a:xfrm>
            <a:off x="6205694" y="3897911"/>
            <a:ext cx="2602745" cy="149716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dirty="0">
                <a:latin typeface="+mn-lt"/>
              </a:rPr>
              <a:t>Код </a:t>
            </a:r>
            <a:r>
              <a:rPr lang="ru-RU" sz="1600" dirty="0" err="1">
                <a:latin typeface="+mn-lt"/>
              </a:rPr>
              <a:t>backend</a:t>
            </a:r>
            <a:r>
              <a:rPr lang="ru-RU" sz="1600" dirty="0">
                <a:latin typeface="+mn-lt"/>
              </a:rPr>
              <a:t> разделён на компоненты с чёткими интерфейсами и ограниченной зоной ответственности.</a:t>
            </a:r>
            <a:endParaRPr lang="en-US" sz="1600" dirty="0">
              <a:latin typeface="+mn-lt"/>
            </a:endParaRPr>
          </a:p>
        </p:txBody>
      </p:sp>
      <p:sp>
        <p:nvSpPr>
          <p:cNvPr id="16" name="Google Shape;1660;p41"/>
          <p:cNvSpPr txBox="1">
            <a:spLocks/>
          </p:cNvSpPr>
          <p:nvPr/>
        </p:nvSpPr>
        <p:spPr>
          <a:xfrm>
            <a:off x="476720" y="3571812"/>
            <a:ext cx="2199368"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Клиент-серверная</a:t>
            </a:r>
            <a:endParaRPr lang="en-US" sz="1600" b="1" dirty="0">
              <a:latin typeface="+mn-lt"/>
            </a:endParaRPr>
          </a:p>
        </p:txBody>
      </p:sp>
      <p:sp>
        <p:nvSpPr>
          <p:cNvPr id="17" name="Google Shape;1661;p41"/>
          <p:cNvSpPr txBox="1">
            <a:spLocks/>
          </p:cNvSpPr>
          <p:nvPr/>
        </p:nvSpPr>
        <p:spPr>
          <a:xfrm>
            <a:off x="3116623" y="3571812"/>
            <a:ext cx="1981800"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Трёхзвенная</a:t>
            </a:r>
            <a:endParaRPr lang="en-US" sz="1600" b="1" dirty="0">
              <a:latin typeface="+mn-lt"/>
            </a:endParaRPr>
          </a:p>
        </p:txBody>
      </p:sp>
      <p:grpSp>
        <p:nvGrpSpPr>
          <p:cNvPr id="73" name="Google Shape;14166;p83"/>
          <p:cNvGrpSpPr>
            <a:grpSpLocks noChangeAspect="1"/>
          </p:cNvGrpSpPr>
          <p:nvPr/>
        </p:nvGrpSpPr>
        <p:grpSpPr>
          <a:xfrm>
            <a:off x="539399" y="3030246"/>
            <a:ext cx="450445" cy="531333"/>
            <a:chOff x="859265" y="3348175"/>
            <a:chExt cx="312316" cy="368400"/>
          </a:xfrm>
          <a:solidFill>
            <a:schemeClr val="tx2"/>
          </a:solidFill>
        </p:grpSpPr>
        <p:sp>
          <p:nvSpPr>
            <p:cNvPr id="74"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14472;p83"/>
          <p:cNvSpPr>
            <a:spLocks noChangeAspect="1"/>
          </p:cNvSpPr>
          <p:nvPr/>
        </p:nvSpPr>
        <p:spPr>
          <a:xfrm>
            <a:off x="6304130" y="3102159"/>
            <a:ext cx="469611" cy="469653"/>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13648;p81"/>
          <p:cNvGrpSpPr>
            <a:grpSpLocks noChangeAspect="1"/>
          </p:cNvGrpSpPr>
          <p:nvPr/>
        </p:nvGrpSpPr>
        <p:grpSpPr>
          <a:xfrm>
            <a:off x="3185900" y="3030246"/>
            <a:ext cx="475008" cy="544203"/>
            <a:chOff x="859262" y="3353920"/>
            <a:chExt cx="306759" cy="351445"/>
          </a:xfrm>
          <a:solidFill>
            <a:schemeClr val="tx2"/>
          </a:solidFill>
        </p:grpSpPr>
        <p:sp>
          <p:nvSpPr>
            <p:cNvPr id="81"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pic>
        <p:nvPicPr>
          <p:cNvPr id="2" name="Рисунок 1"/>
          <p:cNvPicPr>
            <a:picLocks noChangeAspect="1"/>
          </p:cNvPicPr>
          <p:nvPr/>
        </p:nvPicPr>
        <p:blipFill>
          <a:blip r:embed="rId3"/>
          <a:stretch>
            <a:fillRect/>
          </a:stretch>
        </p:blipFill>
        <p:spPr>
          <a:xfrm>
            <a:off x="0" y="1640457"/>
            <a:ext cx="9144000" cy="3320566"/>
          </a:xfrm>
          <a:prstGeom prst="rect">
            <a:avLst/>
          </a:prstGeom>
        </p:spPr>
      </p:pic>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803802"/>
            <a:ext cx="6122127" cy="3855965"/>
          </a:xfrm>
          <a:prstGeom prst="rect">
            <a:avLst/>
          </a:prstGeom>
        </p:spPr>
      </p:pic>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90420"/>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dirty="0" smtClean="0">
                <a:solidFill>
                  <a:srgbClr val="213B55"/>
                </a:solidFill>
              </a:rPr>
              <a:t>75%</a:t>
            </a:r>
            <a:endParaRPr sz="3000" b="1" dirty="0">
              <a:solidFill>
                <a:srgbClr val="213B55"/>
              </a:solidFill>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2165</TotalTime>
  <Words>1603</Words>
  <Application>Microsoft Office PowerPoint</Application>
  <PresentationFormat>Экран (4:3)</PresentationFormat>
  <Paragraphs>346</Paragraphs>
  <Slides>57</Slides>
  <Notes>57</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57</vt:i4>
      </vt:variant>
    </vt:vector>
  </HeadingPairs>
  <TitlesOfParts>
    <vt:vector size="71" baseType="lpstr">
      <vt:lpstr>Open Sans</vt:lpstr>
      <vt:lpstr>IBM Plex Mono</vt:lpstr>
      <vt:lpstr>Poppins</vt:lpstr>
      <vt:lpstr>Calibri</vt:lpstr>
      <vt:lpstr>Roboto Medium</vt:lpstr>
      <vt:lpstr>Wingdings</vt:lpstr>
      <vt:lpstr>Arial</vt:lpstr>
      <vt:lpstr>Proxima Nova</vt:lpstr>
      <vt:lpstr>Source Code Pro</vt:lpstr>
      <vt:lpstr>Amatic SC</vt:lpstr>
      <vt:lpstr>Proxima Nova Semibold</vt:lpstr>
      <vt:lpstr>Roboto Condensed Light</vt:lpstr>
      <vt:lpstr>Introduction to Coding Workshop by Slidesgo</vt:lpstr>
      <vt:lpstr>Slidesgo Final Pages</vt:lpstr>
      <vt:lpstr>Итоги 10 спринта</vt:lpstr>
      <vt:lpstr>Наша команда</vt:lpstr>
      <vt:lpstr>Задачи спринта</vt:lpstr>
      <vt:lpstr>Диаграмма С4</vt:lpstr>
      <vt:lpstr>Диаграмма С4</vt:lpstr>
      <vt:lpstr>Диаграмма С4</vt:lpstr>
      <vt:lpstr>Диаграмма С4</vt:lpstr>
      <vt:lpstr>Диаграмма последовательности UML</vt:lpstr>
      <vt:lpstr>Диаграмма последовательности UML</vt:lpstr>
      <vt:lpstr>Диаграмма последовательности UML</vt:lpstr>
      <vt:lpstr>Документация</vt:lpstr>
      <vt:lpstr>Документация</vt:lpstr>
      <vt:lpstr>Документация</vt:lpstr>
      <vt:lpstr>Документация</vt:lpstr>
      <vt:lpstr>Документация</vt:lpstr>
      <vt:lpstr>Обзор спринта</vt:lpstr>
      <vt:lpstr>Ретроспектива</vt:lpstr>
      <vt:lpstr>Спасибо за внимание!</vt:lpstr>
      <vt:lpstr>Дальше идут шаблоны и заготовки</vt:lpstr>
      <vt:lpstr>Архитектура</vt:lpstr>
      <vt:lpstr>Роли пользователей</vt:lpstr>
      <vt:lpstr>Словарь</vt:lpstr>
      <vt:lpstr>Тема проекта</vt:lpstr>
      <vt:lpstr>Организация работы</vt:lpstr>
      <vt:lpstr>Выбор технологического стека</vt:lpstr>
      <vt:lpstr>Задачи 2 спринта</vt:lpstr>
      <vt:lpstr>Прототип интерфейса клиента</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138</cp:revision>
  <dcterms:modified xsi:type="dcterms:W3CDTF">2026-05-03T11:54:12Z</dcterms:modified>
</cp:coreProperties>
</file>