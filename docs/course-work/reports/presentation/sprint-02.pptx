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0"/>
  </p:notesMasterIdLst>
  <p:sldIdLst>
    <p:sldId id="256" r:id="rId3"/>
    <p:sldId id="314" r:id="rId4"/>
    <p:sldId id="258" r:id="rId5"/>
    <p:sldId id="257" r:id="rId6"/>
    <p:sldId id="318" r:id="rId7"/>
    <p:sldId id="317" r:id="rId8"/>
    <p:sldId id="316" r:id="rId9"/>
    <p:sldId id="264" r:id="rId10"/>
    <p:sldId id="315" r:id="rId11"/>
    <p:sldId id="270" r:id="rId12"/>
    <p:sldId id="268" r:id="rId13"/>
    <p:sldId id="267" r:id="rId14"/>
    <p:sldId id="262" r:id="rId15"/>
    <p:sldId id="266" r:id="rId16"/>
    <p:sldId id="260" r:id="rId17"/>
    <p:sldId id="263" r:id="rId18"/>
    <p:sldId id="265" r:id="rId19"/>
    <p:sldId id="273" r:id="rId20"/>
    <p:sldId id="275" r:id="rId21"/>
    <p:sldId id="277" r:id="rId22"/>
    <p:sldId id="278" r:id="rId23"/>
    <p:sldId id="279" r:id="rId24"/>
    <p:sldId id="280" r:id="rId25"/>
    <p:sldId id="281" r:id="rId26"/>
    <p:sldId id="284" r:id="rId27"/>
    <p:sldId id="286" r:id="rId28"/>
    <p:sldId id="287" r:id="rId29"/>
    <p:sldId id="293" r:id="rId30"/>
    <p:sldId id="294" r:id="rId31"/>
    <p:sldId id="295" r:id="rId32"/>
    <p:sldId id="296" r:id="rId33"/>
    <p:sldId id="297" r:id="rId34"/>
    <p:sldId id="298" r:id="rId35"/>
    <p:sldId id="299" r:id="rId36"/>
    <p:sldId id="300" r:id="rId37"/>
    <p:sldId id="301" r:id="rId38"/>
    <p:sldId id="302" r:id="rId39"/>
    <p:sldId id="303" r:id="rId40"/>
    <p:sldId id="304" r:id="rId41"/>
    <p:sldId id="305" r:id="rId42"/>
    <p:sldId id="306" r:id="rId43"/>
    <p:sldId id="307" r:id="rId44"/>
    <p:sldId id="308" r:id="rId45"/>
    <p:sldId id="309" r:id="rId46"/>
    <p:sldId id="310" r:id="rId47"/>
    <p:sldId id="311" r:id="rId48"/>
    <p:sldId id="312" r:id="rId49"/>
  </p:sldIdLst>
  <p:sldSz cx="9144000" cy="6858000" type="screen4x3"/>
  <p:notesSz cx="6858000" cy="9144000"/>
  <p:embeddedFontLst>
    <p:embeddedFont>
      <p:font typeface="Roboto Medium" panose="020B0604020202020204" charset="0"/>
      <p:regular r:id="rId51"/>
      <p:bold r:id="rId52"/>
      <p:italic r:id="rId53"/>
      <p:boldItalic r:id="rId54"/>
    </p:embeddedFont>
    <p:embeddedFont>
      <p:font typeface="IBM Plex Mono" panose="020B0604020202020204" charset="-52"/>
      <p:regular r:id="rId55"/>
      <p:bold r:id="rId56"/>
      <p:italic r:id="rId57"/>
      <p:boldItalic r:id="rId58"/>
    </p:embeddedFont>
    <p:embeddedFont>
      <p:font typeface="Source Code Pro" panose="020B0604020202020204" charset="0"/>
      <p:regular r:id="rId59"/>
      <p:bold r:id="rId60"/>
      <p:italic r:id="rId61"/>
      <p:boldItalic r:id="rId62"/>
    </p:embeddedFont>
    <p:embeddedFont>
      <p:font typeface="Poppins" panose="020B0604020202020204" charset="0"/>
      <p:regular r:id="rId63"/>
      <p:bold r:id="rId64"/>
      <p:italic r:id="rId65"/>
      <p:boldItalic r:id="rId66"/>
    </p:embeddedFont>
    <p:embeddedFont>
      <p:font typeface="Proxima Nova" panose="020B0604020202020204" charset="0"/>
      <p:regular r:id="rId67"/>
      <p:bold r:id="rId68"/>
      <p:italic r:id="rId69"/>
      <p:boldItalic r:id="rId70"/>
    </p:embeddedFont>
    <p:embeddedFont>
      <p:font typeface="Amatic SC" panose="020B0604020202020204" charset="-79"/>
      <p:regular r:id="rId71"/>
      <p:bold r:id="rId72"/>
    </p:embeddedFont>
    <p:embeddedFont>
      <p:font typeface="Proxima Nova Semibold" panose="020B0604020202020204" charset="0"/>
      <p:regular r:id="rId73"/>
      <p:bold r:id="rId74"/>
      <p:boldItalic r:id="rId75"/>
    </p:embeddedFont>
    <p:embeddedFont>
      <p:font typeface="Calibri" panose="020F0502020204030204" pitchFamily="34" charset="0"/>
      <p:regular r:id="rId76"/>
      <p:bold r:id="rId77"/>
      <p:italic r:id="rId78"/>
      <p:boldItalic r:id="rId7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164" autoAdjust="0"/>
  </p:normalViewPr>
  <p:slideViewPr>
    <p:cSldViewPr snapToGrid="0">
      <p:cViewPr varScale="1">
        <p:scale>
          <a:sx n="91" d="100"/>
          <a:sy n="91" d="100"/>
        </p:scale>
        <p:origin x="610" y="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3.fntdata"/><Relationship Id="rId68" Type="http://schemas.openxmlformats.org/officeDocument/2006/relationships/font" Target="fonts/font18.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font" Target="fonts/font3.fntdata"/><Relationship Id="rId58" Type="http://schemas.openxmlformats.org/officeDocument/2006/relationships/font" Target="fonts/font8.fntdata"/><Relationship Id="rId74" Type="http://schemas.openxmlformats.org/officeDocument/2006/relationships/font" Target="fonts/font24.fntdata"/><Relationship Id="rId79" Type="http://schemas.openxmlformats.org/officeDocument/2006/relationships/font" Target="fonts/font29.fntdata"/><Relationship Id="rId5" Type="http://schemas.openxmlformats.org/officeDocument/2006/relationships/slide" Target="slides/slide3.xml"/><Relationship Id="rId61" Type="http://schemas.openxmlformats.org/officeDocument/2006/relationships/font" Target="fonts/font11.fntdata"/><Relationship Id="rId82" Type="http://schemas.openxmlformats.org/officeDocument/2006/relationships/theme" Target="theme/theme1.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6.fntdata"/><Relationship Id="rId64" Type="http://schemas.openxmlformats.org/officeDocument/2006/relationships/font" Target="fonts/font14.fntdata"/><Relationship Id="rId69" Type="http://schemas.openxmlformats.org/officeDocument/2006/relationships/font" Target="fonts/font19.fntdata"/><Relationship Id="rId77" Type="http://schemas.openxmlformats.org/officeDocument/2006/relationships/font" Target="fonts/font27.fntdata"/><Relationship Id="rId8" Type="http://schemas.openxmlformats.org/officeDocument/2006/relationships/slide" Target="slides/slide6.xml"/><Relationship Id="rId51" Type="http://schemas.openxmlformats.org/officeDocument/2006/relationships/font" Target="fonts/font1.fntdata"/><Relationship Id="rId72" Type="http://schemas.openxmlformats.org/officeDocument/2006/relationships/font" Target="fonts/font22.fntdata"/><Relationship Id="rId80"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9.fntdata"/><Relationship Id="rId67" Type="http://schemas.openxmlformats.org/officeDocument/2006/relationships/font" Target="fonts/font17.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4.fntdata"/><Relationship Id="rId62" Type="http://schemas.openxmlformats.org/officeDocument/2006/relationships/font" Target="fonts/font12.fntdata"/><Relationship Id="rId70" Type="http://schemas.openxmlformats.org/officeDocument/2006/relationships/font" Target="fonts/font20.fntdata"/><Relationship Id="rId75" Type="http://schemas.openxmlformats.org/officeDocument/2006/relationships/font" Target="fonts/font25.fntdata"/><Relationship Id="rId83"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7.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2.fntdata"/><Relationship Id="rId60" Type="http://schemas.openxmlformats.org/officeDocument/2006/relationships/font" Target="fonts/font10.fntdata"/><Relationship Id="rId65" Type="http://schemas.openxmlformats.org/officeDocument/2006/relationships/font" Target="fonts/font15.fntdata"/><Relationship Id="rId73" Type="http://schemas.openxmlformats.org/officeDocument/2006/relationships/font" Target="fonts/font23.fntdata"/><Relationship Id="rId78" Type="http://schemas.openxmlformats.org/officeDocument/2006/relationships/font" Target="fonts/font28.fntdata"/><Relationship Id="rId81"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notesMaster" Target="notesMasters/notesMaster1.xml"/><Relationship Id="rId55" Type="http://schemas.openxmlformats.org/officeDocument/2006/relationships/font" Target="fonts/font5.fntdata"/><Relationship Id="rId76" Type="http://schemas.openxmlformats.org/officeDocument/2006/relationships/font" Target="fonts/font26.fntdata"/><Relationship Id="rId7" Type="http://schemas.openxmlformats.org/officeDocument/2006/relationships/slide" Target="slides/slide5.xml"/><Relationship Id="rId71" Type="http://schemas.openxmlformats.org/officeDocument/2006/relationships/font" Target="fonts/font21.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6.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0022390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2"/>
        <p:cNvGrpSpPr/>
        <p:nvPr/>
      </p:nvGrpSpPr>
      <p:grpSpPr>
        <a:xfrm>
          <a:off x="0" y="0"/>
          <a:ext cx="0" cy="0"/>
          <a:chOff x="0" y="0"/>
          <a:chExt cx="0" cy="0"/>
        </a:xfrm>
      </p:grpSpPr>
      <p:sp>
        <p:nvSpPr>
          <p:cNvPr id="1653" name="Google Shape;1653;g24e6b4d5c31_0_1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4" name="Google Shape;1654;g24e6b4d5c31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49"/>
        <p:cNvGrpSpPr/>
        <p:nvPr/>
      </p:nvGrpSpPr>
      <p:grpSpPr>
        <a:xfrm>
          <a:off x="0" y="0"/>
          <a:ext cx="0" cy="0"/>
          <a:chOff x="0" y="0"/>
          <a:chExt cx="0" cy="0"/>
        </a:xfrm>
      </p:grpSpPr>
      <p:sp>
        <p:nvSpPr>
          <p:cNvPr id="1050" name="Google Shape;1050;p2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51" name="Google Shape;1051;p24"/>
          <p:cNvGrpSpPr/>
          <p:nvPr/>
        </p:nvGrpSpPr>
        <p:grpSpPr>
          <a:xfrm>
            <a:off x="7059553" y="-2136808"/>
            <a:ext cx="4192757" cy="4558967"/>
            <a:chOff x="6983353" y="-2136808"/>
            <a:chExt cx="4192757" cy="4558967"/>
          </a:xfrm>
        </p:grpSpPr>
        <p:grpSp>
          <p:nvGrpSpPr>
            <p:cNvPr id="1052" name="Google Shape;1052;p24"/>
            <p:cNvGrpSpPr/>
            <p:nvPr/>
          </p:nvGrpSpPr>
          <p:grpSpPr>
            <a:xfrm rot="-509296">
              <a:off x="7187207" y="-982000"/>
              <a:ext cx="3785049" cy="3043008"/>
              <a:chOff x="7103825" y="-713112"/>
              <a:chExt cx="3785226" cy="3043150"/>
            </a:xfrm>
          </p:grpSpPr>
          <p:sp>
            <p:nvSpPr>
              <p:cNvPr id="1053" name="Google Shape;1053;p24"/>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54" name="Google Shape;1054;p24"/>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1055" name="Google Shape;1055;p24"/>
            <p:cNvGrpSpPr/>
            <p:nvPr/>
          </p:nvGrpSpPr>
          <p:grpSpPr>
            <a:xfrm rot="5400000">
              <a:off x="6489450" y="75626"/>
              <a:ext cx="4558967" cy="134100"/>
              <a:chOff x="796100" y="3019701"/>
              <a:chExt cx="4558967" cy="134100"/>
            </a:xfrm>
          </p:grpSpPr>
          <p:sp>
            <p:nvSpPr>
              <p:cNvPr id="1056" name="Google Shape;1056;p24"/>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7" name="Google Shape;1057;p24"/>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58" name="Google Shape;1058;p24"/>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9" name="Google Shape;1059;p24"/>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0" name="Google Shape;1060;p24"/>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1" name="Google Shape;1061;p24"/>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3" name="Google Shape;1063;p24"/>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4" name="Google Shape;1064;p24"/>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065" name="Google Shape;1065;p24"/>
          <p:cNvGrpSpPr/>
          <p:nvPr/>
        </p:nvGrpSpPr>
        <p:grpSpPr>
          <a:xfrm>
            <a:off x="6067575" y="4168225"/>
            <a:ext cx="4006263" cy="4771152"/>
            <a:chOff x="5915175" y="2339425"/>
            <a:chExt cx="4006263" cy="4771152"/>
          </a:xfrm>
        </p:grpSpPr>
        <p:sp>
          <p:nvSpPr>
            <p:cNvPr id="1066" name="Google Shape;1066;p24"/>
            <p:cNvSpPr/>
            <p:nvPr/>
          </p:nvSpPr>
          <p:spPr>
            <a:xfrm>
              <a:off x="5915175" y="23612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4"/>
            <p:cNvSpPr/>
            <p:nvPr/>
          </p:nvSpPr>
          <p:spPr>
            <a:xfrm>
              <a:off x="6873793" y="23394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4"/>
          <p:cNvGrpSpPr/>
          <p:nvPr/>
        </p:nvGrpSpPr>
        <p:grpSpPr>
          <a:xfrm>
            <a:off x="-235366" y="5200154"/>
            <a:ext cx="5249359" cy="2992224"/>
            <a:chOff x="-258616" y="3430829"/>
            <a:chExt cx="5249359" cy="2992224"/>
          </a:xfrm>
        </p:grpSpPr>
        <p:pic>
          <p:nvPicPr>
            <p:cNvPr id="1085" name="Google Shape;1085;p24"/>
            <p:cNvPicPr preferRelativeResize="0"/>
            <p:nvPr/>
          </p:nvPicPr>
          <p:blipFill rotWithShape="1">
            <a:blip r:embed="rId3">
              <a:alphaModFix/>
            </a:blip>
            <a:srcRect l="16960" t="24718" r="7121" b="26177"/>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4"/>
            <p:cNvSpPr/>
            <p:nvPr/>
          </p:nvSpPr>
          <p:spPr>
            <a:xfrm>
              <a:off x="941424" y="47243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4"/>
            <p:cNvSpPr/>
            <p:nvPr/>
          </p:nvSpPr>
          <p:spPr>
            <a:xfrm>
              <a:off x="820562" y="49581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4"/>
            <p:cNvSpPr/>
            <p:nvPr/>
          </p:nvSpPr>
          <p:spPr>
            <a:xfrm>
              <a:off x="1299000" y="4608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4"/>
            <p:cNvSpPr/>
            <p:nvPr/>
          </p:nvSpPr>
          <p:spPr>
            <a:xfrm rot="5400000">
              <a:off x="447539" y="31337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4"/>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 name="Google Shape;1101;p24"/>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4"/>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 name="Google Shape;1103;p24"/>
            <p:cNvGrpSpPr/>
            <p:nvPr/>
          </p:nvGrpSpPr>
          <p:grpSpPr>
            <a:xfrm rot="-2700000" flipH="1">
              <a:off x="-216370" y="1084101"/>
              <a:ext cx="708093" cy="708493"/>
              <a:chOff x="3678700" y="407275"/>
              <a:chExt cx="708100" cy="708500"/>
            </a:xfrm>
          </p:grpSpPr>
          <p:sp>
            <p:nvSpPr>
              <p:cNvPr id="1104" name="Google Shape;1104;p24"/>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0" r:id="rId19"/>
    <p:sldLayoutId id="2147483671" r:id="rId20"/>
    <p:sldLayoutId id="2147483672" r:id="rId21"/>
    <p:sldLayoutId id="2147483673" r:id="rId22"/>
    <p:sldLayoutId id="2147483676" r:id="rId23"/>
    <p:sldLayoutId id="2147483677"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7.png"/><Relationship Id="rId7" Type="http://schemas.openxmlformats.org/officeDocument/2006/relationships/image" Target="../media/image11.png"/><Relationship Id="rId2" Type="http://schemas.openxmlformats.org/officeDocument/2006/relationships/notesSlide" Target="../notesSlides/notesSlide7.xml"/><Relationship Id="rId1" Type="http://schemas.openxmlformats.org/officeDocument/2006/relationships/slideLayout" Target="../slideLayouts/slideLayout22.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 Id="rId9" Type="http://schemas.openxmlformats.org/officeDocument/2006/relationships/image" Target="../media/image13.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1.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2.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image" Target="../media/image16.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9.xml"/></Relationships>
</file>

<file path=ppt/slides/_rels/slide17.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17.xml"/><Relationship Id="rId1" Type="http://schemas.openxmlformats.org/officeDocument/2006/relationships/slideLayout" Target="../slideLayouts/slideLayout20.xml"/><Relationship Id="rId5" Type="http://schemas.openxmlformats.org/officeDocument/2006/relationships/image" Target="../media/image19.jpg"/><Relationship Id="rId4" Type="http://schemas.openxmlformats.org/officeDocument/2006/relationships/image" Target="../media/image18.jp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5.xml"/><Relationship Id="rId1" Type="http://schemas.openxmlformats.org/officeDocument/2006/relationships/slideLayout" Target="../slideLayouts/slideLayout16.xml"/><Relationship Id="rId4" Type="http://schemas.openxmlformats.org/officeDocument/2006/relationships/image" Target="../media/image21.jp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569275" cy="550949"/>
          </a:xfrm>
          <a:prstGeom prst="rect">
            <a:avLst/>
          </a:prstGeom>
        </p:spPr>
        <p:txBody>
          <a:bodyPr spcFirstLastPara="1" wrap="square" lIns="91425" tIns="91425" rIns="91425" bIns="91425" anchor="t" anchorCtr="0">
            <a:noAutofit/>
          </a:bodyPr>
          <a:lstStyle/>
          <a:p>
            <a:pPr marL="0" lvl="0" indent="0"/>
            <a:r>
              <a:rPr lang="ru-RU" sz="2800" dirty="0" smtClean="0"/>
              <a:t>Выделение бизнес-процессов</a:t>
            </a:r>
            <a:endParaRPr sz="2800" dirty="0"/>
          </a:p>
        </p:txBody>
      </p:sp>
      <p:sp>
        <p:nvSpPr>
          <p:cNvPr id="1421" name="Google Shape;1421;p34"/>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2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 name="Google Shape;11740;p79"/>
          <p:cNvSpPr>
            <a:spLocks noChangeAspect="1"/>
          </p:cNvSpPr>
          <p:nvPr/>
        </p:nvSpPr>
        <p:spPr>
          <a:xfrm>
            <a:off x="5651805" y="4511062"/>
            <a:ext cx="657721" cy="657665"/>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Федор</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a:solidFill>
                    <a:schemeClr val="dk1"/>
                  </a:solidFill>
                  <a:latin typeface="Arial" panose="020B0604020202020204" pitchFamily="34" charset="0"/>
                  <a:ea typeface="Poppins"/>
                  <a:cs typeface="Arial" panose="020B0604020202020204" pitchFamily="34" charset="0"/>
                  <a:sym typeface="Poppins"/>
                </a:rPr>
                <a:t>Ивличев</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Дмитрий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2 спринта</a:t>
            </a:r>
            <a:endParaRPr dirty="0"/>
          </a:p>
        </p:txBody>
      </p:sp>
      <p:sp>
        <p:nvSpPr>
          <p:cNvPr id="1457" name="Google Shape;1457;p36"/>
          <p:cNvSpPr txBox="1">
            <a:spLocks noGrp="1"/>
          </p:cNvSpPr>
          <p:nvPr>
            <p:ph type="subTitle" idx="8"/>
          </p:nvPr>
        </p:nvSpPr>
        <p:spPr>
          <a:xfrm>
            <a:off x="508299" y="1516861"/>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508298" y="1842909"/>
            <a:ext cx="4033222" cy="1085514"/>
          </a:xfrm>
          <a:prstGeom prst="rect">
            <a:avLst/>
          </a:prstGeom>
        </p:spPr>
        <p:txBody>
          <a:bodyPr spcFirstLastPara="1" wrap="square" lIns="91425" tIns="91425" rIns="91425" bIns="91425" anchor="t" anchorCtr="0">
            <a:noAutofit/>
          </a:bodyPr>
          <a:lstStyle/>
          <a:p>
            <a:pPr marL="0" lvl="0" indent="0"/>
            <a:r>
              <a:rPr lang="ru-RU" sz="1800" dirty="0" smtClean="0">
                <a:latin typeface="Arial" panose="020B0604020202020204" pitchFamily="34" charset="0"/>
                <a:cs typeface="Arial" panose="020B0604020202020204" pitchFamily="34" charset="0"/>
              </a:rPr>
              <a:t>Выделение бизнес-процессов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начало подбора </a:t>
            </a:r>
            <a:r>
              <a:rPr lang="ru-RU" sz="1800" dirty="0">
                <a:latin typeface="Arial" panose="020B0604020202020204" pitchFamily="34" charset="0"/>
                <a:cs typeface="Arial" panose="020B0604020202020204" pitchFamily="34" charset="0"/>
              </a:rPr>
              <a:t>технологий для проекта</a:t>
            </a:r>
          </a:p>
        </p:txBody>
      </p:sp>
      <p:sp>
        <p:nvSpPr>
          <p:cNvPr id="1459" name="Google Shape;1459;p36"/>
          <p:cNvSpPr txBox="1">
            <a:spLocks noGrp="1"/>
          </p:cNvSpPr>
          <p:nvPr>
            <p:ph type="subTitle" idx="2"/>
          </p:nvPr>
        </p:nvSpPr>
        <p:spPr>
          <a:xfrm>
            <a:off x="455513" y="3925855"/>
            <a:ext cx="3130787" cy="701467"/>
          </a:xfrm>
          <a:prstGeom prst="rect">
            <a:avLst/>
          </a:prstGeom>
          <a:noFill/>
          <a:ln>
            <a:noFill/>
          </a:ln>
        </p:spPr>
        <p:txBody>
          <a:bodyPr spcFirstLastPara="1" wrap="square" lIns="91425" tIns="91425" rIns="91425" bIns="91425" anchor="t" anchorCtr="0">
            <a:noAutofit/>
          </a:bodyPr>
          <a:lstStyle/>
          <a:p>
            <a:pPr marL="0" indent="0"/>
            <a:r>
              <a:rPr lang="ru-RU" sz="1800" dirty="0" smtClean="0">
                <a:latin typeface="Arial" panose="020B0604020202020204" pitchFamily="34" charset="0"/>
                <a:cs typeface="Arial" panose="020B0604020202020204" pitchFamily="34" charset="0"/>
              </a:rPr>
              <a:t>Выбраны и детализированы </a:t>
            </a:r>
            <a:r>
              <a:rPr lang="ru-RU" sz="1800" dirty="0">
                <a:latin typeface="Arial" panose="020B0604020202020204" pitchFamily="34" charset="0"/>
                <a:cs typeface="Arial" panose="020B0604020202020204" pitchFamily="34" charset="0"/>
              </a:rPr>
              <a:t>4 задачи</a:t>
            </a:r>
            <a:endParaRPr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508302" y="942965"/>
            <a:ext cx="123150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508298" y="3025912"/>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508298" y="3599808"/>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Исправления</a:t>
            </a:r>
            <a:endParaRPr sz="2400" dirty="0"/>
          </a:p>
        </p:txBody>
      </p:sp>
      <p:sp>
        <p:nvSpPr>
          <p:cNvPr id="10" name="Google Shape;14251;p83"/>
          <p:cNvSpPr/>
          <p:nvPr/>
        </p:nvSpPr>
        <p:spPr>
          <a:xfrm>
            <a:off x="1115400" y="995352"/>
            <a:ext cx="414433" cy="38824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1187009" y="3071860"/>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077025" y="394026"/>
            <a:ext cx="3443686" cy="6253461"/>
          </a:xfrm>
          <a:prstGeom prst="rect">
            <a:avLst/>
          </a:prstGeom>
          <a:effectLst>
            <a:softEdge rad="25400"/>
          </a:effectLst>
        </p:spPr>
      </p:pic>
      <p:pic>
        <p:nvPicPr>
          <p:cNvPr id="4" name="Рисунок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8298" y="4002108"/>
            <a:ext cx="3221188" cy="2645379"/>
          </a:xfrm>
          <a:prstGeom prst="rect">
            <a:avLst/>
          </a:prstGeom>
          <a:effectLst>
            <a:softEdge rad="25400"/>
          </a:effectLst>
        </p:spPr>
      </p:pic>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46" name="Рисунок 45"/>
          <p:cNvPicPr>
            <a:picLocks noChangeAspect="1"/>
          </p:cNvPicPr>
          <p:nvPr/>
        </p:nvPicPr>
        <p:blipFill rotWithShape="1">
          <a:blip r:embed="rId3">
            <a:extLst>
              <a:ext uri="{28A0092B-C50C-407E-A947-70E740481C1C}">
                <a14:useLocalDpi xmlns:a14="http://schemas.microsoft.com/office/drawing/2010/main" val="0"/>
              </a:ext>
            </a:extLst>
          </a:blip>
          <a:srcRect l="40858" r="21467" b="41939"/>
          <a:stretch/>
        </p:blipFill>
        <p:spPr>
          <a:xfrm>
            <a:off x="71298" y="3645975"/>
            <a:ext cx="8992910" cy="2781161"/>
          </a:xfrm>
          <a:prstGeom prst="rect">
            <a:avLst/>
          </a:prstGeom>
        </p:spPr>
      </p:pic>
      <p:pic>
        <p:nvPicPr>
          <p:cNvPr id="48" name="Рисунок 47"/>
          <p:cNvPicPr>
            <a:picLocks noChangeAspect="1"/>
          </p:cNvPicPr>
          <p:nvPr/>
        </p:nvPicPr>
        <p:blipFill rotWithShape="1">
          <a:blip r:embed="rId3">
            <a:extLst>
              <a:ext uri="{28A0092B-C50C-407E-A947-70E740481C1C}">
                <a14:useLocalDpi xmlns:a14="http://schemas.microsoft.com/office/drawing/2010/main" val="0"/>
              </a:ext>
            </a:extLst>
          </a:blip>
          <a:srcRect t="3665" r="59175" b="34718"/>
          <a:stretch/>
        </p:blipFill>
        <p:spPr>
          <a:xfrm>
            <a:off x="71298" y="836179"/>
            <a:ext cx="8992910" cy="2723793"/>
          </a:xfrm>
          <a:prstGeom prst="rect">
            <a:avLst/>
          </a:prstGeom>
        </p:spPr>
      </p:pic>
      <p:grpSp>
        <p:nvGrpSpPr>
          <p:cNvPr id="1476" name="Google Shape;1476;p37"/>
          <p:cNvGrpSpPr/>
          <p:nvPr/>
        </p:nvGrpSpPr>
        <p:grpSpPr>
          <a:xfrm>
            <a:off x="-2535475" y="5363093"/>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3943703674"/>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rotWithShape="1">
          <a:blip r:embed="rId3"/>
          <a:srcRect t="3046" b="4262"/>
          <a:stretch/>
        </p:blipFill>
        <p:spPr>
          <a:xfrm>
            <a:off x="173442" y="1224445"/>
            <a:ext cx="8833865" cy="4550784"/>
          </a:xfrm>
          <a:prstGeom prst="rect">
            <a:avLst/>
          </a:prstGeom>
        </p:spPr>
      </p:pic>
      <p:sp>
        <p:nvSpPr>
          <p:cNvPr id="1475" name="Google Shape;1475;p37"/>
          <p:cNvSpPr txBox="1">
            <a:spLocks noGrp="1"/>
          </p:cNvSpPr>
          <p:nvPr>
            <p:ph type="subTitle" idx="1"/>
          </p:nvPr>
        </p:nvSpPr>
        <p:spPr>
          <a:xfrm>
            <a:off x="475129" y="683752"/>
            <a:ext cx="4580839" cy="457800"/>
          </a:xfrm>
          <a:prstGeom prst="rect">
            <a:avLst/>
          </a:prstGeom>
        </p:spPr>
        <p:txBody>
          <a:bodyPr spcFirstLastPara="1" wrap="square" lIns="91425" tIns="91425" rIns="91425" bIns="91425" anchor="t" anchorCtr="0">
            <a:noAutofit/>
          </a:bodyPr>
          <a:lstStyle/>
          <a:p>
            <a:pPr marL="0" lvl="0" indent="0"/>
            <a:r>
              <a:rPr lang="ru-RU" dirty="0">
                <a:latin typeface="Arial" panose="020B0604020202020204" pitchFamily="34" charset="0"/>
                <a:cs typeface="Arial" panose="020B0604020202020204" pitchFamily="34" charset="0"/>
              </a:rPr>
              <a:t>М</a:t>
            </a:r>
            <a:r>
              <a:rPr lang="ru-RU" dirty="0" smtClean="0">
                <a:latin typeface="Arial" panose="020B0604020202020204" pitchFamily="34" charset="0"/>
                <a:cs typeface="Arial" panose="020B0604020202020204" pitchFamily="34" charset="0"/>
              </a:rPr>
              <a:t>одель </a:t>
            </a:r>
            <a:r>
              <a:rPr lang="ru-RU" dirty="0">
                <a:latin typeface="Arial" panose="020B0604020202020204" pitchFamily="34" charset="0"/>
                <a:cs typeface="Arial" panose="020B0604020202020204" pitchFamily="34" charset="0"/>
              </a:rPr>
              <a:t>слоя </a:t>
            </a:r>
            <a:r>
              <a:rPr lang="ru-RU" dirty="0" smtClean="0">
                <a:latin typeface="Arial" panose="020B0604020202020204" pitchFamily="34" charset="0"/>
                <a:cs typeface="Arial" panose="020B0604020202020204" pitchFamily="34" charset="0"/>
              </a:rPr>
              <a:t>бизнеса</a:t>
            </a:r>
            <a:endParaRPr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973337" y="4582175"/>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441646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Собраны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зафиксированы </a:t>
            </a:r>
            <a:r>
              <a:rPr lang="ru-RU" sz="1800" dirty="0">
                <a:latin typeface="Arial" panose="020B0604020202020204" pitchFamily="34" charset="0"/>
                <a:cs typeface="Arial" panose="020B0604020202020204" pitchFamily="34" charset="0"/>
              </a:rPr>
              <a:t>замечания от </a:t>
            </a:r>
            <a:r>
              <a:rPr lang="ru-RU" sz="1800" dirty="0" smtClean="0">
                <a:latin typeface="Arial" panose="020B0604020202020204" pitchFamily="34" charset="0"/>
                <a:cs typeface="Arial" panose="020B0604020202020204" pitchFamily="34" charset="0"/>
              </a:rPr>
              <a:t>преподавателя</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Исправлены </a:t>
            </a:r>
            <a:r>
              <a:rPr lang="ru-RU" sz="1800" dirty="0">
                <a:latin typeface="Arial" panose="020B0604020202020204" pitchFamily="34" charset="0"/>
                <a:cs typeface="Arial" panose="020B0604020202020204" pitchFamily="34" charset="0"/>
              </a:rPr>
              <a:t>роли </a:t>
            </a:r>
            <a:r>
              <a:rPr lang="ru-RU" sz="1800" dirty="0" smtClean="0">
                <a:latin typeface="Arial" panose="020B0604020202020204" pitchFamily="34" charset="0"/>
                <a:cs typeface="Arial" panose="020B0604020202020204" pitchFamily="34" charset="0"/>
              </a:rPr>
              <a:t>пользователей</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Проработана диаграмма </a:t>
            </a:r>
            <a:r>
              <a:rPr lang="ru-RU" sz="1800" dirty="0">
                <a:latin typeface="Arial" panose="020B0604020202020204" pitchFamily="34" charset="0"/>
                <a:cs typeface="Arial" panose="020B0604020202020204" pitchFamily="34" charset="0"/>
              </a:rPr>
              <a:t>слоя бизнеса в </a:t>
            </a:r>
            <a:r>
              <a:rPr lang="ru-RU" sz="1800" dirty="0" err="1" smtClean="0">
                <a:latin typeface="Arial" panose="020B0604020202020204" pitchFamily="34" charset="0"/>
                <a:cs typeface="Arial" panose="020B0604020202020204" pitchFamily="34" charset="0"/>
              </a:rPr>
              <a:t>Archimate</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Исправлена презентация </a:t>
            </a:r>
            <a:r>
              <a:rPr lang="ru-RU" sz="1800" dirty="0">
                <a:latin typeface="Arial" panose="020B0604020202020204" pitchFamily="34" charset="0"/>
                <a:cs typeface="Arial" panose="020B0604020202020204" pitchFamily="34" charset="0"/>
              </a:rPr>
              <a:t>1 </a:t>
            </a:r>
            <a:r>
              <a:rPr lang="ru-RU" sz="1800" dirty="0" smtClean="0">
                <a:latin typeface="Arial" panose="020B0604020202020204" pitchFamily="34" charset="0"/>
                <a:cs typeface="Arial" panose="020B0604020202020204" pitchFamily="34" charset="0"/>
              </a:rPr>
              <a:t>спринта</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Исследован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выбран </a:t>
            </a:r>
            <a:r>
              <a:rPr lang="ru-RU" sz="1800" dirty="0">
                <a:latin typeface="Arial" panose="020B0604020202020204" pitchFamily="34" charset="0"/>
                <a:cs typeface="Arial" panose="020B0604020202020204" pitchFamily="34" charset="0"/>
              </a:rPr>
              <a:t>технологический </a:t>
            </a:r>
            <a:r>
              <a:rPr lang="ru-RU" sz="1800" dirty="0" smtClean="0">
                <a:latin typeface="Arial" panose="020B0604020202020204" pitchFamily="34" charset="0"/>
                <a:cs typeface="Arial" panose="020B0604020202020204" pitchFamily="34" charset="0"/>
              </a:rPr>
              <a:t>стек</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презентация </a:t>
            </a:r>
            <a:r>
              <a:rPr lang="ru-RU" sz="1800" dirty="0">
                <a:latin typeface="Arial" panose="020B0604020202020204" pitchFamily="34" charset="0"/>
                <a:cs typeface="Arial" panose="020B0604020202020204" pitchFamily="34" charset="0"/>
              </a:rPr>
              <a:t>для отчётности</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a:latin typeface="Arial" panose="020B0604020202020204" pitchFamily="34" charset="0"/>
                <a:cs typeface="Arial" panose="020B0604020202020204" pitchFamily="34" charset="0"/>
              </a:rPr>
              <a:t>Исследовать и добавить нефункциональные требования в </a:t>
            </a:r>
            <a:r>
              <a:rPr lang="ru-RU" sz="1800" dirty="0" err="1" smtClean="0">
                <a:latin typeface="Arial" panose="020B0604020202020204" pitchFamily="34" charset="0"/>
                <a:cs typeface="Arial" panose="020B0604020202020204" pitchFamily="34" charset="0"/>
              </a:rPr>
              <a:t>бэклог</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a:latin typeface="Arial" panose="020B0604020202020204" pitchFamily="34" charset="0"/>
                <a:cs typeface="Arial" panose="020B0604020202020204" pitchFamily="34" charset="0"/>
              </a:rPr>
              <a:t>Исследовать архитектурные стили для </a:t>
            </a:r>
            <a:r>
              <a:rPr lang="ru-RU" sz="1800" dirty="0" smtClean="0">
                <a:latin typeface="Arial" panose="020B0604020202020204" pitchFamily="34" charset="0"/>
                <a:cs typeface="Arial" panose="020B0604020202020204" pitchFamily="34" charset="0"/>
              </a:rPr>
              <a:t>веб-приложения</a:t>
            </a: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Задания выполнялись равномерно на протяжении спринта</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Несколько раз проводилось обсуждение проекта</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Чаще обсуждать проект всей командой</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Подключать помощь к заданию, если оно висит дольше 2-ух дней</a:t>
            </a:r>
            <a:endParaRPr lang="ru-RU" sz="1300" dirty="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Большая часть заданий выполнялось меньшей частью команды</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 все, кто реально брал задание, отмечали себя на доске</a:t>
            </a:r>
          </a:p>
          <a:p>
            <a:pPr marL="342900" indent="-342900">
              <a:spcBef>
                <a:spcPts val="500"/>
              </a:spcBef>
              <a:buFont typeface="Wingdings" panose="05000000000000000000" pitchFamily="2" charset="2"/>
              <a:buChar char="§"/>
            </a:pPr>
            <a:r>
              <a:rPr lang="ru-RU" sz="1300" dirty="0">
                <a:latin typeface="Arial" panose="020B0604020202020204" pitchFamily="34" charset="0"/>
                <a:cs typeface="Arial" panose="020B0604020202020204" pitchFamily="34" charset="0"/>
              </a:rPr>
              <a:t>О</a:t>
            </a:r>
            <a:r>
              <a:rPr lang="ru-RU" sz="1300" dirty="0" smtClean="0">
                <a:latin typeface="Arial" panose="020B0604020202020204" pitchFamily="34" charset="0"/>
                <a:cs typeface="Arial" panose="020B0604020202020204" pitchFamily="34" charset="0"/>
              </a:rPr>
              <a:t>бсуждения работы </a:t>
            </a:r>
            <a:r>
              <a:rPr lang="ru-RU" sz="1300" smtClean="0">
                <a:latin typeface="Arial" panose="020B0604020202020204" pitchFamily="34" charset="0"/>
                <a:cs typeface="Arial" panose="020B0604020202020204" pitchFamily="34" charset="0"/>
              </a:rPr>
              <a:t>проводились не в </a:t>
            </a:r>
            <a:r>
              <a:rPr lang="ru-RU" sz="1300" dirty="0" smtClean="0">
                <a:latin typeface="Arial" panose="020B0604020202020204" pitchFamily="34" charset="0"/>
                <a:cs typeface="Arial" panose="020B0604020202020204" pitchFamily="34" charset="0"/>
              </a:rPr>
              <a:t>полном составе команды</a:t>
            </a: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 numbers catch your audience’s attention</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Рассуждение</a:t>
            </a:r>
            <a:endParaRPr dirty="0"/>
          </a:p>
        </p:txBody>
      </p:sp>
      <p:sp>
        <p:nvSpPr>
          <p:cNvPr id="1521" name="Google Shape;1521;p38"/>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a:t>
            </a:r>
            <a:r>
              <a:rPr lang="en" b="1"/>
              <a:t>Since the temperatures are so extreme, albeit not as extreme</a:t>
            </a:r>
            <a:r>
              <a:rPr lang="en"/>
              <a:t> as on Venus, Mercury has been deemed to be non-habitable for humans</a:t>
            </a:r>
            <a:endParaRPr/>
          </a:p>
        </p:txBody>
      </p:sp>
      <p:sp>
        <p:nvSpPr>
          <p:cNvPr id="1522" name="Google Shape;1522;p38"/>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a:t>
            </a:r>
            <a:r>
              <a:rPr lang="en" b="1"/>
              <a:t>This planet’s name has nothing to do with the liquid metal, </a:t>
            </a:r>
            <a:r>
              <a:rPr lang="en"/>
              <a:t>since Mercury was named after the Roman messenger god. Mercury’s surface is filled with craters</a:t>
            </a:r>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55"/>
        <p:cNvGrpSpPr/>
        <p:nvPr/>
      </p:nvGrpSpPr>
      <p:grpSpPr>
        <a:xfrm>
          <a:off x="0" y="0"/>
          <a:ext cx="0" cy="0"/>
          <a:chOff x="0" y="0"/>
          <a:chExt cx="0" cy="0"/>
        </a:xfrm>
      </p:grpSpPr>
      <p:sp>
        <p:nvSpPr>
          <p:cNvPr id="1656" name="Google Shape;1656;p41"/>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57" name="Google Shape;1657;p41"/>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a:t>
            </a:r>
            <a:r>
              <a:rPr lang="en"/>
              <a:t> in the Solar System</a:t>
            </a:r>
            <a:endParaRPr/>
          </a:p>
        </p:txBody>
      </p:sp>
      <p:sp>
        <p:nvSpPr>
          <p:cNvPr id="1658" name="Google Shape;1658;p41"/>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659" name="Google Shape;1659;p41"/>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sp>
        <p:nvSpPr>
          <p:cNvPr id="1660" name="Google Shape;1660;p41"/>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61" name="Google Shape;1661;p41"/>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62" name="Google Shape;1662;p4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1663" name="Google Shape;1663;p41"/>
          <p:cNvGrpSpPr/>
          <p:nvPr/>
        </p:nvGrpSpPr>
        <p:grpSpPr>
          <a:xfrm>
            <a:off x="812448" y="2494613"/>
            <a:ext cx="341227" cy="302177"/>
            <a:chOff x="713167" y="740543"/>
            <a:chExt cx="476707" cy="422153"/>
          </a:xfrm>
        </p:grpSpPr>
        <p:sp>
          <p:nvSpPr>
            <p:cNvPr id="1664" name="Google Shape;1664;p41"/>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41"/>
          <p:cNvGrpSpPr/>
          <p:nvPr/>
        </p:nvGrpSpPr>
        <p:grpSpPr>
          <a:xfrm>
            <a:off x="3677207" y="2500254"/>
            <a:ext cx="341661" cy="290896"/>
            <a:chOff x="2335403" y="748460"/>
            <a:chExt cx="477313" cy="406392"/>
          </a:xfrm>
        </p:grpSpPr>
        <p:sp>
          <p:nvSpPr>
            <p:cNvPr id="1689" name="Google Shape;1689;p41"/>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41"/>
          <p:cNvGrpSpPr/>
          <p:nvPr/>
        </p:nvGrpSpPr>
        <p:grpSpPr>
          <a:xfrm>
            <a:off x="6542379" y="2475115"/>
            <a:ext cx="340332" cy="341173"/>
            <a:chOff x="1558836" y="713303"/>
            <a:chExt cx="475457" cy="476631"/>
          </a:xfrm>
        </p:grpSpPr>
        <p:sp>
          <p:nvSpPr>
            <p:cNvPr id="1702" name="Google Shape;1702;p41"/>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Mockups</a:t>
            </a:r>
            <a:endParaRPr/>
          </a:p>
        </p:txBody>
      </p:sp>
      <p:sp>
        <p:nvSpPr>
          <p:cNvPr id="2315" name="Google Shape;2315;p62"/>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images on the screen with your own work. Just right-click on them and select “Replace image”</a:t>
            </a:r>
            <a:endParaRPr/>
          </a:p>
        </p:txBody>
      </p:sp>
      <p:grpSp>
        <p:nvGrpSpPr>
          <p:cNvPr id="2316" name="Google Shape;2316;p62"/>
          <p:cNvGrpSpPr/>
          <p:nvPr/>
        </p:nvGrpSpPr>
        <p:grpSpPr>
          <a:xfrm>
            <a:off x="3812690" y="1909089"/>
            <a:ext cx="4003052" cy="2972459"/>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0" name="Google Shape;2320;p62"/>
          <p:cNvPicPr preferRelativeResize="0"/>
          <p:nvPr/>
        </p:nvPicPr>
        <p:blipFill rotWithShape="1">
          <a:blip r:embed="rId3">
            <a:alphaModFix/>
          </a:blip>
          <a:srcRect l="3891" r="3882"/>
          <a:stretch/>
        </p:blipFill>
        <p:spPr>
          <a:xfrm>
            <a:off x="3983789" y="2080675"/>
            <a:ext cx="3660749" cy="2232795"/>
          </a:xfrm>
          <a:prstGeom prst="rect">
            <a:avLst/>
          </a:prstGeom>
          <a:noFill/>
          <a:ln>
            <a:noFill/>
          </a:ln>
        </p:spPr>
      </p:pic>
      <p:grpSp>
        <p:nvGrpSpPr>
          <p:cNvPr id="2321" name="Google Shape;2321;p62"/>
          <p:cNvGrpSpPr/>
          <p:nvPr/>
        </p:nvGrpSpPr>
        <p:grpSpPr>
          <a:xfrm>
            <a:off x="7468200" y="2593147"/>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4">
            <a:alphaModFix/>
          </a:blip>
          <a:srcRect l="9415" r="9415"/>
          <a:stretch/>
        </p:blipFill>
        <p:spPr>
          <a:xfrm>
            <a:off x="7551901" y="2652759"/>
            <a:ext cx="1008298" cy="1981724"/>
          </a:xfrm>
          <a:prstGeom prst="rect">
            <a:avLst/>
          </a:prstGeom>
          <a:noFill/>
          <a:ln>
            <a:noFill/>
          </a:ln>
        </p:spPr>
      </p:pic>
      <p:grpSp>
        <p:nvGrpSpPr>
          <p:cNvPr id="2325" name="Google Shape;2325;p62"/>
          <p:cNvGrpSpPr/>
          <p:nvPr/>
        </p:nvGrpSpPr>
        <p:grpSpPr>
          <a:xfrm>
            <a:off x="2734920" y="4814811"/>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1380</TotalTime>
  <Words>1480</Words>
  <Application>Microsoft Office PowerPoint</Application>
  <PresentationFormat>Экран (4:3)</PresentationFormat>
  <Paragraphs>312</Paragraphs>
  <Slides>47</Slides>
  <Notes>47</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47</vt:i4>
      </vt:variant>
    </vt:vector>
  </HeadingPairs>
  <TitlesOfParts>
    <vt:vector size="61" baseType="lpstr">
      <vt:lpstr>Arial</vt:lpstr>
      <vt:lpstr>Roboto Condensed Light</vt:lpstr>
      <vt:lpstr>Roboto Medium</vt:lpstr>
      <vt:lpstr>Wingdings</vt:lpstr>
      <vt:lpstr>IBM Plex Mono</vt:lpstr>
      <vt:lpstr>Source Code Pro</vt:lpstr>
      <vt:lpstr>Poppins</vt:lpstr>
      <vt:lpstr>Open Sans</vt:lpstr>
      <vt:lpstr>Proxima Nova</vt:lpstr>
      <vt:lpstr>Amatic SC</vt:lpstr>
      <vt:lpstr>Proxima Nova Semibold</vt:lpstr>
      <vt:lpstr>Calibri</vt:lpstr>
      <vt:lpstr>Introduction to Coding Workshop by Slidesgo</vt:lpstr>
      <vt:lpstr>Slidesgo Final Pages</vt:lpstr>
      <vt:lpstr>Итоги 2 спринта</vt:lpstr>
      <vt:lpstr>Наша команда</vt:lpstr>
      <vt:lpstr>Задачи 2 спринта</vt:lpstr>
      <vt:lpstr>Роли пользователей</vt:lpstr>
      <vt:lpstr>Диаграмма бизнес-слоя</vt:lpstr>
      <vt:lpstr>Диаграмма бизнес-слоя</vt:lpstr>
      <vt:lpstr>Выбор технологического стека</vt:lpstr>
      <vt:lpstr>Обзор спринта</vt:lpstr>
      <vt:lpstr>Ретроспектива</vt:lpstr>
      <vt:lpstr>Спасибо за внимание!</vt:lpstr>
      <vt:lpstr>Дальше идут шаблоны и заготовки</vt:lpstr>
      <vt:lpstr>Тема проекта</vt:lpstr>
      <vt:lpstr>Организация работы</vt:lpstr>
      <vt:lpstr>Задачи 2 спринта</vt:lpstr>
      <vt:lpstr>Рассуждение</vt:lpstr>
      <vt:lpstr>What is this topic about?</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Mockups</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52</cp:revision>
  <dcterms:modified xsi:type="dcterms:W3CDTF">2026-03-10T09:48:14Z</dcterms:modified>
</cp:coreProperties>
</file>